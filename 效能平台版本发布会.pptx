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5143500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417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效能平台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202996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版本发布会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2834640"/>
            <a:ext cx="2194560" cy="0"/>
          </a:xfrm>
          <a:prstGeom prst="line">
            <a:avLst/>
          </a:prstGeom>
          <a:noFill/>
          <a:ln w="9525">
            <a:solidFill>
              <a:srgbClr val="D8C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99923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8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 PLATFORM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0560" y="50292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303520" y="5029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上期内容回归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480560" y="1371600"/>
            <a:ext cx="4206240" cy="0"/>
          </a:xfrm>
          <a:prstGeom prst="line">
            <a:avLst/>
          </a:prstGeom>
          <a:noFill/>
          <a:ln w="9525">
            <a:solidFill>
              <a:srgbClr val="D8C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52704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03520" y="152704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ITR-TRC 分流回填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80560" y="2395728"/>
            <a:ext cx="4206240" cy="0"/>
          </a:xfrm>
          <a:prstGeom prst="line">
            <a:avLst/>
          </a:prstGeom>
          <a:noFill/>
          <a:ln w="9525">
            <a:solidFill>
              <a:srgbClr val="D8C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55117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03520" y="2551176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竞争力评价报告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480560" y="3419856"/>
            <a:ext cx="4206240" cy="0"/>
          </a:xfrm>
          <a:prstGeom prst="line">
            <a:avLst/>
          </a:prstGeom>
          <a:noFill/>
          <a:ln w="9525">
            <a:solidFill>
              <a:srgbClr val="D8C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3575304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303520" y="3575304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质量洞察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效能平台版本发布会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5720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1078992"/>
            <a:ext cx="8375904" cy="786384"/>
          </a:xfrm>
          <a:prstGeom prst="rect">
            <a:avLst/>
          </a:prstGeom>
          <a:solidFill>
            <a:srgbClr val="FFFCF7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0789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35608" y="117043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上期内容回归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35608" y="1499616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测试管理  ·  竞品管理  ·  产品竞争力  ·  测试度量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4048" y="1956816"/>
            <a:ext cx="8375904" cy="786384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1956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35608" y="2048256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ITR-TRC 与研发缺陷库分流回填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35608" y="237744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功能背景  ·  研发 / 质量经理操作  ·  试点计划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4048" y="2834640"/>
            <a:ext cx="8375904" cy="786384"/>
          </a:xfrm>
          <a:prstGeom prst="rect">
            <a:avLst/>
          </a:prstGeom>
          <a:solidFill>
            <a:srgbClr val="FFFCF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28346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35608" y="292608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竞争力评价报告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35608" y="32552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  ·  分页列表  ·  数据关联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" y="3712464"/>
            <a:ext cx="8375904" cy="786384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371246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35608" y="3803904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质量洞察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35608" y="4133088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ITR-TRC 缺陷解决  ·  逆向改进  ·  测试洞察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5143500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1417320"/>
            <a:ext cx="2651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92608" y="29260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01568" y="1874520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上期内容回归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上期内容回归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/  上期内容回归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已上线能力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上期内容回归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4078224" cy="1700784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87552"/>
            <a:ext cx="91440" cy="1700784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15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测试管理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产品规格数据线上化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在线产品关联规格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特性树管理规格值与实测值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08576" y="987552"/>
            <a:ext cx="4078224" cy="1700784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8576" y="987552"/>
            <a:ext cx="91440" cy="1700784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13" name="Text 11"/>
          <p:cNvSpPr/>
          <p:nvPr/>
        </p:nvSpPr>
        <p:spPr>
          <a:xfrm>
            <a:off x="4864608" y="1115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竞品管理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4608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竞品规格拆分对比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64608" y="18288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在线管理竞品数据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特性树与产品规格横向对比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4048" y="2816352"/>
            <a:ext cx="4078224" cy="1700784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" y="2816352"/>
            <a:ext cx="91440" cy="1700784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44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产品竞争力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218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 / 用例 / 缺陷关联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657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竞争力数据关联测试资产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08576" y="2816352"/>
            <a:ext cx="4078224" cy="1700784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08576" y="2816352"/>
            <a:ext cx="91440" cy="1700784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23" name="Text 21"/>
          <p:cNvSpPr/>
          <p:nvPr/>
        </p:nvSpPr>
        <p:spPr>
          <a:xfrm>
            <a:off x="4864608" y="2944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测试度量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64608" y="3218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北极星指标发布上线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864608" y="3657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度量指标规则统一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项目度量板块功能集合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5143500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1417320"/>
            <a:ext cx="2651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92608" y="29260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01568" y="1874520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ITR-TRC 与研发缺陷库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分流回填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功能背景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问题结构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27066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87552"/>
            <a:ext cx="2706624" cy="73152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070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 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平台数据不互通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TRC 在 ITR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缺陷在效能平台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资产无法互通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0" y="987552"/>
            <a:ext cx="27066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87552"/>
            <a:ext cx="2706624" cy="73152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2070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  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64992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质量改善分析困难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364992" y="246888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缺陷已例行分析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TRC 字段差异大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难直接支撑分析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16752" y="987552"/>
            <a:ext cx="27066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16752" y="987552"/>
            <a:ext cx="2706624" cy="73152"/>
          </a:xfrm>
          <a:prstGeom prst="rect">
            <a:avLst/>
          </a:prstGeom>
          <a:solidFill>
            <a:srgbClr val="A67C68"/>
          </a:solidFill>
          <a:ln/>
        </p:spPr>
      </p:sp>
      <p:sp>
        <p:nvSpPr>
          <p:cNvPr id="18" name="Text 16"/>
          <p:cNvSpPr/>
          <p:nvPr/>
        </p:nvSpPr>
        <p:spPr>
          <a:xfrm>
            <a:off x="6181344" y="12070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质量部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81344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TRC 跟踪闭环困难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81344" y="246888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重点在措施制定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闭环有效性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缺少过程记录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上线功能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角色与动作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40782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87552"/>
            <a:ext cx="4078224" cy="566928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987552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研发人员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3504" y="1737360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发生根因分析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3504" y="21214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提交缺陷 → 分析解决 → 验证关闭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" y="3063240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流出根因分析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3504" y="344728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审核通过后自动触发，走测试逆向改进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08576" y="987552"/>
            <a:ext cx="40782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08576" y="987552"/>
            <a:ext cx="4078224" cy="566928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987552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质量经理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28032" y="1737360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进入研发缺陷库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28032" y="21214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明确研发责任 / 根因不确定 / 需研发介入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28032" y="3063240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ITR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28032" y="344728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非研发责任 / 资料问题 / 回退分流 / 其他非研发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研发人员  ·  发生根因分析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207008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30352" y="18745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提交缺陷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0352" y="2651760"/>
            <a:ext cx="1700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建议研发确认项目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测试负责人正式提交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05456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207008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51760" y="18745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分析解决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2651760"/>
            <a:ext cx="1700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开发设计人员填写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 ECR 与缺陷位置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26864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207008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73168" y="18745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73168" y="2651760"/>
            <a:ext cx="1700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测试人员验证后关闭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48272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207008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894576" y="18745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特殊场景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94576" y="2651760"/>
            <a:ext cx="1700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不是问题 / 非研发产品设计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按项目缺陷流程关单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研发人员  ·  流出根因分析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触发规则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1024128"/>
            <a:ext cx="8375904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24128"/>
            <a:ext cx="1005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755648" y="1316736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自动触发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55648" y="181051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发生根因分析经分析解决环节审核后自动进入流出根因分析。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" y="2807208"/>
            <a:ext cx="8375904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07208"/>
            <a:ext cx="1005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755648" y="3099816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测试逆向改进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55648" y="359359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后续动作由测试逆向改进流程承接，减少开发人员操作。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质量经理  ·  分流规则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分流去向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40782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87552"/>
            <a:ext cx="91440" cy="3611880"/>
          </a:xfrm>
          <a:prstGeom prst="rect">
            <a:avLst/>
          </a:prstGeom>
          <a:solidFill>
            <a:srgbClr val="5B7C6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1338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研发缺陷库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76656" y="17007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70078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明确为研发责任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" y="235915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235915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根因不确定，需研发分析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6656" y="30175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01752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其他需研发介入完成 TRC 分析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08576" y="987552"/>
            <a:ext cx="4078224" cy="361188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08576" y="987552"/>
            <a:ext cx="91440" cy="3611880"/>
          </a:xfrm>
          <a:prstGeom prst="rect">
            <a:avLst/>
          </a:prstGeom>
          <a:solidFill>
            <a:srgbClr val="A67C68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11338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 系统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01184" y="17007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13248" y="170078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明确非研发责任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01184" y="235915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13248" y="235915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资料问题 TRC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01184" y="30175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13248" y="301752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分析后回退分流（不是问题 / 转需求 / 非研发产品设计）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01184" y="367588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13248" y="367588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其他非研发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试点计划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 分流回填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1024128"/>
            <a:ext cx="4078224" cy="352044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435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26.09.10  –  26.10.15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变频、机器人问题集中对接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08576" y="1024128"/>
            <a:ext cx="4078224" cy="352044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2435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864608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全面推广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64608" y="246888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26.10.16 起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64608" y="3108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其他产品线全面切换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5143500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1417320"/>
            <a:ext cx="2651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92608" y="29260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01568" y="1874520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竞争力评价报告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竞争力评价报告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模块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 · 列表 · 关联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竞争力评价报告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11556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0352" y="1426464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基础信息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987552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46704" y="111556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46704" y="1426464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场景覆盖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16752" y="987552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3056" y="111556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63056" y="1426464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竞品对比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4048" y="2194560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32257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" y="2633472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需求覆盖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200400" y="2194560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46704" y="232257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46704" y="2633472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特性覆盖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16752" y="2194560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63056" y="232257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63056" y="2633472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遗留缺陷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84048" y="3401568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35295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0352" y="384048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分页列表字段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200400" y="3401568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46704" y="35295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46704" y="384048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竞争力关联场景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016752" y="3401568"/>
            <a:ext cx="2706624" cy="107899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35295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63056" y="384048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需求关联竞争力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竞争力详情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基础信息 · 场景覆盖 · 竞品对比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竞争力评价报告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基础信息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93776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4784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4512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场景覆盖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4512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334512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7664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5520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5248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竞品对比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5248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5248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8400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竞争力详情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需求覆盖 · 特性覆盖 · 遗留缺陷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竞争力评价报告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需求覆盖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93776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4784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4512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特性覆盖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4512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334512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7664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5520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5248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遗留缺陷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5248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5248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8400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列表与关联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分页列表 · 场景关联 · 需求关联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竞争力评价报告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分页列表字段增加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93776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4784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4512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竞争力关联场景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4512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334512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7664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5520" y="960120"/>
            <a:ext cx="2694432" cy="3639312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5248" y="1060704"/>
            <a:ext cx="2474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需求关联竞争力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5248" y="1517904"/>
            <a:ext cx="2474976" cy="2889504"/>
          </a:xfrm>
          <a:prstGeom prst="rect">
            <a:avLst/>
          </a:prstGeom>
          <a:solidFill>
            <a:srgbClr val="F7F4EE"/>
          </a:solidFill>
          <a:ln w="13970">
            <a:solidFill>
              <a:srgbClr val="A8B6A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5248" y="2500335"/>
            <a:ext cx="247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4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截图待补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8400" y="3136026"/>
            <a:ext cx="2328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真实环境截图待补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5143500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1417320"/>
            <a:ext cx="2651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92608" y="29260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01568" y="1874520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质量洞察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质量洞察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ITR-TRC 缺陷解决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质量洞察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199339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17043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0352" y="15179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问题总数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05456" y="987552"/>
            <a:ext cx="199339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17043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15179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问题未关闭数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26864" y="987552"/>
            <a:ext cx="199339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3168" y="117043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5179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未解决数量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48272" y="987552"/>
            <a:ext cx="199339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94576" y="117043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94576" y="15179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已解决数量（含待验证）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84048" y="2770632"/>
            <a:ext cx="199339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295351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0352" y="330098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待验证数量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505456" y="2770632"/>
            <a:ext cx="199339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95351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51760" y="330098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解决超期数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26864" y="2770632"/>
            <a:ext cx="4096512" cy="164592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2953512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ITR-TRC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73168" y="3300984"/>
            <a:ext cx="38039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问题待确认数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逆向改进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质量洞察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243584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30352" y="1965960"/>
            <a:ext cx="1700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待分发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30352" y="33832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测试域逆向改进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05456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243584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1965960"/>
            <a:ext cx="1700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待分析数量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33832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测试域逆向改进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26864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243584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73168" y="1965960"/>
            <a:ext cx="1700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待改进闭环数量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73168" y="33832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测试域逆向改进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48272" y="1024128"/>
            <a:ext cx="1993392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243584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94576" y="1965960"/>
            <a:ext cx="1700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分析逾期数量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94576" y="338328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测试域逆向改进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测试洞察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子页面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质量洞察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987552"/>
            <a:ext cx="8375904" cy="566928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987552"/>
            <a:ext cx="8375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测试洞察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4048" y="1700784"/>
            <a:ext cx="4078224" cy="2852928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3504" y="186537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默认进入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" y="2176272"/>
            <a:ext cx="3639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交付度量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504" y="2724912"/>
            <a:ext cx="36393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平均测试轮次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全量平均测试周期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领域平均测试周期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项目维度交付度量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08576" y="1700784"/>
            <a:ext cx="4078224" cy="2852928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186537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原有页面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2176272"/>
            <a:ext cx="3639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执行监控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828032" y="2724912"/>
            <a:ext cx="36393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现有测试洞察页面迁入此子页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交付度量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三项指标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质量洞察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1024128"/>
            <a:ext cx="2706624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8016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85216" y="2011680"/>
            <a:ext cx="23042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平均测试轮次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0" y="1024128"/>
            <a:ext cx="2706624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128016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01568" y="2011680"/>
            <a:ext cx="23042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全量平均测试周期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16752" y="1024128"/>
            <a:ext cx="2706624" cy="3566160"/>
          </a:xfrm>
          <a:prstGeom prst="rect">
            <a:avLst/>
          </a:prstGeom>
          <a:solidFill>
            <a:srgbClr val="FFFCF7"/>
          </a:solidFill>
          <a:ln w="9525">
            <a:solidFill>
              <a:srgbClr val="D8C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28016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23042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领域平均测试周期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0116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项目维度交付度量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438912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列表字段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质量洞察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8375904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737360"/>
                <a:gridCol w="1371600"/>
                <a:gridCol w="1426464"/>
                <a:gridCol w="1554480"/>
              </a:tblGrid>
              <a:tr h="670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A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项目名称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4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A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4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A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各领域测试轮次 ×8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4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A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全量测试周期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4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A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初样 / 正样周期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4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D3A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各领域测试周期 ×8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4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初样 · 正样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分页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56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分页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C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84048" y="3246120"/>
            <a:ext cx="8375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分页列表。数据来源：各项目测试度量。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5143500"/>
          </a:xfrm>
          <a:prstGeom prst="rect">
            <a:avLst/>
          </a:prstGeom>
          <a:solidFill>
            <a:srgbClr val="EBE4D4"/>
          </a:solidFill>
          <a:ln/>
        </p:spPr>
      </p:sp>
      <p:sp>
        <p:nvSpPr>
          <p:cNvPr id="3" name="Text 1"/>
          <p:cNvSpPr/>
          <p:nvPr/>
        </p:nvSpPr>
        <p:spPr>
          <a:xfrm>
            <a:off x="292608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92608" y="2331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383280" y="50292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0" y="61264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ITR-TRC 分流回填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0" y="1005840"/>
            <a:ext cx="4645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 26.09.10–26.10.15（变频、机器人）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全面推广 26.10.16 起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87452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114800" y="198424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竞争力评价报告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0" y="2377440"/>
            <a:ext cx="4645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 / 列表 / 关联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截图位待补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3246120"/>
            <a:ext cx="640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7C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0" y="335584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A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质量洞察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0" y="3749040"/>
            <a:ext cx="4645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ITR-TRC 七项 · 逆向改进四项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56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测试洞察：交付度量 / 执行监控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" y="486460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7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效能平台版本发布会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11312" y="486460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效能平台版本发布会</dc:title>
  <dc:subject>PptxGenJS Presentation</dc:subject>
  <dc:creator>YYF</dc:creator>
  <cp:lastModifiedBy>YYF</cp:lastModifiedBy>
  <cp:revision>1</cp:revision>
  <dcterms:created xsi:type="dcterms:W3CDTF">2026-09-11T06:59:41Z</dcterms:created>
  <dcterms:modified xsi:type="dcterms:W3CDTF">2026-09-11T06:59:41Z</dcterms:modified>
</cp:coreProperties>
</file>