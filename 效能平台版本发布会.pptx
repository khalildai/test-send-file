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效能平台  ·  版本发布会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把市场缺陷、竞争力评价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和质量洞察接到同一条线上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上期四项快速带过，本期三块：ITR-TRC 分流回填、竞争力评价报告、质量洞察。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EBE4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上期回归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379476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EBE4D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ITR-TRC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79476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EBE4D4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竞争力报告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379476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EBE4D4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质量洞察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效能平台版本发布会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今天四块，后三块是本期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8266176" cy="786384"/>
          </a:xfrm>
          <a:prstGeom prst="roundRect">
            <a:avLst>
              <a:gd name="adj" fmla="val 581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00584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7592" y="1097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上期内容回归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07592" y="13898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测试管理、竞品管理、产品竞争力、测试度量。少篇幅，快速带过。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874520"/>
            <a:ext cx="8266176" cy="786384"/>
          </a:xfrm>
          <a:prstGeom prst="roundRect">
            <a:avLst>
              <a:gd name="adj" fmla="val 581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87452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07592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ITR-TRC 与研发缺陷库分流回填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07592" y="22585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为什么要分流、研发和质量经理怎么操作、两阶段试点。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2743200"/>
            <a:ext cx="8266176" cy="786384"/>
          </a:xfrm>
          <a:prstGeom prst="roundRect">
            <a:avLst>
              <a:gd name="adj" fmla="val 581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74320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07592" y="28346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竞争力评价报告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07592" y="31272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详情六页 + 列表字段 + 数据关联。截图位先留白，会后补真实环境。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" y="3611880"/>
            <a:ext cx="8266176" cy="786384"/>
          </a:xfrm>
          <a:prstGeom prst="roundRect">
            <a:avLst>
              <a:gd name="adj" fmla="val 581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611880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07592" y="37033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质量洞察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07592" y="39959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ITR-TRC 七项、逆向改进四项、测试洞察拆成交付度量 / 执行监控。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上期内容回归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先把上期已经上线的四件事过一遍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测试管理、竞品管理、产品竞争力、测试度量。少篇幅，后面才是本期。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上期内容回归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上期内容回归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四条能力，已经在线上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上期内容回归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24128"/>
            <a:ext cx="4041648" cy="1664208"/>
          </a:xfrm>
          <a:prstGeom prst="roundRect">
            <a:avLst>
              <a:gd name="adj" fmla="val 2747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24128"/>
            <a:ext cx="73152" cy="1664208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170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426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产品规格数据线上化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182880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在线产品关联规格。基于特性树管理规格值与实测值。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024128"/>
            <a:ext cx="4041648" cy="1664208"/>
          </a:xfrm>
          <a:prstGeom prst="roundRect">
            <a:avLst>
              <a:gd name="adj" fmla="val 2747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024128"/>
            <a:ext cx="73152" cy="1664208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70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426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竞品规格拆分对比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在线管理竞品数据。按特性树与产品规格集中管指标，支持竞品与公司内产品横向对比。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" y="2807208"/>
            <a:ext cx="4041648" cy="1664208"/>
          </a:xfrm>
          <a:prstGeom prst="roundRect">
            <a:avLst>
              <a:gd name="adj" fmla="val 2747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807208"/>
            <a:ext cx="73152" cy="1664208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953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产品竞争力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2095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特性 / 用例 / 缺陷关联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361188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竞争力数据挂到测试资产上，后面评价报告能顺着这条线往下钻。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26864" y="2807208"/>
            <a:ext cx="4041648" cy="1664208"/>
          </a:xfrm>
          <a:prstGeom prst="roundRect">
            <a:avLst>
              <a:gd name="adj" fmla="val 2747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6864" y="2807208"/>
            <a:ext cx="73152" cy="1664208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953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测试度量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2095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北极星指标发布上线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46320" y="361188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度量指标规则统一。项目度量板块功能收拢到同一套口径。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本期核心内容一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ITR-TRC 与研发缺陷库分流回填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市场端长期彻底解决单（TRC）和研发项目缺陷，以前不在同一个库里。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功能背景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研发两边不通，质量部也缺闭环记录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07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研发问题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" y="15361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平台数据不互通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" y="2286000"/>
            <a:ext cx="2340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TRC 在 ITR 系统，研发项目缺陷在效能平台。市场端产品缺陷和项目里同类历史问题收不拢。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2783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207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研发问题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2424" y="15361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质量改善分析困难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92424" y="2286000"/>
            <a:ext cx="2340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研发已在例行分析缺陷（关联产品模块、关联特性）。TRC 字段和研发缺陷差得大，撑不起这些分析。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675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207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7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质量部问题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81344" y="153619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TRC 跟踪闭环困难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340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现在重点在改进措施怎么定。措施有没有真正闭环、准不准，缺少过程记录。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上线功能介绍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两类人，两套动作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0700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研发人员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缺陷怎么进、怎么出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6656" y="2084832"/>
            <a:ext cx="146304" cy="146304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11680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发生根因分析：提交 → 分析解决 → 验证关闭；特殊场景按项目缺陷正常关单。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" y="3227832"/>
            <a:ext cx="146304" cy="146304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流出根因分析：分析解决审核后自动触发，走测试逆向改进，少让开发填表。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0700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质量经理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8132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TRC 去哪边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64608" y="2084832"/>
            <a:ext cx="146304" cy="146304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102352" y="2011680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明确研发责任、根因不确定、需要研发介入的 → 进研发缺陷库。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64608" y="3227832"/>
            <a:ext cx="146304" cy="146304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102352" y="3154680"/>
            <a:ext cx="33284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非研发责任、资料问题、分析后回退分流、其他非研发 → 留在 ITR。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研发人员 · 发生根因分析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四步走完，特殊场景不另起一套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225296"/>
            <a:ext cx="384048" cy="384048"/>
          </a:xfrm>
          <a:prstGeom prst="ellipse">
            <a:avLst/>
          </a:prstGeom>
          <a:solidFill>
            <a:srgbClr val="5B7C6E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" y="1755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提交缺陷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" y="246888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建议研发确认项目，测试负责人正式提交。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32888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225296"/>
            <a:ext cx="384048" cy="384048"/>
          </a:xfrm>
          <a:prstGeom prst="ellipse">
            <a:avLst/>
          </a:prstGeom>
          <a:solidFill>
            <a:srgbClr val="5B7C6E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79192" y="1755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分析解决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79192" y="246888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开发设计人员填写，含 ECR 与缺陷位置等。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26864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1225296"/>
            <a:ext cx="384048" cy="384048"/>
          </a:xfrm>
          <a:prstGeom prst="ellipse">
            <a:avLst/>
          </a:prstGeom>
          <a:solidFill>
            <a:srgbClr val="5B7C6E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73168" y="1755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验证环节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73168" y="246888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测试人员验证后关闭。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5432" y="1225296"/>
            <a:ext cx="384048" cy="384048"/>
          </a:xfrm>
          <a:prstGeom prst="ellipse">
            <a:avLst/>
          </a:prstGeom>
          <a:solidFill>
            <a:srgbClr val="5B7C6E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C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67144" y="1755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特殊场景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67144" y="2468880"/>
            <a:ext cx="1682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不是问题 / 非研发产品设计等，按项目缺陷流程正常关单。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研发人员 · 流出根因分析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审核通过就自动流出，开发少填一遍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78992"/>
            <a:ext cx="8266176" cy="1554480"/>
          </a:xfrm>
          <a:prstGeom prst="roundRect">
            <a:avLst>
              <a:gd name="adj" fmla="val 2941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078992"/>
            <a:ext cx="822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27632" y="133502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自动触发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7632" y="17556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缺陷（发生根因分析）通过分析解决环节审核后，自动进入流出根因分析，不用研发再开一张单。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2770632"/>
            <a:ext cx="8266176" cy="1554480"/>
          </a:xfrm>
          <a:prstGeom prst="roundRect">
            <a:avLst>
              <a:gd name="adj" fmla="val 2941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770632"/>
            <a:ext cx="822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27632" y="30266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走测试逆向改进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27632" y="34472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借助测试逆向改进流程承接后续动作，减少开发人员在流出环节的操作内容。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质量经理操作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什么进研发库，什么留在 ITR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触发到研发缺陷库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1773936"/>
            <a:ext cx="128016" cy="128016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7007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已经明确是研发责任的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" y="2432304"/>
            <a:ext cx="128016" cy="128016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3591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根因不确定，需要研发分析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" y="3090672"/>
            <a:ext cx="128016" cy="128016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0175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其他需要研发介入完成 TRC 分析的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18872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TRC 仍然在 ITR 系统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64608" y="1773936"/>
            <a:ext cx="128016" cy="128016"/>
          </a:xfrm>
          <a:prstGeom prst="ellipse">
            <a:avLst/>
          </a:prstGeom>
          <a:solidFill>
            <a:srgbClr val="A67C68"/>
          </a:solidFill>
          <a:ln/>
        </p:spPr>
      </p:sp>
      <p:sp>
        <p:nvSpPr>
          <p:cNvPr id="18" name="Text 16"/>
          <p:cNvSpPr/>
          <p:nvPr/>
        </p:nvSpPr>
        <p:spPr>
          <a:xfrm>
            <a:off x="5084064" y="1700784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已经明确非研发责任的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64608" y="2432304"/>
            <a:ext cx="128016" cy="128016"/>
          </a:xfrm>
          <a:prstGeom prst="ellipse">
            <a:avLst/>
          </a:prstGeom>
          <a:solidFill>
            <a:srgbClr val="A67C68"/>
          </a:solidFill>
          <a:ln/>
        </p:spPr>
      </p:sp>
      <p:sp>
        <p:nvSpPr>
          <p:cNvPr id="20" name="Text 18"/>
          <p:cNvSpPr/>
          <p:nvPr/>
        </p:nvSpPr>
        <p:spPr>
          <a:xfrm>
            <a:off x="5084064" y="235915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资料问题的 TRC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3090672"/>
            <a:ext cx="128016" cy="128016"/>
          </a:xfrm>
          <a:prstGeom prst="ellipse">
            <a:avLst/>
          </a:prstGeom>
          <a:solidFill>
            <a:srgbClr val="A67C68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3017520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研发分析后以不是问题、转需求、非研发产品设计问题等回退至分流环节的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64608" y="3749040"/>
            <a:ext cx="128016" cy="128016"/>
          </a:xfrm>
          <a:prstGeom prst="ellipse">
            <a:avLst/>
          </a:prstGeom>
          <a:solidFill>
            <a:srgbClr val="A67C68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3675888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其他非研发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试点计划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先变频和机器人，十月中再铺开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 分流回填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97280"/>
            <a:ext cx="4041648" cy="3246120"/>
          </a:xfrm>
          <a:prstGeom prst="roundRect">
            <a:avLst>
              <a:gd name="adj" fmla="val 140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29844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16459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一阶段试点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221284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26.09.10  –  26.10.15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2834640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变频、机器人问题集中对接。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4041648" cy="3246120"/>
          </a:xfrm>
          <a:prstGeom prst="roundRect">
            <a:avLst>
              <a:gd name="adj" fmla="val 140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29844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82896" y="16459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二阶段全面推广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82896" y="2212848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7C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26.10.16 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82896" y="2834640"/>
            <a:ext cx="3529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其他产品线启动全面切换。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本期核心内容二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竞争力评价报告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详情、列表、关联都先留截图位。真实环境图后面单独补。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竞争力评价报告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模块总览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详情六页，再加列表字段和两处关联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竞争力评价报告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8872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竞争力详情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52144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基础信息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场景覆盖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523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竞品对比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29626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" y="2962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需求覆盖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3401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" y="3401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特性覆盖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遗留缺陷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26864" y="1042416"/>
            <a:ext cx="4041648" cy="3520440"/>
          </a:xfrm>
          <a:prstGeom prst="roundRect">
            <a:avLst>
              <a:gd name="adj" fmla="val 1299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8872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列表与关联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0096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分页列表 · 字段增加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0096" y="2084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竞争力关联场景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0096" y="25237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需求关联竞争力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竞争力详情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基础信息 · 场景覆盖 · 竞品对比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竞争力评价报告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基础信息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9168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8896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8896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场景覆盖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58896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58896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2048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9424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9152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9152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竞品对比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69152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169152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2304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竞争力详情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需求覆盖 · 特性覆盖 · 遗留缺陷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竞争力评价报告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需求覆盖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9168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8896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8896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特性覆盖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58896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58896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2048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9424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9152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9152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· 遗留缺陷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69152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169152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2304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列表与数据关联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列表加字段，场景和需求两边都能挂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竞争力评价报告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分页列表 · 字段增加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9168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8896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8896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竞争力关联场景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58896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58896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2048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9424" y="1024128"/>
            <a:ext cx="2645664" cy="3566160"/>
          </a:xfrm>
          <a:prstGeom prst="roundRect">
            <a:avLst>
              <a:gd name="adj" fmla="val 1728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9152" y="111556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【竞争力】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9152" y="1371600"/>
            <a:ext cx="2426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需求关联竞争力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69152" y="1847088"/>
            <a:ext cx="2426208" cy="2542032"/>
          </a:xfrm>
          <a:prstGeom prst="roundRect">
            <a:avLst>
              <a:gd name="adj" fmla="val 2261"/>
            </a:avLst>
          </a:prstGeom>
          <a:solidFill>
            <a:srgbClr val="F7F4EE"/>
          </a:solidFill>
          <a:ln w="14605">
            <a:solidFill>
              <a:srgbClr val="A8B6A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169152" y="2660538"/>
            <a:ext cx="2426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截图待补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42304" y="3168945"/>
            <a:ext cx="227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真实环境截图待补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本期核心内容三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质量洞察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ITR-TRC 解决情况、测试域逆向改进，以及测试洞察拆成两个子页。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质量洞察 · ITR-TRC 缺陷解决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七个数，看清 TRC 解到哪一步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4358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15544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问题总数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32888" y="104241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124358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9192" y="15544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问题未关闭数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26864" y="104241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4358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15544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未解决数量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104241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124358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67144" y="155448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已解决数量（含待验证）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" y="277977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298094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待验证数量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32888" y="2779776"/>
            <a:ext cx="1975104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980944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9192" y="329184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解决超期数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26864" y="2779776"/>
            <a:ext cx="4069080" cy="1591056"/>
          </a:xfrm>
          <a:prstGeom prst="roundRect">
            <a:avLst>
              <a:gd name="adj" fmla="val 2874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980944"/>
            <a:ext cx="3776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ITR-TRC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329184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问题待确认数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质量洞察 · 逆向改进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测试域四项：分发、分析、闭环、逾期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43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待分发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" y="28346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测试域逆向改进待分发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32888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243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待分析数量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28346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测试域逆向改进待分析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243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91456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待改进闭环数量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91456" y="28346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测试域逆向改进待改进闭环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1042416"/>
            <a:ext cx="1975104" cy="3520440"/>
          </a:xfrm>
          <a:prstGeom prst="roundRect">
            <a:avLst>
              <a:gd name="adj" fmla="val 2315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243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85432" y="1645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分析逾期数量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5432" y="28346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测试域逆向改进分析逾期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测试洞察 · 页面调整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进去先看交付度量，原页面挪到执行监控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97280"/>
            <a:ext cx="8266176" cy="640080"/>
          </a:xfrm>
          <a:prstGeom prst="roundRect">
            <a:avLst>
              <a:gd name="adj" fmla="val 7143"/>
            </a:avLst>
          </a:prstGeom>
          <a:solidFill>
            <a:srgbClr val="EBE4D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097280"/>
            <a:ext cx="8266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测试洞察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" y="1965960"/>
            <a:ext cx="4041648" cy="2468880"/>
          </a:xfrm>
          <a:prstGeom prst="roundRect">
            <a:avLst>
              <a:gd name="adj" fmla="val 185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214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默认打开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432304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交付度量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" y="2907792"/>
            <a:ext cx="3602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进入测试洞察后的默认子页。平均轮次、全量周期、领域周期，以及项目维度列表。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965960"/>
            <a:ext cx="4041648" cy="2468880"/>
          </a:xfrm>
          <a:prstGeom prst="roundRect">
            <a:avLst>
              <a:gd name="adj" fmla="val 185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2140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原页面放这里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432304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执行监控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2907792"/>
            <a:ext cx="3602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现在已有的测试洞察页面，整体迁到这个子页，不丢原功能。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测试洞察 · 交付度量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三个平均数，先看轮次和周期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平均测试轮次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项目测试轮次的整体水平。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783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2801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全量平均测试周期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从进入测试到收口的全量周期。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16752" y="1042416"/>
            <a:ext cx="2670048" cy="3520440"/>
          </a:xfrm>
          <a:prstGeom prst="roundRect">
            <a:avLst>
              <a:gd name="adj" fmla="val 1712"/>
            </a:avLst>
          </a:prstGeom>
          <a:solidFill>
            <a:srgbClr val="FFFCF7"/>
          </a:solidFill>
          <a:ln w="9525">
            <a:solidFill>
              <a:srgbClr val="D8CF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801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领域平均测试周期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按领域拆开看周期，避免被全量平均数抹平。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74320"/>
            <a:ext cx="109728" cy="109728"/>
          </a:xfrm>
          <a:prstGeom prst="ellipse">
            <a:avLst/>
          </a:prstGeom>
          <a:solidFill>
            <a:srgbClr val="7A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201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测试洞察 · 项目维度交付度量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8912" y="475488"/>
            <a:ext cx="8266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一张表看项目、版本、轮次和周期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质量洞察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024128"/>
          <a:ext cx="8266176" cy="233172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691640"/>
                <a:gridCol w="1325880"/>
                <a:gridCol w="1417320"/>
                <a:gridCol w="1545336"/>
              </a:tblGrid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项目名称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各领域测试轮次（8）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全量测试周期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初样 / 正样周期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A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各领域测试周期（8）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4D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 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个领域分列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初样 · 正样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个领域分列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 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V2.x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个领域分列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初样 · 正样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个领域分列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分页展示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56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CF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" y="3520440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列表分页。数据来自各项目的测试度量，不在这页重算。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3886200"/>
            <a:ext cx="8266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领域轮次和领域周期都是 8 列，投屏时靠分页和横向滚动看全。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7C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四块说完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上期带过，本期三件事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3D3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接上缺陷、报告和度量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 ITR-TRC 分流回填：变频、机器人先试点，10.16 起铺开。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4564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 竞争力评价报告：详情和关联页先留白，等真实截图。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0390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6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 质量洞察：TRC 七项 + 逆向改进四项 + 测试洞察拆页。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4828032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效能平台版本发布会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65008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效能平台版本发布会</dc:title>
  <dc:subject>上期回归 · ITR-TRC分流回填 · 竞争力评价报告 · 质量洞察</dc:subject>
  <dc:creator>YYF</dc:creator>
  <cp:lastModifiedBy>YYF</cp:lastModifiedBy>
  <cp:revision>1</cp:revision>
  <dcterms:created xsi:type="dcterms:W3CDTF">2026-09-11T03:58:39Z</dcterms:created>
  <dcterms:modified xsi:type="dcterms:W3CDTF">2026-09-11T03:58:39Z</dcterms:modified>
</cp:coreProperties>
</file>