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0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B8D4B-BA61-3A09-6D75-60B069CBC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D2B10A-9790-4BB9-E1F4-31AD841FF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EC15E-0283-448B-717B-4D42CABF2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9D3F-E143-4602-8078-346190A47E9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325F92-086E-DD16-72D4-F1BBA5FD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82B95-EB4B-8A55-FF7B-279ADF2A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ED74-13CD-45B1-AA1C-6BC2C44D28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643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A80CC-731F-A31D-0BDD-DC7916F22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02D87-58C6-4CC8-96A6-5A25C9D23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4D72AF-EC22-4AFE-F34B-7516FFFE4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9D3F-E143-4602-8078-346190A47E9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756CE8-DBDE-CE44-0BD1-51F460DD2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80E878-6EA3-B36C-93B9-4395E0BA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ED74-13CD-45B1-AA1C-6BC2C44D28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57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89E1B-A6B8-D790-B40F-0969229C2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455EAE-C29B-D9F8-4955-4FB8387DA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73253E-18AC-4117-9CAD-6049713EF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9D3F-E143-4602-8078-346190A47E9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5D617C-0C6C-D9FE-872B-A13D5B9C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122D62-2996-6CFF-5FD8-23BF0DE5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ED74-13CD-45B1-AA1C-6BC2C44D28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970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AB8E5-E1F0-ADAE-C865-DC6C6F78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D4E322-7497-3112-EB2A-803022697D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DEDD0F-192A-42D0-6273-192B0D222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03BAC2-893C-B1D6-0BCC-E4BCD7F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9D3F-E143-4602-8078-346190A47E9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35B07-DBA8-5D3F-5DFD-692319D6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DB5DB9-47D0-650A-0BBD-9E658147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ED74-13CD-45B1-AA1C-6BC2C44D28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70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3A993-9321-BEDD-1F47-8F014BED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BF5C6F-F636-2F44-F894-83A09307D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7A7EF4-B789-02EA-C824-072FFEDF2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FECEC0-859A-27E6-0952-EE48064FA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99BE4F-4B73-2C87-5F17-8A55C0AD6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E2BBC6-CFAC-2811-6F28-A45D69E0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9D3F-E143-4602-8078-346190A47E9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8BFA7C-598D-D113-AF45-64240536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A5F58F-F9AC-4199-8C28-DC9D422C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ED74-13CD-45B1-AA1C-6BC2C44D28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260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6E50FC-1CED-F001-EE91-C5E65C81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B51089-7159-EA7B-7FAD-D541F048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9D3F-E143-4602-8078-346190A47E9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90356A-990D-ECC6-D816-085A8DC4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F23D54-320E-5478-DDB0-D9E33F60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ED74-13CD-45B1-AA1C-6BC2C44D28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35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721C1E-FB3E-2ED6-1059-0035D662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9D3F-E143-4602-8078-346190A47E9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5A081-F8DF-284C-3EAF-8879D0888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3445D8-DAAC-92C3-4050-994CE459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ED74-13CD-45B1-AA1C-6BC2C44D28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8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9F234-DD54-AB63-B64B-0B4C411B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5D13DA-3A0B-2314-9A11-348854270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30A0B2-0BC9-D568-888A-74CFC5902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AD88EF-0A21-9E73-0563-868B432B3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9D3F-E143-4602-8078-346190A47E9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D67C82-1BF1-1049-2583-4EDBEB8B1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4F68C-A963-8C77-5C21-F7557E803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ED74-13CD-45B1-AA1C-6BC2C44D28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81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BB288-7340-BC66-A4C0-F2850249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756732-FC94-26C6-6C8C-AF6B8AB5C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EB3E3C-A7D4-A4A9-BDEC-893EC50B2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CE0709-5B60-C87F-60AE-DAC88F25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9D3F-E143-4602-8078-346190A47E9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29CE88-9029-1CEB-E9A4-7E0EAF9CA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4956DB-4E59-7CF5-7BBD-FFFB16052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ED74-13CD-45B1-AA1C-6BC2C44D28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533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FEAB4-B5C2-A6DA-8120-D71DD001C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5410F3-2CEC-D511-19CF-136A896A6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ADA76D-4409-6296-9661-6916B60F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9D3F-E143-4602-8078-346190A47E9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BF4ACB-8055-B4B7-2BC8-0B9117C66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1A6821-2C0C-47E3-BB97-62E87DD3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ED74-13CD-45B1-AA1C-6BC2C44D28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39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C148C2-C21F-6487-C2E5-0D25ADAF4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1B4BD1-CCA2-2979-97CA-14B59184F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EEEF1B-7E23-2A0C-966E-E7C755B3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9D3F-E143-4602-8078-346190A47E9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1450E7-1B32-48BC-D90B-0A215F30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E6DC28-049C-50EC-DF7B-A414203E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ED74-13CD-45B1-AA1C-6BC2C44D28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36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116335-8FC7-6EAA-5909-1F0E3367D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4A55A3-B913-6BCE-273D-34FEFE40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581A1B-ED42-C29B-91B8-3E709FFCE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E9D3F-E143-4602-8078-346190A47E9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9A458F-CBE5-9A3C-216B-942EF3368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239E80-77AF-705F-4241-33510AAFF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2ED74-13CD-45B1-AA1C-6BC2C44D28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5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left">
            <a:extLst>
              <a:ext uri="{FF2B5EF4-FFF2-40B4-BE49-F238E27FC236}">
                <a16:creationId xmlns:a16="http://schemas.microsoft.com/office/drawing/2014/main" id="{41D14D18-E995-9856-265C-5975AF045F61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9796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A059452-EED7-A271-409F-1E9DEE12F38F}"/>
              </a:ext>
            </a:extLst>
          </p:cNvPr>
          <p:cNvSpPr txBox="1"/>
          <p:nvPr/>
        </p:nvSpPr>
        <p:spPr>
          <a:xfrm>
            <a:off x="472440" y="170502"/>
            <a:ext cx="10165080" cy="37959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2300" b="1">
                <a:solidFill>
                  <a:srgbClr val="173650"/>
                </a:solidFill>
                <a:latin typeface="Microsoft YaHei" panose="020B0503020204020204" pitchFamily="34" charset="-122"/>
              </a:rPr>
              <a:t>测试能力成熟度：从专项评分到持续能力经营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C71D5282-B9AD-6C79-FE3C-529D7BCCCEF5}"/>
              </a:ext>
            </a:extLst>
          </p:cNvPr>
          <p:cNvSpPr txBox="1"/>
          <p:nvPr/>
        </p:nvSpPr>
        <p:spPr>
          <a:xfrm>
            <a:off x="472440" y="441960"/>
            <a:ext cx="1016508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900">
                <a:solidFill>
                  <a:srgbClr val="5C707A"/>
                </a:solidFill>
                <a:latin typeface="Microsoft YaHei" panose="020B0503020204020204" pitchFamily="34" charset="-122"/>
              </a:rPr>
              <a:t>统一能力供给与目标标尺，持续跟踪建设进度，让成熟度结果真正驱动业务升级</a:t>
            </a:r>
          </a:p>
        </p:txBody>
      </p:sp>
      <p:sp>
        <p:nvSpPr>
          <p:cNvPr id="5" name="edition">
            <a:extLst>
              <a:ext uri="{FF2B5EF4-FFF2-40B4-BE49-F238E27FC236}">
                <a16:creationId xmlns:a16="http://schemas.microsoft.com/office/drawing/2014/main" id="{BA455885-47DB-9BCF-B463-BA478D3FFBBA}"/>
              </a:ext>
            </a:extLst>
          </p:cNvPr>
          <p:cNvSpPr txBox="1"/>
          <p:nvPr/>
        </p:nvSpPr>
        <p:spPr>
          <a:xfrm>
            <a:off x="10662920" y="200982"/>
            <a:ext cx="11176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r"/>
            <a:r>
              <a:rPr lang="en-US" altLang="zh-CN" sz="1100" b="1">
                <a:solidFill>
                  <a:srgbClr val="16837A"/>
                </a:solidFill>
                <a:latin typeface="Microsoft YaHei" panose="020B0503020204020204" pitchFamily="34" charset="-122"/>
              </a:rPr>
              <a:t>2025 → 2026</a:t>
            </a:r>
            <a:endParaRPr lang="zh-CN" altLang="en-US" sz="1100" b="1">
              <a:solidFill>
                <a:srgbClr val="16837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9F0064F7-5CD8-331D-D5AF-04B9FD52E2CF}"/>
              </a:ext>
            </a:extLst>
          </p:cNvPr>
          <p:cNvCxnSpPr/>
          <p:nvPr/>
        </p:nvCxnSpPr>
        <p:spPr>
          <a:xfrm>
            <a:off x="472440" y="670560"/>
            <a:ext cx="11308080" cy="0"/>
          </a:xfrm>
          <a:prstGeom prst="line">
            <a:avLst/>
          </a:prstGeom>
          <a:ln w="15875">
            <a:solidFill>
              <a:srgbClr val="D4DC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ra-old-bar">
            <a:extLst>
              <a:ext uri="{FF2B5EF4-FFF2-40B4-BE49-F238E27FC236}">
                <a16:creationId xmlns:a16="http://schemas.microsoft.com/office/drawing/2014/main" id="{E084C5A5-70E6-BA79-EEC3-3A155C930F05}"/>
              </a:ext>
            </a:extLst>
          </p:cNvPr>
          <p:cNvSpPr/>
          <p:nvPr/>
        </p:nvSpPr>
        <p:spPr>
          <a:xfrm>
            <a:off x="472440" y="754380"/>
            <a:ext cx="45720" cy="365760"/>
          </a:xfrm>
          <a:prstGeom prst="rect">
            <a:avLst/>
          </a:prstGeom>
          <a:solidFill>
            <a:srgbClr val="8393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era-old">
            <a:extLst>
              <a:ext uri="{FF2B5EF4-FFF2-40B4-BE49-F238E27FC236}">
                <a16:creationId xmlns:a16="http://schemas.microsoft.com/office/drawing/2014/main" id="{6E913354-1538-7328-3F2E-B6733E4C5D3D}"/>
              </a:ext>
            </a:extLst>
          </p:cNvPr>
          <p:cNvSpPr/>
          <p:nvPr/>
        </p:nvSpPr>
        <p:spPr>
          <a:xfrm>
            <a:off x="518160" y="754380"/>
            <a:ext cx="5295900" cy="365760"/>
          </a:xfrm>
          <a:prstGeom prst="rect">
            <a:avLst/>
          </a:prstGeom>
          <a:solidFill>
            <a:srgbClr val="E5E8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era-old-y">
            <a:extLst>
              <a:ext uri="{FF2B5EF4-FFF2-40B4-BE49-F238E27FC236}">
                <a16:creationId xmlns:a16="http://schemas.microsoft.com/office/drawing/2014/main" id="{15524C54-77F2-D6FB-D06B-67E7C3C6C504}"/>
              </a:ext>
            </a:extLst>
          </p:cNvPr>
          <p:cNvSpPr txBox="1"/>
          <p:nvPr/>
        </p:nvSpPr>
        <p:spPr>
          <a:xfrm>
            <a:off x="548640" y="787722"/>
            <a:ext cx="346249" cy="194925"/>
          </a:xfrm>
          <a:prstGeom prst="rect">
            <a:avLst/>
          </a:prstGeom>
          <a:noFill/>
        </p:spPr>
        <p:txBody>
          <a:bodyPr vert="horz" wrap="none" lIns="0" tIns="12700" rIns="0" bIns="12700" rtlCol="0" anchor="ctr">
            <a:spAutoFit/>
          </a:bodyPr>
          <a:lstStyle/>
          <a:p>
            <a:r>
              <a:rPr lang="en-US" altLang="zh-CN" sz="1100" b="1">
                <a:solidFill>
                  <a:srgbClr val="173650"/>
                </a:solidFill>
                <a:latin typeface="Microsoft YaHei" panose="020B0503020204020204" pitchFamily="34" charset="-122"/>
              </a:rPr>
              <a:t>2025</a:t>
            </a:r>
            <a:endParaRPr lang="zh-CN" altLang="en-US" sz="1100" b="1">
              <a:solidFill>
                <a:srgbClr val="1736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era-old-t">
            <a:extLst>
              <a:ext uri="{FF2B5EF4-FFF2-40B4-BE49-F238E27FC236}">
                <a16:creationId xmlns:a16="http://schemas.microsoft.com/office/drawing/2014/main" id="{F859A32F-1BB9-D02F-39DD-500FFFA24D20}"/>
              </a:ext>
            </a:extLst>
          </p:cNvPr>
          <p:cNvSpPr txBox="1"/>
          <p:nvPr/>
        </p:nvSpPr>
        <p:spPr>
          <a:xfrm>
            <a:off x="1234440" y="805180"/>
            <a:ext cx="447802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00" b="1">
                <a:solidFill>
                  <a:srgbClr val="294858"/>
                </a:solidFill>
                <a:latin typeface="Microsoft YaHei" panose="020B0503020204020204" pitchFamily="34" charset="-122"/>
              </a:rPr>
              <a:t>专项评分</a:t>
            </a:r>
          </a:p>
        </p:txBody>
      </p:sp>
      <p:sp>
        <p:nvSpPr>
          <p:cNvPr id="11" name="era-old-s">
            <a:extLst>
              <a:ext uri="{FF2B5EF4-FFF2-40B4-BE49-F238E27FC236}">
                <a16:creationId xmlns:a16="http://schemas.microsoft.com/office/drawing/2014/main" id="{88045DD7-CBAC-EC4D-58B3-2B80038EEFB2}"/>
              </a:ext>
            </a:extLst>
          </p:cNvPr>
          <p:cNvSpPr txBox="1"/>
          <p:nvPr/>
        </p:nvSpPr>
        <p:spPr>
          <a:xfrm>
            <a:off x="1234440" y="1033780"/>
            <a:ext cx="447802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47780"/>
                </a:solidFill>
                <a:latin typeface="Microsoft YaHei" panose="020B0503020204020204" pitchFamily="34" charset="-122"/>
              </a:rPr>
              <a:t>科组自选 </a:t>
            </a:r>
            <a:r>
              <a:rPr lang="en-US" altLang="zh-CN" sz="600">
                <a:solidFill>
                  <a:srgbClr val="64778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600">
                <a:solidFill>
                  <a:srgbClr val="647780"/>
                </a:solidFill>
                <a:latin typeface="Microsoft YaHei" panose="020B0503020204020204" pitchFamily="34" charset="-122"/>
              </a:rPr>
              <a:t>阶段运营 </a:t>
            </a:r>
            <a:r>
              <a:rPr lang="en-US" altLang="zh-CN" sz="600">
                <a:solidFill>
                  <a:srgbClr val="64778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600">
                <a:solidFill>
                  <a:srgbClr val="647780"/>
                </a:solidFill>
                <a:latin typeface="Microsoft YaHei" panose="020B0503020204020204" pitchFamily="34" charset="-122"/>
              </a:rPr>
              <a:t>平均得分 </a:t>
            </a:r>
            <a:r>
              <a:rPr lang="en-US" altLang="zh-CN" sz="600">
                <a:solidFill>
                  <a:srgbClr val="647780"/>
                </a:solidFill>
                <a:latin typeface="Microsoft YaHei" panose="020B0503020204020204" pitchFamily="34" charset="-122"/>
              </a:rPr>
              <a:t>2.5</a:t>
            </a:r>
            <a:endParaRPr lang="zh-CN" altLang="en-US" sz="600">
              <a:solidFill>
                <a:srgbClr val="64778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era-evolve">
            <a:extLst>
              <a:ext uri="{FF2B5EF4-FFF2-40B4-BE49-F238E27FC236}">
                <a16:creationId xmlns:a16="http://schemas.microsoft.com/office/drawing/2014/main" id="{A4B183F7-08B5-A796-E357-1E3EBEB7B063}"/>
              </a:ext>
            </a:extLst>
          </p:cNvPr>
          <p:cNvSpPr/>
          <p:nvPr/>
        </p:nvSpPr>
        <p:spPr>
          <a:xfrm>
            <a:off x="5814060" y="779780"/>
            <a:ext cx="624840" cy="314960"/>
          </a:xfrm>
          <a:prstGeom prst="chevron">
            <a:avLst/>
          </a:prstGeom>
          <a:solidFill>
            <a:srgbClr val="C99A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127000" bIns="12700" rtlCol="0" anchor="ctr"/>
          <a:lstStyle/>
          <a:p>
            <a:pPr algn="ctr"/>
            <a:r>
              <a:rPr lang="zh-CN" altLang="en-US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重构</a:t>
            </a:r>
          </a:p>
        </p:txBody>
      </p:sp>
      <p:sp>
        <p:nvSpPr>
          <p:cNvPr id="13" name="era-new">
            <a:extLst>
              <a:ext uri="{FF2B5EF4-FFF2-40B4-BE49-F238E27FC236}">
                <a16:creationId xmlns:a16="http://schemas.microsoft.com/office/drawing/2014/main" id="{EE8030EA-14EA-6E03-1891-3FB08B99E681}"/>
              </a:ext>
            </a:extLst>
          </p:cNvPr>
          <p:cNvSpPr/>
          <p:nvPr/>
        </p:nvSpPr>
        <p:spPr>
          <a:xfrm>
            <a:off x="6438900" y="754380"/>
            <a:ext cx="5295900" cy="365760"/>
          </a:xfrm>
          <a:prstGeom prst="rect">
            <a:avLst/>
          </a:prstGeom>
          <a:solidFill>
            <a:srgbClr val="DCEF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era-new-bar">
            <a:extLst>
              <a:ext uri="{FF2B5EF4-FFF2-40B4-BE49-F238E27FC236}">
                <a16:creationId xmlns:a16="http://schemas.microsoft.com/office/drawing/2014/main" id="{88746982-0462-E3F1-0774-BA4CA0852E74}"/>
              </a:ext>
            </a:extLst>
          </p:cNvPr>
          <p:cNvSpPr/>
          <p:nvPr/>
        </p:nvSpPr>
        <p:spPr>
          <a:xfrm>
            <a:off x="11734800" y="754380"/>
            <a:ext cx="45720" cy="365760"/>
          </a:xfrm>
          <a:prstGeom prst="rect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era-new-y">
            <a:extLst>
              <a:ext uri="{FF2B5EF4-FFF2-40B4-BE49-F238E27FC236}">
                <a16:creationId xmlns:a16="http://schemas.microsoft.com/office/drawing/2014/main" id="{5830562D-4C6B-8715-CDD5-D1BCC4CB5339}"/>
              </a:ext>
            </a:extLst>
          </p:cNvPr>
          <p:cNvSpPr txBox="1"/>
          <p:nvPr/>
        </p:nvSpPr>
        <p:spPr>
          <a:xfrm>
            <a:off x="6515100" y="787722"/>
            <a:ext cx="346249" cy="194925"/>
          </a:xfrm>
          <a:prstGeom prst="rect">
            <a:avLst/>
          </a:prstGeom>
          <a:noFill/>
        </p:spPr>
        <p:txBody>
          <a:bodyPr vert="horz" wrap="none" lIns="0" tIns="12700" rIns="0" bIns="12700" rtlCol="0" anchor="ctr">
            <a:spAutoFit/>
          </a:bodyPr>
          <a:lstStyle/>
          <a:p>
            <a:r>
              <a:rPr lang="en-US" altLang="zh-CN" sz="1100" b="1">
                <a:solidFill>
                  <a:srgbClr val="173650"/>
                </a:solidFill>
                <a:latin typeface="Microsoft YaHei" panose="020B0503020204020204" pitchFamily="34" charset="-122"/>
              </a:rPr>
              <a:t>2026</a:t>
            </a:r>
            <a:endParaRPr lang="zh-CN" altLang="en-US" sz="1100" b="1">
              <a:solidFill>
                <a:srgbClr val="1736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era-new-t">
            <a:extLst>
              <a:ext uri="{FF2B5EF4-FFF2-40B4-BE49-F238E27FC236}">
                <a16:creationId xmlns:a16="http://schemas.microsoft.com/office/drawing/2014/main" id="{EB1ECB99-C828-3B4B-4ED4-C7B4C6E2FBEA}"/>
              </a:ext>
            </a:extLst>
          </p:cNvPr>
          <p:cNvSpPr txBox="1"/>
          <p:nvPr/>
        </p:nvSpPr>
        <p:spPr>
          <a:xfrm>
            <a:off x="7200900" y="805180"/>
            <a:ext cx="447802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00" b="1">
                <a:solidFill>
                  <a:srgbClr val="294858"/>
                </a:solidFill>
                <a:latin typeface="Microsoft YaHei" panose="020B0503020204020204" pitchFamily="34" charset="-122"/>
              </a:rPr>
              <a:t>持续能力经营</a:t>
            </a:r>
          </a:p>
        </p:txBody>
      </p:sp>
      <p:sp>
        <p:nvSpPr>
          <p:cNvPr id="17" name="era-new-s">
            <a:extLst>
              <a:ext uri="{FF2B5EF4-FFF2-40B4-BE49-F238E27FC236}">
                <a16:creationId xmlns:a16="http://schemas.microsoft.com/office/drawing/2014/main" id="{7F64F0E1-B90A-80D3-7D7A-3BDC890C3318}"/>
              </a:ext>
            </a:extLst>
          </p:cNvPr>
          <p:cNvSpPr txBox="1"/>
          <p:nvPr/>
        </p:nvSpPr>
        <p:spPr>
          <a:xfrm>
            <a:off x="7200900" y="1033780"/>
            <a:ext cx="447802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47780"/>
                </a:solidFill>
                <a:latin typeface="Microsoft YaHei" panose="020B0503020204020204" pitchFamily="34" charset="-122"/>
              </a:rPr>
              <a:t>统一供给 </a:t>
            </a:r>
            <a:r>
              <a:rPr lang="en-US" altLang="zh-CN" sz="600">
                <a:solidFill>
                  <a:srgbClr val="64778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600">
                <a:solidFill>
                  <a:srgbClr val="647780"/>
                </a:solidFill>
                <a:latin typeface="Microsoft YaHei" panose="020B0503020204020204" pitchFamily="34" charset="-122"/>
              </a:rPr>
              <a:t>持续运营 </a:t>
            </a:r>
            <a:r>
              <a:rPr lang="en-US" altLang="zh-CN" sz="600">
                <a:solidFill>
                  <a:srgbClr val="64778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600">
                <a:solidFill>
                  <a:srgbClr val="647780"/>
                </a:solidFill>
                <a:latin typeface="Microsoft YaHei" panose="020B0503020204020204" pitchFamily="34" charset="-122"/>
              </a:rPr>
              <a:t>各领域目标 </a:t>
            </a:r>
            <a:r>
              <a:rPr lang="en-US" altLang="zh-CN" sz="600">
                <a:solidFill>
                  <a:srgbClr val="647780"/>
                </a:solidFill>
                <a:latin typeface="Microsoft YaHei" panose="020B0503020204020204" pitchFamily="34" charset="-122"/>
              </a:rPr>
              <a:t>3.0</a:t>
            </a:r>
            <a:endParaRPr lang="zh-CN" altLang="en-US" sz="600">
              <a:solidFill>
                <a:srgbClr val="64778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special-bg">
            <a:extLst>
              <a:ext uri="{FF2B5EF4-FFF2-40B4-BE49-F238E27FC236}">
                <a16:creationId xmlns:a16="http://schemas.microsoft.com/office/drawing/2014/main" id="{7FB354D3-DBF8-8A39-2700-884AAAD6C9FF}"/>
              </a:ext>
            </a:extLst>
          </p:cNvPr>
          <p:cNvSpPr/>
          <p:nvPr/>
        </p:nvSpPr>
        <p:spPr>
          <a:xfrm>
            <a:off x="472440" y="1196340"/>
            <a:ext cx="11308080" cy="624840"/>
          </a:xfrm>
          <a:prstGeom prst="rect">
            <a:avLst/>
          </a:prstGeom>
          <a:solidFill>
            <a:srgbClr val="E4EEEE"/>
          </a:solidFill>
          <a:ln w="7620">
            <a:solidFill>
              <a:srgbClr val="C9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pecial-div">
            <a:extLst>
              <a:ext uri="{FF2B5EF4-FFF2-40B4-BE49-F238E27FC236}">
                <a16:creationId xmlns:a16="http://schemas.microsoft.com/office/drawing/2014/main" id="{F175D0B3-DE4F-B99C-2737-4749E81FD81D}"/>
              </a:ext>
            </a:extLst>
          </p:cNvPr>
          <p:cNvSpPr/>
          <p:nvPr/>
        </p:nvSpPr>
        <p:spPr>
          <a:xfrm>
            <a:off x="2034540" y="1196340"/>
            <a:ext cx="7620" cy="624840"/>
          </a:xfrm>
          <a:prstGeom prst="rect">
            <a:avLst/>
          </a:prstGeom>
          <a:solidFill>
            <a:srgbClr val="C9D9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special-title">
            <a:extLst>
              <a:ext uri="{FF2B5EF4-FFF2-40B4-BE49-F238E27FC236}">
                <a16:creationId xmlns:a16="http://schemas.microsoft.com/office/drawing/2014/main" id="{33F315B3-0CEC-902B-207B-327CB95F03A0}"/>
              </a:ext>
            </a:extLst>
          </p:cNvPr>
          <p:cNvSpPr txBox="1"/>
          <p:nvPr/>
        </p:nvSpPr>
        <p:spPr>
          <a:xfrm>
            <a:off x="548640" y="1272540"/>
            <a:ext cx="14478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200" b="1">
                <a:solidFill>
                  <a:srgbClr val="1F555A"/>
                </a:solidFill>
                <a:latin typeface="Microsoft YaHei" panose="020B0503020204020204" pitchFamily="34" charset="-122"/>
              </a:rPr>
              <a:t>专项价值</a:t>
            </a:r>
          </a:p>
        </p:txBody>
      </p:sp>
      <p:sp>
        <p:nvSpPr>
          <p:cNvPr id="21" name="special-desc">
            <a:extLst>
              <a:ext uri="{FF2B5EF4-FFF2-40B4-BE49-F238E27FC236}">
                <a16:creationId xmlns:a16="http://schemas.microsoft.com/office/drawing/2014/main" id="{6557D10F-F647-108B-79EA-EC24A8471CBD}"/>
              </a:ext>
            </a:extLst>
          </p:cNvPr>
          <p:cNvSpPr txBox="1"/>
          <p:nvPr/>
        </p:nvSpPr>
        <p:spPr>
          <a:xfrm>
            <a:off x="548640" y="1526540"/>
            <a:ext cx="14478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5D747C"/>
                </a:solidFill>
                <a:latin typeface="Microsoft YaHei" panose="020B0503020204020204" pitchFamily="34" charset="-122"/>
              </a:rPr>
              <a:t>成熟度不止输出得分，更把差距转为能力交付、业务改进与资源决策。</a:t>
            </a:r>
          </a:p>
        </p:txBody>
      </p:sp>
      <p:sp>
        <p:nvSpPr>
          <p:cNvPr id="22" name="role1-bg">
            <a:extLst>
              <a:ext uri="{FF2B5EF4-FFF2-40B4-BE49-F238E27FC236}">
                <a16:creationId xmlns:a16="http://schemas.microsoft.com/office/drawing/2014/main" id="{480D1A17-72A6-096A-0D8B-A73B5D34B440}"/>
              </a:ext>
            </a:extLst>
          </p:cNvPr>
          <p:cNvSpPr/>
          <p:nvPr/>
        </p:nvSpPr>
        <p:spPr>
          <a:xfrm>
            <a:off x="2110740" y="1272540"/>
            <a:ext cx="3163993" cy="472440"/>
          </a:xfrm>
          <a:prstGeom prst="rect">
            <a:avLst/>
          </a:prstGeom>
          <a:solidFill>
            <a:srgbClr val="F7F9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ole1-top">
            <a:extLst>
              <a:ext uri="{FF2B5EF4-FFF2-40B4-BE49-F238E27FC236}">
                <a16:creationId xmlns:a16="http://schemas.microsoft.com/office/drawing/2014/main" id="{9FA1C28B-209F-0AFE-C4CE-F6C8C7511934}"/>
              </a:ext>
            </a:extLst>
          </p:cNvPr>
          <p:cNvSpPr/>
          <p:nvPr/>
        </p:nvSpPr>
        <p:spPr>
          <a:xfrm>
            <a:off x="2110740" y="1272540"/>
            <a:ext cx="3163993" cy="25400"/>
          </a:xfrm>
          <a:prstGeom prst="rect">
            <a:avLst/>
          </a:prstGeom>
          <a:solidFill>
            <a:srgbClr val="76A9A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ole1-ico1">
            <a:extLst>
              <a:ext uri="{FF2B5EF4-FFF2-40B4-BE49-F238E27FC236}">
                <a16:creationId xmlns:a16="http://schemas.microsoft.com/office/drawing/2014/main" id="{4ADDEBBF-D115-52D7-91C1-DCBB6CEFB76B}"/>
              </a:ext>
            </a:extLst>
          </p:cNvPr>
          <p:cNvSpPr/>
          <p:nvPr/>
        </p:nvSpPr>
        <p:spPr>
          <a:xfrm>
            <a:off x="2174240" y="1424940"/>
            <a:ext cx="88900" cy="88900"/>
          </a:xfrm>
          <a:prstGeom prst="ellipse">
            <a:avLst/>
          </a:prstGeom>
          <a:noFill/>
          <a:ln w="11430" cap="flat" cmpd="sng" algn="ctr">
            <a:solidFill>
              <a:srgbClr val="506C7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ole1-ico3">
            <a:extLst>
              <a:ext uri="{FF2B5EF4-FFF2-40B4-BE49-F238E27FC236}">
                <a16:creationId xmlns:a16="http://schemas.microsoft.com/office/drawing/2014/main" id="{D7EDC036-A97C-C0FF-EF65-FD67085B9EA8}"/>
              </a:ext>
            </a:extLst>
          </p:cNvPr>
          <p:cNvSpPr/>
          <p:nvPr/>
        </p:nvSpPr>
        <p:spPr>
          <a:xfrm>
            <a:off x="2174240" y="1539240"/>
            <a:ext cx="152400" cy="63500"/>
          </a:xfrm>
          <a:prstGeom prst="roundRect">
            <a:avLst/>
          </a:prstGeom>
          <a:noFill/>
          <a:ln w="11430" cap="flat" cmpd="sng" algn="ctr">
            <a:solidFill>
              <a:srgbClr val="506C7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ole1-t">
            <a:extLst>
              <a:ext uri="{FF2B5EF4-FFF2-40B4-BE49-F238E27FC236}">
                <a16:creationId xmlns:a16="http://schemas.microsoft.com/office/drawing/2014/main" id="{86ECF5C1-B744-6D0F-5048-9D62D6988F32}"/>
              </a:ext>
            </a:extLst>
          </p:cNvPr>
          <p:cNvSpPr txBox="1"/>
          <p:nvPr/>
        </p:nvSpPr>
        <p:spPr>
          <a:xfrm>
            <a:off x="2364740" y="1323340"/>
            <a:ext cx="2859193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294858"/>
                </a:solidFill>
                <a:latin typeface="Microsoft YaHei" panose="020B0503020204020204" pitchFamily="34" charset="-122"/>
              </a:rPr>
              <a:t>科组 </a:t>
            </a:r>
            <a:r>
              <a:rPr lang="en-US" altLang="zh-CN" sz="600" b="1">
                <a:solidFill>
                  <a:srgbClr val="29485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600" b="1">
                <a:solidFill>
                  <a:srgbClr val="294858"/>
                </a:solidFill>
                <a:latin typeface="Microsoft YaHei" panose="020B0503020204020204" pitchFamily="34" charset="-122"/>
              </a:rPr>
              <a:t>部门</a:t>
            </a:r>
          </a:p>
        </p:txBody>
      </p:sp>
      <p:sp>
        <p:nvSpPr>
          <p:cNvPr id="27" name="role1-p">
            <a:extLst>
              <a:ext uri="{FF2B5EF4-FFF2-40B4-BE49-F238E27FC236}">
                <a16:creationId xmlns:a16="http://schemas.microsoft.com/office/drawing/2014/main" id="{E55FFC3C-CE0D-DB34-3B61-BD8703136C6E}"/>
              </a:ext>
            </a:extLst>
          </p:cNvPr>
          <p:cNvSpPr txBox="1"/>
          <p:nvPr/>
        </p:nvSpPr>
        <p:spPr>
          <a:xfrm>
            <a:off x="2364740" y="1475740"/>
            <a:ext cx="2859193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1747E"/>
                </a:solidFill>
                <a:latin typeface="Microsoft YaHei" panose="020B0503020204020204" pitchFamily="34" charset="-122"/>
              </a:rPr>
              <a:t>看清建设差距，明确补齐项和落地计划。</a:t>
            </a:r>
          </a:p>
        </p:txBody>
      </p:sp>
      <p:sp>
        <p:nvSpPr>
          <p:cNvPr id="28" name="role2-bg">
            <a:extLst>
              <a:ext uri="{FF2B5EF4-FFF2-40B4-BE49-F238E27FC236}">
                <a16:creationId xmlns:a16="http://schemas.microsoft.com/office/drawing/2014/main" id="{EDE16C8A-CE67-1178-C882-D2A90689BDAA}"/>
              </a:ext>
            </a:extLst>
          </p:cNvPr>
          <p:cNvSpPr/>
          <p:nvPr/>
        </p:nvSpPr>
        <p:spPr>
          <a:xfrm>
            <a:off x="5350933" y="1272540"/>
            <a:ext cx="3163994" cy="472440"/>
          </a:xfrm>
          <a:prstGeom prst="rect">
            <a:avLst/>
          </a:prstGeom>
          <a:solidFill>
            <a:srgbClr val="F7F9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ole2-top">
            <a:extLst>
              <a:ext uri="{FF2B5EF4-FFF2-40B4-BE49-F238E27FC236}">
                <a16:creationId xmlns:a16="http://schemas.microsoft.com/office/drawing/2014/main" id="{5AFBD9B6-5489-B5B8-AF10-7AF1C70722AF}"/>
              </a:ext>
            </a:extLst>
          </p:cNvPr>
          <p:cNvSpPr/>
          <p:nvPr/>
        </p:nvSpPr>
        <p:spPr>
          <a:xfrm>
            <a:off x="5350933" y="1272540"/>
            <a:ext cx="3163994" cy="25400"/>
          </a:xfrm>
          <a:prstGeom prst="rect">
            <a:avLst/>
          </a:prstGeom>
          <a:solidFill>
            <a:srgbClr val="91A6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role2-ico1">
            <a:extLst>
              <a:ext uri="{FF2B5EF4-FFF2-40B4-BE49-F238E27FC236}">
                <a16:creationId xmlns:a16="http://schemas.microsoft.com/office/drawing/2014/main" id="{39ADBE24-6923-D062-37C1-03EDE5E88694}"/>
              </a:ext>
            </a:extLst>
          </p:cNvPr>
          <p:cNvSpPr/>
          <p:nvPr/>
        </p:nvSpPr>
        <p:spPr>
          <a:xfrm>
            <a:off x="5414433" y="1424940"/>
            <a:ext cx="88900" cy="88900"/>
          </a:xfrm>
          <a:prstGeom prst="ellipse">
            <a:avLst/>
          </a:prstGeom>
          <a:noFill/>
          <a:ln w="11430" cap="flat" cmpd="sng" algn="ctr">
            <a:solidFill>
              <a:srgbClr val="506C7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ole2-ico3">
            <a:extLst>
              <a:ext uri="{FF2B5EF4-FFF2-40B4-BE49-F238E27FC236}">
                <a16:creationId xmlns:a16="http://schemas.microsoft.com/office/drawing/2014/main" id="{217B655C-DC9C-AAE1-F700-52DC32C32219}"/>
              </a:ext>
            </a:extLst>
          </p:cNvPr>
          <p:cNvSpPr/>
          <p:nvPr/>
        </p:nvSpPr>
        <p:spPr>
          <a:xfrm>
            <a:off x="5414433" y="1539240"/>
            <a:ext cx="152400" cy="63500"/>
          </a:xfrm>
          <a:prstGeom prst="roundRect">
            <a:avLst/>
          </a:prstGeom>
          <a:noFill/>
          <a:ln w="11430" cap="flat" cmpd="sng" algn="ctr">
            <a:solidFill>
              <a:srgbClr val="506C7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role2-t">
            <a:extLst>
              <a:ext uri="{FF2B5EF4-FFF2-40B4-BE49-F238E27FC236}">
                <a16:creationId xmlns:a16="http://schemas.microsoft.com/office/drawing/2014/main" id="{AC7C8D6A-6E1D-430E-AE12-ED8C4C41D3C1}"/>
              </a:ext>
            </a:extLst>
          </p:cNvPr>
          <p:cNvSpPr txBox="1"/>
          <p:nvPr/>
        </p:nvSpPr>
        <p:spPr>
          <a:xfrm>
            <a:off x="5604933" y="1323340"/>
            <a:ext cx="2859193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294858"/>
                </a:solidFill>
                <a:latin typeface="Microsoft YaHei" panose="020B0503020204020204" pitchFamily="34" charset="-122"/>
              </a:rPr>
              <a:t>能力 </a:t>
            </a:r>
            <a:r>
              <a:rPr lang="en-US" altLang="zh-CN" sz="600" b="1">
                <a:solidFill>
                  <a:srgbClr val="294858"/>
                </a:solidFill>
                <a:latin typeface="Microsoft YaHei" panose="020B0503020204020204" pitchFamily="34" charset="-122"/>
              </a:rPr>
              <a:t>Owner</a:t>
            </a:r>
            <a:endParaRPr lang="zh-CN" altLang="en-US" sz="600" b="1">
              <a:solidFill>
                <a:srgbClr val="29485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role2-p">
            <a:extLst>
              <a:ext uri="{FF2B5EF4-FFF2-40B4-BE49-F238E27FC236}">
                <a16:creationId xmlns:a16="http://schemas.microsoft.com/office/drawing/2014/main" id="{2F0D0A05-C3F7-7D46-3B48-4019524AC366}"/>
              </a:ext>
            </a:extLst>
          </p:cNvPr>
          <p:cNvSpPr txBox="1"/>
          <p:nvPr/>
        </p:nvSpPr>
        <p:spPr>
          <a:xfrm>
            <a:off x="5604933" y="1475740"/>
            <a:ext cx="2859193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1747E"/>
                </a:solidFill>
                <a:latin typeface="Microsoft YaHei" panose="020B0503020204020204" pitchFamily="34" charset="-122"/>
              </a:rPr>
              <a:t>审视交付进度，推动 </a:t>
            </a:r>
            <a:r>
              <a:rPr lang="en-US" altLang="zh-CN" sz="600">
                <a:solidFill>
                  <a:srgbClr val="61747E"/>
                </a:solidFill>
                <a:latin typeface="Microsoft YaHei" panose="020B0503020204020204" pitchFamily="34" charset="-122"/>
              </a:rPr>
              <a:t>SP/BP </a:t>
            </a:r>
            <a:r>
              <a:rPr lang="zh-CN" altLang="en-US" sz="600">
                <a:solidFill>
                  <a:srgbClr val="61747E"/>
                </a:solidFill>
                <a:latin typeface="Microsoft YaHei" panose="020B0503020204020204" pitchFamily="34" charset="-122"/>
              </a:rPr>
              <a:t>目标兑现。</a:t>
            </a:r>
          </a:p>
        </p:txBody>
      </p:sp>
      <p:sp>
        <p:nvSpPr>
          <p:cNvPr id="34" name="role3-bg">
            <a:extLst>
              <a:ext uri="{FF2B5EF4-FFF2-40B4-BE49-F238E27FC236}">
                <a16:creationId xmlns:a16="http://schemas.microsoft.com/office/drawing/2014/main" id="{CA5C645D-CC87-01DA-AB54-4D5E8EDF575F}"/>
              </a:ext>
            </a:extLst>
          </p:cNvPr>
          <p:cNvSpPr/>
          <p:nvPr/>
        </p:nvSpPr>
        <p:spPr>
          <a:xfrm>
            <a:off x="8591127" y="1272540"/>
            <a:ext cx="3163993" cy="472440"/>
          </a:xfrm>
          <a:prstGeom prst="rect">
            <a:avLst/>
          </a:prstGeom>
          <a:solidFill>
            <a:srgbClr val="F7F9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role3-top">
            <a:extLst>
              <a:ext uri="{FF2B5EF4-FFF2-40B4-BE49-F238E27FC236}">
                <a16:creationId xmlns:a16="http://schemas.microsoft.com/office/drawing/2014/main" id="{3D46191B-0596-861B-D0E6-CF9C8C47C73F}"/>
              </a:ext>
            </a:extLst>
          </p:cNvPr>
          <p:cNvSpPr/>
          <p:nvPr/>
        </p:nvSpPr>
        <p:spPr>
          <a:xfrm>
            <a:off x="8591127" y="1272540"/>
            <a:ext cx="3163993" cy="25400"/>
          </a:xfrm>
          <a:prstGeom prst="rect">
            <a:avLst/>
          </a:prstGeom>
          <a:solidFill>
            <a:srgbClr val="C2A1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ole3-ico1">
            <a:extLst>
              <a:ext uri="{FF2B5EF4-FFF2-40B4-BE49-F238E27FC236}">
                <a16:creationId xmlns:a16="http://schemas.microsoft.com/office/drawing/2014/main" id="{563EE510-0B65-6B2F-878D-DF2F145C8140}"/>
              </a:ext>
            </a:extLst>
          </p:cNvPr>
          <p:cNvSpPr/>
          <p:nvPr/>
        </p:nvSpPr>
        <p:spPr>
          <a:xfrm>
            <a:off x="8654627" y="1424940"/>
            <a:ext cx="88900" cy="88900"/>
          </a:xfrm>
          <a:prstGeom prst="ellipse">
            <a:avLst/>
          </a:prstGeom>
          <a:noFill/>
          <a:ln w="11430" cap="flat" cmpd="sng" algn="ctr">
            <a:solidFill>
              <a:srgbClr val="506C7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ole3-ico3">
            <a:extLst>
              <a:ext uri="{FF2B5EF4-FFF2-40B4-BE49-F238E27FC236}">
                <a16:creationId xmlns:a16="http://schemas.microsoft.com/office/drawing/2014/main" id="{420E43CB-9E27-F249-B5F9-03A97D96CF52}"/>
              </a:ext>
            </a:extLst>
          </p:cNvPr>
          <p:cNvSpPr/>
          <p:nvPr/>
        </p:nvSpPr>
        <p:spPr>
          <a:xfrm>
            <a:off x="8654627" y="1539240"/>
            <a:ext cx="152400" cy="63500"/>
          </a:xfrm>
          <a:prstGeom prst="roundRect">
            <a:avLst/>
          </a:prstGeom>
          <a:noFill/>
          <a:ln w="11430" cap="flat" cmpd="sng" algn="ctr">
            <a:solidFill>
              <a:srgbClr val="506C7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ole3-t">
            <a:extLst>
              <a:ext uri="{FF2B5EF4-FFF2-40B4-BE49-F238E27FC236}">
                <a16:creationId xmlns:a16="http://schemas.microsoft.com/office/drawing/2014/main" id="{2727D7FF-15B1-8BBE-9C1A-41A023817F59}"/>
              </a:ext>
            </a:extLst>
          </p:cNvPr>
          <p:cNvSpPr txBox="1"/>
          <p:nvPr/>
        </p:nvSpPr>
        <p:spPr>
          <a:xfrm>
            <a:off x="8845127" y="1323340"/>
            <a:ext cx="2859193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294858"/>
                </a:solidFill>
                <a:latin typeface="Microsoft YaHei" panose="020B0503020204020204" pitchFamily="34" charset="-122"/>
              </a:rPr>
              <a:t>测试管理者</a:t>
            </a:r>
          </a:p>
        </p:txBody>
      </p:sp>
      <p:sp>
        <p:nvSpPr>
          <p:cNvPr id="39" name="role3-p">
            <a:extLst>
              <a:ext uri="{FF2B5EF4-FFF2-40B4-BE49-F238E27FC236}">
                <a16:creationId xmlns:a16="http://schemas.microsoft.com/office/drawing/2014/main" id="{F140DCB6-28A4-6884-AEE4-B58B1FB8FA8C}"/>
              </a:ext>
            </a:extLst>
          </p:cNvPr>
          <p:cNvSpPr txBox="1"/>
          <p:nvPr/>
        </p:nvSpPr>
        <p:spPr>
          <a:xfrm>
            <a:off x="8845127" y="1475740"/>
            <a:ext cx="2859193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1747E"/>
                </a:solidFill>
                <a:latin typeface="Microsoft YaHei" panose="020B0503020204020204" pitchFamily="34" charset="-122"/>
              </a:rPr>
              <a:t>掌握整体进度，支撑规划与资源选择。</a:t>
            </a:r>
          </a:p>
        </p:txBody>
      </p:sp>
      <p:sp>
        <p:nvSpPr>
          <p:cNvPr id="40" name="m-corner">
            <a:extLst>
              <a:ext uri="{FF2B5EF4-FFF2-40B4-BE49-F238E27FC236}">
                <a16:creationId xmlns:a16="http://schemas.microsoft.com/office/drawing/2014/main" id="{9B74243B-F376-FAB2-4AEB-404375012938}"/>
              </a:ext>
            </a:extLst>
          </p:cNvPr>
          <p:cNvSpPr/>
          <p:nvPr/>
        </p:nvSpPr>
        <p:spPr>
          <a:xfrm>
            <a:off x="472440" y="1912620"/>
            <a:ext cx="899160" cy="220980"/>
          </a:xfrm>
          <a:prstGeom prst="rect">
            <a:avLst/>
          </a:prstGeom>
          <a:solidFill>
            <a:srgbClr val="D8D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m-head-old">
            <a:extLst>
              <a:ext uri="{FF2B5EF4-FFF2-40B4-BE49-F238E27FC236}">
                <a16:creationId xmlns:a16="http://schemas.microsoft.com/office/drawing/2014/main" id="{2B5FED99-76CE-34CC-814A-2365DB4FD222}"/>
              </a:ext>
            </a:extLst>
          </p:cNvPr>
          <p:cNvSpPr/>
          <p:nvPr/>
        </p:nvSpPr>
        <p:spPr>
          <a:xfrm>
            <a:off x="1371600" y="1912620"/>
            <a:ext cx="4358640" cy="220980"/>
          </a:xfrm>
          <a:prstGeom prst="rect">
            <a:avLst/>
          </a:prstGeom>
          <a:solidFill>
            <a:srgbClr val="E1E5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m-head-old-t">
            <a:extLst>
              <a:ext uri="{FF2B5EF4-FFF2-40B4-BE49-F238E27FC236}">
                <a16:creationId xmlns:a16="http://schemas.microsoft.com/office/drawing/2014/main" id="{92DFB7F1-FF6B-DBBD-97BD-4FB1A5216513}"/>
              </a:ext>
            </a:extLst>
          </p:cNvPr>
          <p:cNvSpPr txBox="1"/>
          <p:nvPr/>
        </p:nvSpPr>
        <p:spPr>
          <a:xfrm>
            <a:off x="1371600" y="1945962"/>
            <a:ext cx="435864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 b="1">
                <a:solidFill>
                  <a:srgbClr val="405863"/>
                </a:solidFill>
                <a:latin typeface="Microsoft YaHei" panose="020B0503020204020204" pitchFamily="34" charset="-122"/>
              </a:rPr>
              <a:t>2025 · </a:t>
            </a:r>
            <a:r>
              <a:rPr lang="zh-CN" altLang="en-US" sz="900" b="1">
                <a:solidFill>
                  <a:srgbClr val="405863"/>
                </a:solidFill>
                <a:latin typeface="Microsoft YaHei" panose="020B0503020204020204" pitchFamily="34" charset="-122"/>
              </a:rPr>
              <a:t>专项评分</a:t>
            </a:r>
          </a:p>
        </p:txBody>
      </p:sp>
      <p:sp>
        <p:nvSpPr>
          <p:cNvPr id="43" name="m-head-new">
            <a:extLst>
              <a:ext uri="{FF2B5EF4-FFF2-40B4-BE49-F238E27FC236}">
                <a16:creationId xmlns:a16="http://schemas.microsoft.com/office/drawing/2014/main" id="{494D7D94-55CB-F58F-AF12-1E6ECC449240}"/>
              </a:ext>
            </a:extLst>
          </p:cNvPr>
          <p:cNvSpPr/>
          <p:nvPr/>
        </p:nvSpPr>
        <p:spPr>
          <a:xfrm>
            <a:off x="5730240" y="1912620"/>
            <a:ext cx="6050280" cy="220980"/>
          </a:xfrm>
          <a:prstGeom prst="rect">
            <a:avLst/>
          </a:prstGeom>
          <a:solidFill>
            <a:srgbClr val="D8EB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m-head-new-t">
            <a:extLst>
              <a:ext uri="{FF2B5EF4-FFF2-40B4-BE49-F238E27FC236}">
                <a16:creationId xmlns:a16="http://schemas.microsoft.com/office/drawing/2014/main" id="{1040118F-1544-B53B-9976-032894E591AA}"/>
              </a:ext>
            </a:extLst>
          </p:cNvPr>
          <p:cNvSpPr txBox="1"/>
          <p:nvPr/>
        </p:nvSpPr>
        <p:spPr>
          <a:xfrm>
            <a:off x="5730240" y="1945962"/>
            <a:ext cx="605028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900" b="1">
                <a:solidFill>
                  <a:srgbClr val="176B65"/>
                </a:solidFill>
                <a:latin typeface="Microsoft YaHei" panose="020B0503020204020204" pitchFamily="34" charset="-122"/>
              </a:rPr>
              <a:t>2026 · </a:t>
            </a:r>
            <a:r>
              <a:rPr lang="zh-CN" altLang="en-US" sz="900" b="1">
                <a:solidFill>
                  <a:srgbClr val="176B65"/>
                </a:solidFill>
                <a:latin typeface="Microsoft YaHei" panose="020B0503020204020204" pitchFamily="34" charset="-122"/>
              </a:rPr>
              <a:t>持续能力经营</a:t>
            </a:r>
          </a:p>
        </p:txBody>
      </p:sp>
      <p:sp>
        <p:nvSpPr>
          <p:cNvPr id="45" name="lab-design-bg">
            <a:extLst>
              <a:ext uri="{FF2B5EF4-FFF2-40B4-BE49-F238E27FC236}">
                <a16:creationId xmlns:a16="http://schemas.microsoft.com/office/drawing/2014/main" id="{A9084498-FF6A-AC50-6EC8-09FDCA7BEA3F}"/>
              </a:ext>
            </a:extLst>
          </p:cNvPr>
          <p:cNvSpPr/>
          <p:nvPr/>
        </p:nvSpPr>
        <p:spPr>
          <a:xfrm>
            <a:off x="472440" y="2133600"/>
            <a:ext cx="899160" cy="617220"/>
          </a:xfrm>
          <a:prstGeom prst="rect">
            <a:avLst/>
          </a:prstGeom>
          <a:solidFill>
            <a:srgbClr val="ED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lab-design-t">
            <a:extLst>
              <a:ext uri="{FF2B5EF4-FFF2-40B4-BE49-F238E27FC236}">
                <a16:creationId xmlns:a16="http://schemas.microsoft.com/office/drawing/2014/main" id="{DEB32749-17CC-2283-4C5A-FB2CDF6591CF}"/>
              </a:ext>
            </a:extLst>
          </p:cNvPr>
          <p:cNvSpPr txBox="1"/>
          <p:nvPr/>
        </p:nvSpPr>
        <p:spPr>
          <a:xfrm>
            <a:off x="523240" y="2184400"/>
            <a:ext cx="79756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00" b="1">
                <a:solidFill>
                  <a:srgbClr val="173650"/>
                </a:solidFill>
                <a:latin typeface="Microsoft YaHei" panose="020B0503020204020204" pitchFamily="34" charset="-122"/>
              </a:rPr>
              <a:t>能力设计</a:t>
            </a:r>
          </a:p>
        </p:txBody>
      </p:sp>
      <p:sp>
        <p:nvSpPr>
          <p:cNvPr id="47" name="lab-design-s">
            <a:extLst>
              <a:ext uri="{FF2B5EF4-FFF2-40B4-BE49-F238E27FC236}">
                <a16:creationId xmlns:a16="http://schemas.microsoft.com/office/drawing/2014/main" id="{9936A3B0-344E-67B2-2B7A-9DB6559C0EFF}"/>
              </a:ext>
            </a:extLst>
          </p:cNvPr>
          <p:cNvSpPr txBox="1"/>
          <p:nvPr/>
        </p:nvSpPr>
        <p:spPr>
          <a:xfrm>
            <a:off x="523240" y="2387600"/>
            <a:ext cx="79756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75858D"/>
                </a:solidFill>
                <a:latin typeface="Microsoft YaHei" panose="020B0503020204020204" pitchFamily="34" charset="-122"/>
              </a:rPr>
              <a:t>供给、领域与目标</a:t>
            </a:r>
          </a:p>
        </p:txBody>
      </p:sp>
      <p:sp>
        <p:nvSpPr>
          <p:cNvPr id="48" name="lab-ops-bg">
            <a:extLst>
              <a:ext uri="{FF2B5EF4-FFF2-40B4-BE49-F238E27FC236}">
                <a16:creationId xmlns:a16="http://schemas.microsoft.com/office/drawing/2014/main" id="{BF46AB20-C12C-A08D-3B3C-74D7182CFEB0}"/>
              </a:ext>
            </a:extLst>
          </p:cNvPr>
          <p:cNvSpPr/>
          <p:nvPr/>
        </p:nvSpPr>
        <p:spPr>
          <a:xfrm>
            <a:off x="472440" y="2750820"/>
            <a:ext cx="899160" cy="518160"/>
          </a:xfrm>
          <a:prstGeom prst="rect">
            <a:avLst/>
          </a:prstGeom>
          <a:solidFill>
            <a:srgbClr val="ED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lab-ops-t">
            <a:extLst>
              <a:ext uri="{FF2B5EF4-FFF2-40B4-BE49-F238E27FC236}">
                <a16:creationId xmlns:a16="http://schemas.microsoft.com/office/drawing/2014/main" id="{E8CB646C-852C-C3B6-78D4-C09EB18C6DBE}"/>
              </a:ext>
            </a:extLst>
          </p:cNvPr>
          <p:cNvSpPr txBox="1"/>
          <p:nvPr/>
        </p:nvSpPr>
        <p:spPr>
          <a:xfrm>
            <a:off x="523240" y="2801620"/>
            <a:ext cx="79756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00" b="1">
                <a:solidFill>
                  <a:srgbClr val="173650"/>
                </a:solidFill>
                <a:latin typeface="Microsoft YaHei" panose="020B0503020204020204" pitchFamily="34" charset="-122"/>
              </a:rPr>
              <a:t>监控运营</a:t>
            </a:r>
          </a:p>
        </p:txBody>
      </p:sp>
      <p:sp>
        <p:nvSpPr>
          <p:cNvPr id="50" name="lab-ops-s">
            <a:extLst>
              <a:ext uri="{FF2B5EF4-FFF2-40B4-BE49-F238E27FC236}">
                <a16:creationId xmlns:a16="http://schemas.microsoft.com/office/drawing/2014/main" id="{035EE2EC-12E8-12D8-38EC-EBF981C8820F}"/>
              </a:ext>
            </a:extLst>
          </p:cNvPr>
          <p:cNvSpPr txBox="1"/>
          <p:nvPr/>
        </p:nvSpPr>
        <p:spPr>
          <a:xfrm>
            <a:off x="523240" y="3004820"/>
            <a:ext cx="79756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75858D"/>
                </a:solidFill>
                <a:latin typeface="Microsoft YaHei" panose="020B0503020204020204" pitchFamily="34" charset="-122"/>
              </a:rPr>
              <a:t>跟踪、验收与辅导</a:t>
            </a:r>
          </a:p>
        </p:txBody>
      </p:sp>
      <p:sp>
        <p:nvSpPr>
          <p:cNvPr id="51" name="lab-val-bg">
            <a:extLst>
              <a:ext uri="{FF2B5EF4-FFF2-40B4-BE49-F238E27FC236}">
                <a16:creationId xmlns:a16="http://schemas.microsoft.com/office/drawing/2014/main" id="{52F1F617-B98F-F8F6-246E-8261850BEE1A}"/>
              </a:ext>
            </a:extLst>
          </p:cNvPr>
          <p:cNvSpPr/>
          <p:nvPr/>
        </p:nvSpPr>
        <p:spPr>
          <a:xfrm>
            <a:off x="472440" y="3268980"/>
            <a:ext cx="899160" cy="960120"/>
          </a:xfrm>
          <a:prstGeom prst="rect">
            <a:avLst/>
          </a:prstGeom>
          <a:solidFill>
            <a:srgbClr val="ED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lab-val-t">
            <a:extLst>
              <a:ext uri="{FF2B5EF4-FFF2-40B4-BE49-F238E27FC236}">
                <a16:creationId xmlns:a16="http://schemas.microsoft.com/office/drawing/2014/main" id="{E14323A9-6D88-CA5E-3390-77355ADB1B09}"/>
              </a:ext>
            </a:extLst>
          </p:cNvPr>
          <p:cNvSpPr txBox="1"/>
          <p:nvPr/>
        </p:nvSpPr>
        <p:spPr>
          <a:xfrm>
            <a:off x="523240" y="3319780"/>
            <a:ext cx="79756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00" b="1">
                <a:solidFill>
                  <a:srgbClr val="173650"/>
                </a:solidFill>
                <a:latin typeface="Microsoft YaHei" panose="020B0503020204020204" pitchFamily="34" charset="-122"/>
              </a:rPr>
              <a:t>价值兑现</a:t>
            </a:r>
          </a:p>
        </p:txBody>
      </p:sp>
      <p:sp>
        <p:nvSpPr>
          <p:cNvPr id="53" name="lab-val-s">
            <a:extLst>
              <a:ext uri="{FF2B5EF4-FFF2-40B4-BE49-F238E27FC236}">
                <a16:creationId xmlns:a16="http://schemas.microsoft.com/office/drawing/2014/main" id="{FD2A78B6-4D57-8926-EF91-520285CCD388}"/>
              </a:ext>
            </a:extLst>
          </p:cNvPr>
          <p:cNvSpPr txBox="1"/>
          <p:nvPr/>
        </p:nvSpPr>
        <p:spPr>
          <a:xfrm>
            <a:off x="523240" y="3522980"/>
            <a:ext cx="79756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75858D"/>
                </a:solidFill>
                <a:latin typeface="Microsoft YaHei" panose="020B0503020204020204" pitchFamily="34" charset="-122"/>
              </a:rPr>
              <a:t>能力建设与业务升级</a:t>
            </a:r>
          </a:p>
        </p:txBody>
      </p:sp>
      <p:sp>
        <p:nvSpPr>
          <p:cNvPr id="54" name="cell-d-old">
            <a:extLst>
              <a:ext uri="{FF2B5EF4-FFF2-40B4-BE49-F238E27FC236}">
                <a16:creationId xmlns:a16="http://schemas.microsoft.com/office/drawing/2014/main" id="{93A6EF83-5C4D-2853-8719-DB5FAB7E34EB}"/>
              </a:ext>
            </a:extLst>
          </p:cNvPr>
          <p:cNvSpPr/>
          <p:nvPr/>
        </p:nvSpPr>
        <p:spPr>
          <a:xfrm>
            <a:off x="1371600" y="2133600"/>
            <a:ext cx="4358640" cy="617220"/>
          </a:xfrm>
          <a:prstGeom prst="rect">
            <a:avLst/>
          </a:prstGeom>
          <a:solidFill>
            <a:srgbClr val="F1F3F3"/>
          </a:solidFill>
          <a:ln w="6350">
            <a:solidFill>
              <a:srgbClr val="CD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mod-d0">
            <a:extLst>
              <a:ext uri="{FF2B5EF4-FFF2-40B4-BE49-F238E27FC236}">
                <a16:creationId xmlns:a16="http://schemas.microsoft.com/office/drawing/2014/main" id="{601233E1-3406-A1CD-B292-D510A8FD7A18}"/>
              </a:ext>
            </a:extLst>
          </p:cNvPr>
          <p:cNvSpPr/>
          <p:nvPr/>
        </p:nvSpPr>
        <p:spPr>
          <a:xfrm>
            <a:off x="1447800" y="2260600"/>
            <a:ext cx="1359747" cy="373380"/>
          </a:xfrm>
          <a:prstGeom prst="rect">
            <a:avLst/>
          </a:prstGeom>
          <a:solidFill>
            <a:srgbClr val="E5E9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mod-d0-top">
            <a:extLst>
              <a:ext uri="{FF2B5EF4-FFF2-40B4-BE49-F238E27FC236}">
                <a16:creationId xmlns:a16="http://schemas.microsoft.com/office/drawing/2014/main" id="{3F19A7F0-E22B-3D9D-44D3-39788341EA61}"/>
              </a:ext>
            </a:extLst>
          </p:cNvPr>
          <p:cNvSpPr/>
          <p:nvPr/>
        </p:nvSpPr>
        <p:spPr>
          <a:xfrm>
            <a:off x="1447800" y="2260600"/>
            <a:ext cx="1359747" cy="25400"/>
          </a:xfrm>
          <a:prstGeom prst="rect">
            <a:avLst/>
          </a:prstGeom>
          <a:solidFill>
            <a:srgbClr val="B9796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mod-d0-t">
            <a:extLst>
              <a:ext uri="{FF2B5EF4-FFF2-40B4-BE49-F238E27FC236}">
                <a16:creationId xmlns:a16="http://schemas.microsoft.com/office/drawing/2014/main" id="{8DC6CFA2-62F1-17F4-29BE-72E14980C210}"/>
              </a:ext>
            </a:extLst>
          </p:cNvPr>
          <p:cNvSpPr txBox="1"/>
          <p:nvPr/>
        </p:nvSpPr>
        <p:spPr>
          <a:xfrm>
            <a:off x="1447800" y="2311400"/>
            <a:ext cx="1359747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700" b="1">
                <a:solidFill>
                  <a:srgbClr val="425B66"/>
                </a:solidFill>
                <a:latin typeface="Microsoft YaHei" panose="020B0503020204020204" pitchFamily="34" charset="-122"/>
              </a:rPr>
              <a:t>科组自选范围</a:t>
            </a:r>
          </a:p>
        </p:txBody>
      </p:sp>
      <p:sp>
        <p:nvSpPr>
          <p:cNvPr id="58" name="mod-d0-s">
            <a:extLst>
              <a:ext uri="{FF2B5EF4-FFF2-40B4-BE49-F238E27FC236}">
                <a16:creationId xmlns:a16="http://schemas.microsoft.com/office/drawing/2014/main" id="{563F63C5-1314-4964-AD2D-6E60C9DE4792}"/>
              </a:ext>
            </a:extLst>
          </p:cNvPr>
          <p:cNvSpPr txBox="1"/>
          <p:nvPr/>
        </p:nvSpPr>
        <p:spPr>
          <a:xfrm>
            <a:off x="1447800" y="2514600"/>
            <a:ext cx="135974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600">
                <a:solidFill>
                  <a:srgbClr val="75858D"/>
                </a:solidFill>
                <a:latin typeface="Microsoft YaHei" panose="020B0503020204020204" pitchFamily="34" charset="-122"/>
              </a:rPr>
              <a:t>各组自行圈定能力</a:t>
            </a:r>
          </a:p>
        </p:txBody>
      </p:sp>
      <p:sp>
        <p:nvSpPr>
          <p:cNvPr id="59" name="mod-d1">
            <a:extLst>
              <a:ext uri="{FF2B5EF4-FFF2-40B4-BE49-F238E27FC236}">
                <a16:creationId xmlns:a16="http://schemas.microsoft.com/office/drawing/2014/main" id="{A0270288-18F5-B058-02C1-F53E8977A290}"/>
              </a:ext>
            </a:extLst>
          </p:cNvPr>
          <p:cNvSpPr/>
          <p:nvPr/>
        </p:nvSpPr>
        <p:spPr>
          <a:xfrm>
            <a:off x="2871047" y="2260600"/>
            <a:ext cx="1359747" cy="373380"/>
          </a:xfrm>
          <a:prstGeom prst="rect">
            <a:avLst/>
          </a:prstGeom>
          <a:solidFill>
            <a:srgbClr val="E5E9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mod-d1-top">
            <a:extLst>
              <a:ext uri="{FF2B5EF4-FFF2-40B4-BE49-F238E27FC236}">
                <a16:creationId xmlns:a16="http://schemas.microsoft.com/office/drawing/2014/main" id="{406FF9AD-1BF4-E27C-12D9-3AD6F9FD0D7C}"/>
              </a:ext>
            </a:extLst>
          </p:cNvPr>
          <p:cNvSpPr/>
          <p:nvPr/>
        </p:nvSpPr>
        <p:spPr>
          <a:xfrm>
            <a:off x="2871047" y="2260600"/>
            <a:ext cx="1359747" cy="25400"/>
          </a:xfrm>
          <a:prstGeom prst="rect">
            <a:avLst/>
          </a:prstGeom>
          <a:solidFill>
            <a:srgbClr val="899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mod-d1-t">
            <a:extLst>
              <a:ext uri="{FF2B5EF4-FFF2-40B4-BE49-F238E27FC236}">
                <a16:creationId xmlns:a16="http://schemas.microsoft.com/office/drawing/2014/main" id="{09C0E160-34A0-1746-761D-FE73D1319872}"/>
              </a:ext>
            </a:extLst>
          </p:cNvPr>
          <p:cNvSpPr txBox="1"/>
          <p:nvPr/>
        </p:nvSpPr>
        <p:spPr>
          <a:xfrm>
            <a:off x="2871047" y="2311400"/>
            <a:ext cx="1359747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700" b="1">
                <a:solidFill>
                  <a:srgbClr val="425B66"/>
                </a:solidFill>
                <a:latin typeface="Microsoft YaHei" panose="020B0503020204020204" pitchFamily="34" charset="-122"/>
              </a:rPr>
              <a:t>目标自行选取</a:t>
            </a:r>
          </a:p>
        </p:txBody>
      </p:sp>
      <p:sp>
        <p:nvSpPr>
          <p:cNvPr id="62" name="mod-d1-s">
            <a:extLst>
              <a:ext uri="{FF2B5EF4-FFF2-40B4-BE49-F238E27FC236}">
                <a16:creationId xmlns:a16="http://schemas.microsoft.com/office/drawing/2014/main" id="{EE04A0F1-3CF8-2749-DDFA-917DB2E0BD28}"/>
              </a:ext>
            </a:extLst>
          </p:cNvPr>
          <p:cNvSpPr txBox="1"/>
          <p:nvPr/>
        </p:nvSpPr>
        <p:spPr>
          <a:xfrm>
            <a:off x="2871047" y="2514600"/>
            <a:ext cx="135974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600">
                <a:solidFill>
                  <a:srgbClr val="75858D"/>
                </a:solidFill>
                <a:latin typeface="Microsoft YaHei" panose="020B0503020204020204" pitchFamily="34" charset="-122"/>
              </a:rPr>
              <a:t>建设口径不一致</a:t>
            </a:r>
          </a:p>
        </p:txBody>
      </p:sp>
      <p:sp>
        <p:nvSpPr>
          <p:cNvPr id="63" name="mod-d2">
            <a:extLst>
              <a:ext uri="{FF2B5EF4-FFF2-40B4-BE49-F238E27FC236}">
                <a16:creationId xmlns:a16="http://schemas.microsoft.com/office/drawing/2014/main" id="{7AEB4D4E-9A62-74BC-D41C-E77E5A37C87B}"/>
              </a:ext>
            </a:extLst>
          </p:cNvPr>
          <p:cNvSpPr/>
          <p:nvPr/>
        </p:nvSpPr>
        <p:spPr>
          <a:xfrm>
            <a:off x="4294293" y="2260600"/>
            <a:ext cx="1359747" cy="373380"/>
          </a:xfrm>
          <a:prstGeom prst="rect">
            <a:avLst/>
          </a:prstGeom>
          <a:solidFill>
            <a:srgbClr val="E5E9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mod-d2-top">
            <a:extLst>
              <a:ext uri="{FF2B5EF4-FFF2-40B4-BE49-F238E27FC236}">
                <a16:creationId xmlns:a16="http://schemas.microsoft.com/office/drawing/2014/main" id="{C827B2CF-C781-5BD4-3F2C-E574EF8C1C05}"/>
              </a:ext>
            </a:extLst>
          </p:cNvPr>
          <p:cNvSpPr/>
          <p:nvPr/>
        </p:nvSpPr>
        <p:spPr>
          <a:xfrm>
            <a:off x="4294293" y="2260600"/>
            <a:ext cx="1359747" cy="25400"/>
          </a:xfrm>
          <a:prstGeom prst="rect">
            <a:avLst/>
          </a:prstGeom>
          <a:solidFill>
            <a:srgbClr val="B89A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mod-d2-t">
            <a:extLst>
              <a:ext uri="{FF2B5EF4-FFF2-40B4-BE49-F238E27FC236}">
                <a16:creationId xmlns:a16="http://schemas.microsoft.com/office/drawing/2014/main" id="{69FDBB51-5180-0AFB-0C2B-2D093CB573FE}"/>
              </a:ext>
            </a:extLst>
          </p:cNvPr>
          <p:cNvSpPr txBox="1"/>
          <p:nvPr/>
        </p:nvSpPr>
        <p:spPr>
          <a:xfrm>
            <a:off x="4294293" y="2311400"/>
            <a:ext cx="1359747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700" b="1">
                <a:solidFill>
                  <a:srgbClr val="425B66"/>
                </a:solidFill>
                <a:latin typeface="Microsoft YaHei" panose="020B0503020204020204" pitchFamily="34" charset="-122"/>
              </a:rPr>
              <a:t>结果无法对比</a:t>
            </a:r>
          </a:p>
        </p:txBody>
      </p:sp>
      <p:sp>
        <p:nvSpPr>
          <p:cNvPr id="66" name="mod-d2-s">
            <a:extLst>
              <a:ext uri="{FF2B5EF4-FFF2-40B4-BE49-F238E27FC236}">
                <a16:creationId xmlns:a16="http://schemas.microsoft.com/office/drawing/2014/main" id="{150262B2-6B03-9627-A0A7-75F320AD7E0A}"/>
              </a:ext>
            </a:extLst>
          </p:cNvPr>
          <p:cNvSpPr txBox="1"/>
          <p:nvPr/>
        </p:nvSpPr>
        <p:spPr>
          <a:xfrm>
            <a:off x="4294293" y="2514600"/>
            <a:ext cx="135974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600">
                <a:solidFill>
                  <a:srgbClr val="75858D"/>
                </a:solidFill>
                <a:latin typeface="Microsoft YaHei" panose="020B0503020204020204" pitchFamily="34" charset="-122"/>
              </a:rPr>
              <a:t>跨组织得分失去参照</a:t>
            </a:r>
          </a:p>
        </p:txBody>
      </p:sp>
      <p:sp>
        <p:nvSpPr>
          <p:cNvPr id="67" name="cell-d-new">
            <a:extLst>
              <a:ext uri="{FF2B5EF4-FFF2-40B4-BE49-F238E27FC236}">
                <a16:creationId xmlns:a16="http://schemas.microsoft.com/office/drawing/2014/main" id="{33E5EE5F-2833-1A10-0416-995311BA3058}"/>
              </a:ext>
            </a:extLst>
          </p:cNvPr>
          <p:cNvSpPr/>
          <p:nvPr/>
        </p:nvSpPr>
        <p:spPr>
          <a:xfrm>
            <a:off x="5730240" y="2133600"/>
            <a:ext cx="6050280" cy="6172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owner-flow">
            <a:extLst>
              <a:ext uri="{FF2B5EF4-FFF2-40B4-BE49-F238E27FC236}">
                <a16:creationId xmlns:a16="http://schemas.microsoft.com/office/drawing/2014/main" id="{CE7DF9DC-C536-583E-DE90-F82C41464AEE}"/>
              </a:ext>
            </a:extLst>
          </p:cNvPr>
          <p:cNvSpPr/>
          <p:nvPr/>
        </p:nvSpPr>
        <p:spPr>
          <a:xfrm>
            <a:off x="5781040" y="2209800"/>
            <a:ext cx="1796128" cy="487680"/>
          </a:xfrm>
          <a:prstGeom prst="rect">
            <a:avLst/>
          </a:prstGeom>
          <a:solidFill>
            <a:srgbClr val="E7F1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owner-flow-top">
            <a:extLst>
              <a:ext uri="{FF2B5EF4-FFF2-40B4-BE49-F238E27FC236}">
                <a16:creationId xmlns:a16="http://schemas.microsoft.com/office/drawing/2014/main" id="{AC559248-873A-4243-C982-42F98A7DA078}"/>
              </a:ext>
            </a:extLst>
          </p:cNvPr>
          <p:cNvSpPr/>
          <p:nvPr/>
        </p:nvSpPr>
        <p:spPr>
          <a:xfrm>
            <a:off x="5781040" y="2209800"/>
            <a:ext cx="1796128" cy="2540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owner-src">
            <a:extLst>
              <a:ext uri="{FF2B5EF4-FFF2-40B4-BE49-F238E27FC236}">
                <a16:creationId xmlns:a16="http://schemas.microsoft.com/office/drawing/2014/main" id="{0966E6F4-796E-657E-696D-672CD1A108AD}"/>
              </a:ext>
            </a:extLst>
          </p:cNvPr>
          <p:cNvSpPr txBox="1"/>
          <p:nvPr/>
        </p:nvSpPr>
        <p:spPr>
          <a:xfrm>
            <a:off x="5819140" y="2235200"/>
            <a:ext cx="1719928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能力 </a:t>
            </a:r>
            <a:r>
              <a:rPr lang="en-US" altLang="zh-CN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Owner</a:t>
            </a:r>
            <a:endParaRPr lang="zh-CN" altLang="en-US" sz="600" b="1">
              <a:solidFill>
                <a:srgbClr val="176B6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dim0">
            <a:extLst>
              <a:ext uri="{FF2B5EF4-FFF2-40B4-BE49-F238E27FC236}">
                <a16:creationId xmlns:a16="http://schemas.microsoft.com/office/drawing/2014/main" id="{5B1FC437-6804-55D9-80BC-F2FA59557B9D}"/>
              </a:ext>
            </a:extLst>
          </p:cNvPr>
          <p:cNvSpPr/>
          <p:nvPr/>
        </p:nvSpPr>
        <p:spPr>
          <a:xfrm>
            <a:off x="5831840" y="2400300"/>
            <a:ext cx="319856" cy="165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dim0-b">
            <a:extLst>
              <a:ext uri="{FF2B5EF4-FFF2-40B4-BE49-F238E27FC236}">
                <a16:creationId xmlns:a16="http://schemas.microsoft.com/office/drawing/2014/main" id="{30DBC579-47E6-7160-5C80-ABF64179FD85}"/>
              </a:ext>
            </a:extLst>
          </p:cNvPr>
          <p:cNvSpPr/>
          <p:nvPr/>
        </p:nvSpPr>
        <p:spPr>
          <a:xfrm>
            <a:off x="5831840" y="2540000"/>
            <a:ext cx="319856" cy="15240"/>
          </a:xfrm>
          <a:prstGeom prst="rect">
            <a:avLst/>
          </a:prstGeom>
          <a:solidFill>
            <a:srgbClr val="8298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dim0-t">
            <a:extLst>
              <a:ext uri="{FF2B5EF4-FFF2-40B4-BE49-F238E27FC236}">
                <a16:creationId xmlns:a16="http://schemas.microsoft.com/office/drawing/2014/main" id="{2F5B9B3B-9F89-A3CC-0068-7DFAF6A7FE2D}"/>
              </a:ext>
            </a:extLst>
          </p:cNvPr>
          <p:cNvSpPr txBox="1"/>
          <p:nvPr/>
        </p:nvSpPr>
        <p:spPr>
          <a:xfrm>
            <a:off x="5831840" y="2479808"/>
            <a:ext cx="319856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设计</a:t>
            </a:r>
          </a:p>
        </p:txBody>
      </p:sp>
      <p:sp>
        <p:nvSpPr>
          <p:cNvPr id="74" name="dim1">
            <a:extLst>
              <a:ext uri="{FF2B5EF4-FFF2-40B4-BE49-F238E27FC236}">
                <a16:creationId xmlns:a16="http://schemas.microsoft.com/office/drawing/2014/main" id="{ED08DC91-CDC7-5ABA-E2DC-9FF86CBE3DE9}"/>
              </a:ext>
            </a:extLst>
          </p:cNvPr>
          <p:cNvSpPr/>
          <p:nvPr/>
        </p:nvSpPr>
        <p:spPr>
          <a:xfrm>
            <a:off x="6170746" y="2400300"/>
            <a:ext cx="319855" cy="165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dim1-b">
            <a:extLst>
              <a:ext uri="{FF2B5EF4-FFF2-40B4-BE49-F238E27FC236}">
                <a16:creationId xmlns:a16="http://schemas.microsoft.com/office/drawing/2014/main" id="{782F2A61-885C-4F47-0CB5-FC263C753FBD}"/>
              </a:ext>
            </a:extLst>
          </p:cNvPr>
          <p:cNvSpPr/>
          <p:nvPr/>
        </p:nvSpPr>
        <p:spPr>
          <a:xfrm>
            <a:off x="6170746" y="2540000"/>
            <a:ext cx="319855" cy="1524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dim1-t">
            <a:extLst>
              <a:ext uri="{FF2B5EF4-FFF2-40B4-BE49-F238E27FC236}">
                <a16:creationId xmlns:a16="http://schemas.microsoft.com/office/drawing/2014/main" id="{579CB910-3166-2CC8-7E71-35AA9E46BB78}"/>
              </a:ext>
            </a:extLst>
          </p:cNvPr>
          <p:cNvSpPr txBox="1"/>
          <p:nvPr/>
        </p:nvSpPr>
        <p:spPr>
          <a:xfrm>
            <a:off x="6170746" y="2479808"/>
            <a:ext cx="319856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方案</a:t>
            </a:r>
          </a:p>
        </p:txBody>
      </p:sp>
      <p:sp>
        <p:nvSpPr>
          <p:cNvPr id="77" name="dim2">
            <a:extLst>
              <a:ext uri="{FF2B5EF4-FFF2-40B4-BE49-F238E27FC236}">
                <a16:creationId xmlns:a16="http://schemas.microsoft.com/office/drawing/2014/main" id="{89092EE3-843B-78F1-6B72-8B8439281B0F}"/>
              </a:ext>
            </a:extLst>
          </p:cNvPr>
          <p:cNvSpPr/>
          <p:nvPr/>
        </p:nvSpPr>
        <p:spPr>
          <a:xfrm>
            <a:off x="6509651" y="2400300"/>
            <a:ext cx="319856" cy="165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dim2-b">
            <a:extLst>
              <a:ext uri="{FF2B5EF4-FFF2-40B4-BE49-F238E27FC236}">
                <a16:creationId xmlns:a16="http://schemas.microsoft.com/office/drawing/2014/main" id="{48351B57-9966-068E-5B6D-5E52E19F8CE4}"/>
              </a:ext>
            </a:extLst>
          </p:cNvPr>
          <p:cNvSpPr/>
          <p:nvPr/>
        </p:nvSpPr>
        <p:spPr>
          <a:xfrm>
            <a:off x="6509651" y="2540000"/>
            <a:ext cx="319856" cy="15240"/>
          </a:xfrm>
          <a:prstGeom prst="rect">
            <a:avLst/>
          </a:prstGeom>
          <a:solidFill>
            <a:srgbClr val="8298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dim2-t">
            <a:extLst>
              <a:ext uri="{FF2B5EF4-FFF2-40B4-BE49-F238E27FC236}">
                <a16:creationId xmlns:a16="http://schemas.microsoft.com/office/drawing/2014/main" id="{76B3C190-C312-EDFB-9785-EEAFDC60E350}"/>
              </a:ext>
            </a:extLst>
          </p:cNvPr>
          <p:cNvSpPr txBox="1"/>
          <p:nvPr/>
        </p:nvSpPr>
        <p:spPr>
          <a:xfrm>
            <a:off x="6509651" y="2479808"/>
            <a:ext cx="319856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用例</a:t>
            </a:r>
          </a:p>
        </p:txBody>
      </p:sp>
      <p:sp>
        <p:nvSpPr>
          <p:cNvPr id="80" name="dim3">
            <a:extLst>
              <a:ext uri="{FF2B5EF4-FFF2-40B4-BE49-F238E27FC236}">
                <a16:creationId xmlns:a16="http://schemas.microsoft.com/office/drawing/2014/main" id="{8FE3285E-8909-FF0E-D893-C19D07C82E79}"/>
              </a:ext>
            </a:extLst>
          </p:cNvPr>
          <p:cNvSpPr/>
          <p:nvPr/>
        </p:nvSpPr>
        <p:spPr>
          <a:xfrm>
            <a:off x="6848556" y="2400300"/>
            <a:ext cx="319856" cy="165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dim3-b">
            <a:extLst>
              <a:ext uri="{FF2B5EF4-FFF2-40B4-BE49-F238E27FC236}">
                <a16:creationId xmlns:a16="http://schemas.microsoft.com/office/drawing/2014/main" id="{41E09390-8F14-6AA4-2744-6FA99C708A21}"/>
              </a:ext>
            </a:extLst>
          </p:cNvPr>
          <p:cNvSpPr/>
          <p:nvPr/>
        </p:nvSpPr>
        <p:spPr>
          <a:xfrm>
            <a:off x="6848556" y="2540000"/>
            <a:ext cx="319856" cy="15240"/>
          </a:xfrm>
          <a:prstGeom prst="rect">
            <a:avLst/>
          </a:prstGeom>
          <a:solidFill>
            <a:srgbClr val="8298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dim3-t">
            <a:extLst>
              <a:ext uri="{FF2B5EF4-FFF2-40B4-BE49-F238E27FC236}">
                <a16:creationId xmlns:a16="http://schemas.microsoft.com/office/drawing/2014/main" id="{395FB4BA-9660-DE15-F884-32649F58FDDB}"/>
              </a:ext>
            </a:extLst>
          </p:cNvPr>
          <p:cNvSpPr txBox="1"/>
          <p:nvPr/>
        </p:nvSpPr>
        <p:spPr>
          <a:xfrm>
            <a:off x="6848556" y="2479808"/>
            <a:ext cx="319856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83" name="dim4">
            <a:extLst>
              <a:ext uri="{FF2B5EF4-FFF2-40B4-BE49-F238E27FC236}">
                <a16:creationId xmlns:a16="http://schemas.microsoft.com/office/drawing/2014/main" id="{2778E1E6-DDEC-5FED-386A-40E1D2371B67}"/>
              </a:ext>
            </a:extLst>
          </p:cNvPr>
          <p:cNvSpPr/>
          <p:nvPr/>
        </p:nvSpPr>
        <p:spPr>
          <a:xfrm>
            <a:off x="7187462" y="2400300"/>
            <a:ext cx="319856" cy="165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dim4-b">
            <a:extLst>
              <a:ext uri="{FF2B5EF4-FFF2-40B4-BE49-F238E27FC236}">
                <a16:creationId xmlns:a16="http://schemas.microsoft.com/office/drawing/2014/main" id="{D271B869-C217-24BD-B21A-D80F6BDDFDB3}"/>
              </a:ext>
            </a:extLst>
          </p:cNvPr>
          <p:cNvSpPr/>
          <p:nvPr/>
        </p:nvSpPr>
        <p:spPr>
          <a:xfrm>
            <a:off x="7187462" y="2540000"/>
            <a:ext cx="319856" cy="1524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dim4-t">
            <a:extLst>
              <a:ext uri="{FF2B5EF4-FFF2-40B4-BE49-F238E27FC236}">
                <a16:creationId xmlns:a16="http://schemas.microsoft.com/office/drawing/2014/main" id="{2EDE99CA-5EED-052E-EC3C-1B23F030266A}"/>
              </a:ext>
            </a:extLst>
          </p:cNvPr>
          <p:cNvSpPr txBox="1"/>
          <p:nvPr/>
        </p:nvSpPr>
        <p:spPr>
          <a:xfrm>
            <a:off x="7187462" y="2525974"/>
            <a:ext cx="319856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自动化</a:t>
            </a:r>
          </a:p>
        </p:txBody>
      </p:sp>
      <p:sp>
        <p:nvSpPr>
          <p:cNvPr id="86" name="owner-teams">
            <a:extLst>
              <a:ext uri="{FF2B5EF4-FFF2-40B4-BE49-F238E27FC236}">
                <a16:creationId xmlns:a16="http://schemas.microsoft.com/office/drawing/2014/main" id="{EBEB25FE-45CA-D7A6-44E8-C2BB27084E07}"/>
              </a:ext>
            </a:extLst>
          </p:cNvPr>
          <p:cNvSpPr txBox="1"/>
          <p:nvPr/>
        </p:nvSpPr>
        <p:spPr>
          <a:xfrm>
            <a:off x="5819140" y="2590800"/>
            <a:ext cx="1719928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↓ 统一分发至各涉域科组</a:t>
            </a:r>
          </a:p>
        </p:txBody>
      </p:sp>
      <p:sp>
        <p:nvSpPr>
          <p:cNvPr id="87" name="domains-bg">
            <a:extLst>
              <a:ext uri="{FF2B5EF4-FFF2-40B4-BE49-F238E27FC236}">
                <a16:creationId xmlns:a16="http://schemas.microsoft.com/office/drawing/2014/main" id="{08C09905-65CB-3AE4-5A22-543749B505DC}"/>
              </a:ext>
            </a:extLst>
          </p:cNvPr>
          <p:cNvSpPr/>
          <p:nvPr/>
        </p:nvSpPr>
        <p:spPr>
          <a:xfrm>
            <a:off x="7627968" y="2235200"/>
            <a:ext cx="1923502" cy="464820"/>
          </a:xfrm>
          <a:prstGeom prst="rect">
            <a:avLst/>
          </a:prstGeom>
          <a:solidFill>
            <a:srgbClr val="EEF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domains-top">
            <a:extLst>
              <a:ext uri="{FF2B5EF4-FFF2-40B4-BE49-F238E27FC236}">
                <a16:creationId xmlns:a16="http://schemas.microsoft.com/office/drawing/2014/main" id="{F8B6224E-BFE2-48E7-0CFC-1FA2F9FCDA8E}"/>
              </a:ext>
            </a:extLst>
          </p:cNvPr>
          <p:cNvSpPr/>
          <p:nvPr/>
        </p:nvSpPr>
        <p:spPr>
          <a:xfrm>
            <a:off x="7627968" y="2235200"/>
            <a:ext cx="1923502" cy="25400"/>
          </a:xfrm>
          <a:prstGeom prst="rect">
            <a:avLst/>
          </a:prstGeom>
          <a:solidFill>
            <a:srgbClr val="8298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domains-cap">
            <a:extLst>
              <a:ext uri="{FF2B5EF4-FFF2-40B4-BE49-F238E27FC236}">
                <a16:creationId xmlns:a16="http://schemas.microsoft.com/office/drawing/2014/main" id="{7C15D23A-920A-FA50-06BB-B053C0A3946C}"/>
              </a:ext>
            </a:extLst>
          </p:cNvPr>
          <p:cNvSpPr txBox="1"/>
          <p:nvPr/>
        </p:nvSpPr>
        <p:spPr>
          <a:xfrm>
            <a:off x="7627968" y="2260600"/>
            <a:ext cx="1923502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600">
                <a:solidFill>
                  <a:srgbClr val="61747E"/>
                </a:solidFill>
                <a:latin typeface="Microsoft YaHei" panose="020B0503020204020204" pitchFamily="34" charset="-122"/>
              </a:rPr>
              <a:t>新增六大领域 </a:t>
            </a:r>
            <a:r>
              <a:rPr lang="en-US" altLang="zh-CN" sz="600">
                <a:solidFill>
                  <a:srgbClr val="61747E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600">
                <a:solidFill>
                  <a:srgbClr val="61747E"/>
                </a:solidFill>
                <a:latin typeface="Microsoft YaHei" panose="020B0503020204020204" pitchFamily="34" charset="-122"/>
              </a:rPr>
              <a:t>同域统一口径</a:t>
            </a:r>
          </a:p>
        </p:txBody>
      </p:sp>
      <p:sp>
        <p:nvSpPr>
          <p:cNvPr id="90" name="dom0">
            <a:extLst>
              <a:ext uri="{FF2B5EF4-FFF2-40B4-BE49-F238E27FC236}">
                <a16:creationId xmlns:a16="http://schemas.microsoft.com/office/drawing/2014/main" id="{CC20D0A4-2DD3-40D8-B688-8EAACC522B67}"/>
              </a:ext>
            </a:extLst>
          </p:cNvPr>
          <p:cNvSpPr/>
          <p:nvPr/>
        </p:nvSpPr>
        <p:spPr>
          <a:xfrm>
            <a:off x="7678768" y="2438400"/>
            <a:ext cx="278250" cy="228600"/>
          </a:xfrm>
          <a:prstGeom prst="rect">
            <a:avLst/>
          </a:prstGeom>
          <a:solidFill>
            <a:srgbClr val="D8EB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dom0-t">
            <a:extLst>
              <a:ext uri="{FF2B5EF4-FFF2-40B4-BE49-F238E27FC236}">
                <a16:creationId xmlns:a16="http://schemas.microsoft.com/office/drawing/2014/main" id="{5E29A3E5-64B7-2A8E-70B4-DC7C01C219A2}"/>
              </a:ext>
            </a:extLst>
          </p:cNvPr>
          <p:cNvSpPr txBox="1"/>
          <p:nvPr/>
        </p:nvSpPr>
        <p:spPr>
          <a:xfrm>
            <a:off x="7678768" y="2517908"/>
            <a:ext cx="27825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600" b="1">
                <a:solidFill>
                  <a:srgbClr val="31535A"/>
                </a:solidFill>
                <a:latin typeface="Microsoft YaHei" panose="020B0503020204020204" pitchFamily="34" charset="-122"/>
              </a:rPr>
              <a:t>软件</a:t>
            </a:r>
          </a:p>
        </p:txBody>
      </p:sp>
      <p:sp>
        <p:nvSpPr>
          <p:cNvPr id="92" name="dom1">
            <a:extLst>
              <a:ext uri="{FF2B5EF4-FFF2-40B4-BE49-F238E27FC236}">
                <a16:creationId xmlns:a16="http://schemas.microsoft.com/office/drawing/2014/main" id="{6DDD1885-68A1-1A85-C61E-54821B2F0CFB}"/>
              </a:ext>
            </a:extLst>
          </p:cNvPr>
          <p:cNvSpPr/>
          <p:nvPr/>
        </p:nvSpPr>
        <p:spPr>
          <a:xfrm>
            <a:off x="7982418" y="2438400"/>
            <a:ext cx="278251" cy="228600"/>
          </a:xfrm>
          <a:prstGeom prst="rect">
            <a:avLst/>
          </a:prstGeom>
          <a:solidFill>
            <a:srgbClr val="E7E3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dom1-t">
            <a:extLst>
              <a:ext uri="{FF2B5EF4-FFF2-40B4-BE49-F238E27FC236}">
                <a16:creationId xmlns:a16="http://schemas.microsoft.com/office/drawing/2014/main" id="{3E69247B-5FAC-93DB-DAAF-D078C890C372}"/>
              </a:ext>
            </a:extLst>
          </p:cNvPr>
          <p:cNvSpPr txBox="1"/>
          <p:nvPr/>
        </p:nvSpPr>
        <p:spPr>
          <a:xfrm>
            <a:off x="7982418" y="2517908"/>
            <a:ext cx="27825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600" b="1">
                <a:solidFill>
                  <a:srgbClr val="31535A"/>
                </a:solidFill>
                <a:latin typeface="Microsoft YaHei" panose="020B0503020204020204" pitchFamily="34" charset="-122"/>
              </a:rPr>
              <a:t>硬件</a:t>
            </a:r>
          </a:p>
        </p:txBody>
      </p:sp>
      <p:sp>
        <p:nvSpPr>
          <p:cNvPr id="94" name="dom2">
            <a:extLst>
              <a:ext uri="{FF2B5EF4-FFF2-40B4-BE49-F238E27FC236}">
                <a16:creationId xmlns:a16="http://schemas.microsoft.com/office/drawing/2014/main" id="{480C129E-4311-DE5F-CC4D-73FDC05E9E5E}"/>
              </a:ext>
            </a:extLst>
          </p:cNvPr>
          <p:cNvSpPr/>
          <p:nvPr/>
        </p:nvSpPr>
        <p:spPr>
          <a:xfrm>
            <a:off x="8286069" y="2438400"/>
            <a:ext cx="278250" cy="228600"/>
          </a:xfrm>
          <a:prstGeom prst="rect">
            <a:avLst/>
          </a:prstGeom>
          <a:solidFill>
            <a:srgbClr val="EFE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dom2-t">
            <a:extLst>
              <a:ext uri="{FF2B5EF4-FFF2-40B4-BE49-F238E27FC236}">
                <a16:creationId xmlns:a16="http://schemas.microsoft.com/office/drawing/2014/main" id="{60765929-1BB3-8741-58A3-489C2EF384C6}"/>
              </a:ext>
            </a:extLst>
          </p:cNvPr>
          <p:cNvSpPr txBox="1"/>
          <p:nvPr/>
        </p:nvSpPr>
        <p:spPr>
          <a:xfrm>
            <a:off x="8286069" y="2517908"/>
            <a:ext cx="27825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600" b="1">
                <a:solidFill>
                  <a:srgbClr val="31535A"/>
                </a:solidFill>
                <a:latin typeface="Microsoft YaHei" panose="020B0503020204020204" pitchFamily="34" charset="-122"/>
              </a:rPr>
              <a:t>机械</a:t>
            </a:r>
          </a:p>
        </p:txBody>
      </p:sp>
      <p:sp>
        <p:nvSpPr>
          <p:cNvPr id="96" name="dom3">
            <a:extLst>
              <a:ext uri="{FF2B5EF4-FFF2-40B4-BE49-F238E27FC236}">
                <a16:creationId xmlns:a16="http://schemas.microsoft.com/office/drawing/2014/main" id="{390C8B18-33BD-B8DE-5C44-FC16E41AD6A9}"/>
              </a:ext>
            </a:extLst>
          </p:cNvPr>
          <p:cNvSpPr/>
          <p:nvPr/>
        </p:nvSpPr>
        <p:spPr>
          <a:xfrm>
            <a:off x="8589718" y="2438400"/>
            <a:ext cx="278251" cy="228600"/>
          </a:xfrm>
          <a:prstGeom prst="rect">
            <a:avLst/>
          </a:prstGeom>
          <a:solidFill>
            <a:srgbClr val="DCE7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dom3-t">
            <a:extLst>
              <a:ext uri="{FF2B5EF4-FFF2-40B4-BE49-F238E27FC236}">
                <a16:creationId xmlns:a16="http://schemas.microsoft.com/office/drawing/2014/main" id="{E039F5B7-B633-3F4C-6F8B-D715E197410B}"/>
              </a:ext>
            </a:extLst>
          </p:cNvPr>
          <p:cNvSpPr txBox="1"/>
          <p:nvPr/>
        </p:nvSpPr>
        <p:spPr>
          <a:xfrm>
            <a:off x="8589718" y="2564074"/>
            <a:ext cx="27825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600" b="1">
                <a:solidFill>
                  <a:srgbClr val="31535A"/>
                </a:solidFill>
                <a:latin typeface="Microsoft YaHei" panose="020B0503020204020204" pitchFamily="34" charset="-122"/>
              </a:rPr>
              <a:t>EMC</a:t>
            </a:r>
            <a:endParaRPr lang="zh-CN" altLang="en-US" sz="600" b="1">
              <a:solidFill>
                <a:srgbClr val="3153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8" name="dom4">
            <a:extLst>
              <a:ext uri="{FF2B5EF4-FFF2-40B4-BE49-F238E27FC236}">
                <a16:creationId xmlns:a16="http://schemas.microsoft.com/office/drawing/2014/main" id="{8C0866AC-978D-28CD-3221-0B97544B9543}"/>
              </a:ext>
            </a:extLst>
          </p:cNvPr>
          <p:cNvSpPr/>
          <p:nvPr/>
        </p:nvSpPr>
        <p:spPr>
          <a:xfrm>
            <a:off x="8893369" y="2438400"/>
            <a:ext cx="278250" cy="228600"/>
          </a:xfrm>
          <a:prstGeom prst="rect">
            <a:avLst/>
          </a:prstGeom>
          <a:solidFill>
            <a:srgbClr val="ECDF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dom4-t">
            <a:extLst>
              <a:ext uri="{FF2B5EF4-FFF2-40B4-BE49-F238E27FC236}">
                <a16:creationId xmlns:a16="http://schemas.microsoft.com/office/drawing/2014/main" id="{429353C2-337B-5FFC-6805-E02F6AD59086}"/>
              </a:ext>
            </a:extLst>
          </p:cNvPr>
          <p:cNvSpPr txBox="1"/>
          <p:nvPr/>
        </p:nvSpPr>
        <p:spPr>
          <a:xfrm>
            <a:off x="8893369" y="2517908"/>
            <a:ext cx="27825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600" b="1">
                <a:solidFill>
                  <a:srgbClr val="31535A"/>
                </a:solidFill>
                <a:latin typeface="Microsoft YaHei" panose="020B0503020204020204" pitchFamily="34" charset="-122"/>
              </a:rPr>
              <a:t>合规</a:t>
            </a:r>
          </a:p>
        </p:txBody>
      </p:sp>
      <p:sp>
        <p:nvSpPr>
          <p:cNvPr id="100" name="dom5">
            <a:extLst>
              <a:ext uri="{FF2B5EF4-FFF2-40B4-BE49-F238E27FC236}">
                <a16:creationId xmlns:a16="http://schemas.microsoft.com/office/drawing/2014/main" id="{36EC43E2-9C15-84B4-5DC5-EDE5072E698D}"/>
              </a:ext>
            </a:extLst>
          </p:cNvPr>
          <p:cNvSpPr/>
          <p:nvPr/>
        </p:nvSpPr>
        <p:spPr>
          <a:xfrm>
            <a:off x="9197019" y="2438400"/>
            <a:ext cx="278251" cy="228600"/>
          </a:xfrm>
          <a:prstGeom prst="rect">
            <a:avLst/>
          </a:prstGeom>
          <a:solidFill>
            <a:srgbClr val="E2EB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dom5-t">
            <a:extLst>
              <a:ext uri="{FF2B5EF4-FFF2-40B4-BE49-F238E27FC236}">
                <a16:creationId xmlns:a16="http://schemas.microsoft.com/office/drawing/2014/main" id="{0CAB1484-E807-0D03-4FDE-1C879C0F18C5}"/>
              </a:ext>
            </a:extLst>
          </p:cNvPr>
          <p:cNvSpPr txBox="1"/>
          <p:nvPr/>
        </p:nvSpPr>
        <p:spPr>
          <a:xfrm>
            <a:off x="9197019" y="2517908"/>
            <a:ext cx="27825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600" b="1">
                <a:solidFill>
                  <a:srgbClr val="31535A"/>
                </a:solidFill>
                <a:latin typeface="Microsoft YaHei" panose="020B0503020204020204" pitchFamily="34" charset="-122"/>
              </a:rPr>
              <a:t>可靠性</a:t>
            </a:r>
          </a:p>
        </p:txBody>
      </p:sp>
      <p:sp>
        <p:nvSpPr>
          <p:cNvPr id="102" name="target-flow">
            <a:extLst>
              <a:ext uri="{FF2B5EF4-FFF2-40B4-BE49-F238E27FC236}">
                <a16:creationId xmlns:a16="http://schemas.microsoft.com/office/drawing/2014/main" id="{4D7851BC-86D5-ADE6-69A7-800C28959C1B}"/>
              </a:ext>
            </a:extLst>
          </p:cNvPr>
          <p:cNvSpPr/>
          <p:nvPr/>
        </p:nvSpPr>
        <p:spPr>
          <a:xfrm>
            <a:off x="9602270" y="2235200"/>
            <a:ext cx="2127450" cy="464820"/>
          </a:xfrm>
          <a:prstGeom prst="rect">
            <a:avLst/>
          </a:prstGeom>
          <a:solidFill>
            <a:srgbClr val="F2EE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target-top">
            <a:extLst>
              <a:ext uri="{FF2B5EF4-FFF2-40B4-BE49-F238E27FC236}">
                <a16:creationId xmlns:a16="http://schemas.microsoft.com/office/drawing/2014/main" id="{417360B6-F3F9-43DC-667D-5F8FD6CC27EF}"/>
              </a:ext>
            </a:extLst>
          </p:cNvPr>
          <p:cNvSpPr/>
          <p:nvPr/>
        </p:nvSpPr>
        <p:spPr>
          <a:xfrm>
            <a:off x="9602270" y="2235200"/>
            <a:ext cx="2127450" cy="25400"/>
          </a:xfrm>
          <a:prstGeom prst="rect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target-cap">
            <a:extLst>
              <a:ext uri="{FF2B5EF4-FFF2-40B4-BE49-F238E27FC236}">
                <a16:creationId xmlns:a16="http://schemas.microsoft.com/office/drawing/2014/main" id="{DBB1C7BD-33FE-49D0-B1BA-2DB4F8F0985C}"/>
              </a:ext>
            </a:extLst>
          </p:cNvPr>
          <p:cNvSpPr txBox="1"/>
          <p:nvPr/>
        </p:nvSpPr>
        <p:spPr>
          <a:xfrm>
            <a:off x="9602270" y="2247900"/>
            <a:ext cx="212745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600">
                <a:solidFill>
                  <a:srgbClr val="61747E"/>
                </a:solidFill>
                <a:latin typeface="Microsoft YaHei" panose="020B0503020204020204" pitchFamily="34" charset="-122"/>
              </a:rPr>
              <a:t>应用范围不同 </a:t>
            </a:r>
            <a:r>
              <a:rPr lang="en-US" altLang="zh-CN" sz="600">
                <a:solidFill>
                  <a:srgbClr val="61747E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600">
                <a:solidFill>
                  <a:srgbClr val="61747E"/>
                </a:solidFill>
                <a:latin typeface="Microsoft YaHei" panose="020B0503020204020204" pitchFamily="34" charset="-122"/>
              </a:rPr>
              <a:t>同一能力目标一致</a:t>
            </a:r>
          </a:p>
        </p:txBody>
      </p:sp>
      <p:sp>
        <p:nvSpPr>
          <p:cNvPr id="105" name="scene1">
            <a:extLst>
              <a:ext uri="{FF2B5EF4-FFF2-40B4-BE49-F238E27FC236}">
                <a16:creationId xmlns:a16="http://schemas.microsoft.com/office/drawing/2014/main" id="{75C3D61B-14E9-8EC7-96B1-782B2CE92610}"/>
              </a:ext>
            </a:extLst>
          </p:cNvPr>
          <p:cNvSpPr/>
          <p:nvPr/>
        </p:nvSpPr>
        <p:spPr>
          <a:xfrm>
            <a:off x="9640370" y="2413000"/>
            <a:ext cx="1000225" cy="279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scene1-tbar">
            <a:extLst>
              <a:ext uri="{FF2B5EF4-FFF2-40B4-BE49-F238E27FC236}">
                <a16:creationId xmlns:a16="http://schemas.microsoft.com/office/drawing/2014/main" id="{147B628B-2857-D10B-9AB1-099FBBFA035E}"/>
              </a:ext>
            </a:extLst>
          </p:cNvPr>
          <p:cNvSpPr/>
          <p:nvPr/>
        </p:nvSpPr>
        <p:spPr>
          <a:xfrm>
            <a:off x="9640370" y="2413000"/>
            <a:ext cx="1000225" cy="15240"/>
          </a:xfrm>
          <a:prstGeom prst="rect">
            <a:avLst/>
          </a:prstGeom>
          <a:solidFill>
            <a:srgbClr val="8298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scene1-t">
            <a:extLst>
              <a:ext uri="{FF2B5EF4-FFF2-40B4-BE49-F238E27FC236}">
                <a16:creationId xmlns:a16="http://schemas.microsoft.com/office/drawing/2014/main" id="{8277711E-6E5B-09D9-149A-CA8E92BE36E4}"/>
              </a:ext>
            </a:extLst>
          </p:cNvPr>
          <p:cNvSpPr txBox="1"/>
          <p:nvPr/>
        </p:nvSpPr>
        <p:spPr>
          <a:xfrm>
            <a:off x="9640370" y="2413000"/>
            <a:ext cx="1000225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294858"/>
                </a:solidFill>
                <a:latin typeface="Microsoft YaHei" panose="020B0503020204020204" pitchFamily="34" charset="-122"/>
              </a:rPr>
              <a:t>目标：试点</a:t>
            </a:r>
          </a:p>
        </p:txBody>
      </p:sp>
      <p:sp>
        <p:nvSpPr>
          <p:cNvPr id="108" name="scene1-g">
            <a:extLst>
              <a:ext uri="{FF2B5EF4-FFF2-40B4-BE49-F238E27FC236}">
                <a16:creationId xmlns:a16="http://schemas.microsoft.com/office/drawing/2014/main" id="{39753902-2DCB-E7B7-A78A-BA5570616F07}"/>
              </a:ext>
            </a:extLst>
          </p:cNvPr>
          <p:cNvSpPr txBox="1"/>
          <p:nvPr/>
        </p:nvSpPr>
        <p:spPr>
          <a:xfrm>
            <a:off x="9640370" y="2540000"/>
            <a:ext cx="1000225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各科组 </a:t>
            </a:r>
            <a:r>
              <a:rPr lang="en-US" altLang="zh-CN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3.0 · </a:t>
            </a:r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部分项目</a:t>
            </a:r>
          </a:p>
        </p:txBody>
      </p:sp>
      <p:sp>
        <p:nvSpPr>
          <p:cNvPr id="109" name="scene2">
            <a:extLst>
              <a:ext uri="{FF2B5EF4-FFF2-40B4-BE49-F238E27FC236}">
                <a16:creationId xmlns:a16="http://schemas.microsoft.com/office/drawing/2014/main" id="{2ABBA9FB-4BBB-E44B-9F66-61D19D168BDD}"/>
              </a:ext>
            </a:extLst>
          </p:cNvPr>
          <p:cNvSpPr/>
          <p:nvPr/>
        </p:nvSpPr>
        <p:spPr>
          <a:xfrm>
            <a:off x="10678695" y="2413000"/>
            <a:ext cx="1000225" cy="279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scene2-tbar">
            <a:extLst>
              <a:ext uri="{FF2B5EF4-FFF2-40B4-BE49-F238E27FC236}">
                <a16:creationId xmlns:a16="http://schemas.microsoft.com/office/drawing/2014/main" id="{F8F898B0-8F31-9E68-7093-B026A77D84C5}"/>
              </a:ext>
            </a:extLst>
          </p:cNvPr>
          <p:cNvSpPr/>
          <p:nvPr/>
        </p:nvSpPr>
        <p:spPr>
          <a:xfrm>
            <a:off x="10678695" y="2413000"/>
            <a:ext cx="1000225" cy="1524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scene2-t">
            <a:extLst>
              <a:ext uri="{FF2B5EF4-FFF2-40B4-BE49-F238E27FC236}">
                <a16:creationId xmlns:a16="http://schemas.microsoft.com/office/drawing/2014/main" id="{3781AD29-E714-09BB-134B-30E9133728EC}"/>
              </a:ext>
            </a:extLst>
          </p:cNvPr>
          <p:cNvSpPr txBox="1"/>
          <p:nvPr/>
        </p:nvSpPr>
        <p:spPr>
          <a:xfrm>
            <a:off x="10678695" y="2413000"/>
            <a:ext cx="1000225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294858"/>
                </a:solidFill>
                <a:latin typeface="Microsoft YaHei" panose="020B0503020204020204" pitchFamily="34" charset="-122"/>
              </a:rPr>
              <a:t>目标：全面落地</a:t>
            </a:r>
          </a:p>
        </p:txBody>
      </p:sp>
      <p:sp>
        <p:nvSpPr>
          <p:cNvPr id="112" name="scene2-g">
            <a:extLst>
              <a:ext uri="{FF2B5EF4-FFF2-40B4-BE49-F238E27FC236}">
                <a16:creationId xmlns:a16="http://schemas.microsoft.com/office/drawing/2014/main" id="{3ABA5313-3B98-E32B-D2AF-A6A59CA619F0}"/>
              </a:ext>
            </a:extLst>
          </p:cNvPr>
          <p:cNvSpPr txBox="1"/>
          <p:nvPr/>
        </p:nvSpPr>
        <p:spPr>
          <a:xfrm>
            <a:off x="10678695" y="2540000"/>
            <a:ext cx="1000225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各科组 </a:t>
            </a:r>
            <a:r>
              <a:rPr lang="en-US" altLang="zh-CN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3.0 · </a:t>
            </a:r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所有项目</a:t>
            </a:r>
          </a:p>
        </p:txBody>
      </p:sp>
      <p:sp>
        <p:nvSpPr>
          <p:cNvPr id="113" name="p1m0">
            <a:extLst>
              <a:ext uri="{FF2B5EF4-FFF2-40B4-BE49-F238E27FC236}">
                <a16:creationId xmlns:a16="http://schemas.microsoft.com/office/drawing/2014/main" id="{7C996EAA-7D50-6DA2-4240-832C7752F49D}"/>
              </a:ext>
            </a:extLst>
          </p:cNvPr>
          <p:cNvSpPr/>
          <p:nvPr/>
        </p:nvSpPr>
        <p:spPr>
          <a:xfrm>
            <a:off x="9703870" y="2667000"/>
            <a:ext cx="76200" cy="38100"/>
          </a:xfrm>
          <a:prstGeom prst="rect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p2m0">
            <a:extLst>
              <a:ext uri="{FF2B5EF4-FFF2-40B4-BE49-F238E27FC236}">
                <a16:creationId xmlns:a16="http://schemas.microsoft.com/office/drawing/2014/main" id="{5E0B48AE-174F-25E6-3761-2C0D35222C81}"/>
              </a:ext>
            </a:extLst>
          </p:cNvPr>
          <p:cNvSpPr/>
          <p:nvPr/>
        </p:nvSpPr>
        <p:spPr>
          <a:xfrm>
            <a:off x="10704095" y="2667000"/>
            <a:ext cx="76200" cy="38100"/>
          </a:xfrm>
          <a:prstGeom prst="rect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p1m1">
            <a:extLst>
              <a:ext uri="{FF2B5EF4-FFF2-40B4-BE49-F238E27FC236}">
                <a16:creationId xmlns:a16="http://schemas.microsoft.com/office/drawing/2014/main" id="{245EE7D7-E00B-14AA-D100-54A51901F2DF}"/>
              </a:ext>
            </a:extLst>
          </p:cNvPr>
          <p:cNvSpPr/>
          <p:nvPr/>
        </p:nvSpPr>
        <p:spPr>
          <a:xfrm>
            <a:off x="9805470" y="2667000"/>
            <a:ext cx="76200" cy="38100"/>
          </a:xfrm>
          <a:prstGeom prst="rect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p2m1">
            <a:extLst>
              <a:ext uri="{FF2B5EF4-FFF2-40B4-BE49-F238E27FC236}">
                <a16:creationId xmlns:a16="http://schemas.microsoft.com/office/drawing/2014/main" id="{1DD96A0A-3361-6FC9-A067-9D351626435A}"/>
              </a:ext>
            </a:extLst>
          </p:cNvPr>
          <p:cNvSpPr/>
          <p:nvPr/>
        </p:nvSpPr>
        <p:spPr>
          <a:xfrm>
            <a:off x="10805695" y="2667000"/>
            <a:ext cx="76200" cy="38100"/>
          </a:xfrm>
          <a:prstGeom prst="rect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p1m2">
            <a:extLst>
              <a:ext uri="{FF2B5EF4-FFF2-40B4-BE49-F238E27FC236}">
                <a16:creationId xmlns:a16="http://schemas.microsoft.com/office/drawing/2014/main" id="{A67AB558-CBF3-77DF-75D0-04009F26ACED}"/>
              </a:ext>
            </a:extLst>
          </p:cNvPr>
          <p:cNvSpPr/>
          <p:nvPr/>
        </p:nvSpPr>
        <p:spPr>
          <a:xfrm>
            <a:off x="9907070" y="2667000"/>
            <a:ext cx="76200" cy="38100"/>
          </a:xfrm>
          <a:prstGeom prst="rect">
            <a:avLst/>
          </a:prstGeom>
          <a:solidFill>
            <a:srgbClr val="D5DC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p2m2">
            <a:extLst>
              <a:ext uri="{FF2B5EF4-FFF2-40B4-BE49-F238E27FC236}">
                <a16:creationId xmlns:a16="http://schemas.microsoft.com/office/drawing/2014/main" id="{397FE501-2633-F737-69ED-31500A7513C7}"/>
              </a:ext>
            </a:extLst>
          </p:cNvPr>
          <p:cNvSpPr/>
          <p:nvPr/>
        </p:nvSpPr>
        <p:spPr>
          <a:xfrm>
            <a:off x="10907295" y="2667000"/>
            <a:ext cx="76200" cy="38100"/>
          </a:xfrm>
          <a:prstGeom prst="rect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p1m3">
            <a:extLst>
              <a:ext uri="{FF2B5EF4-FFF2-40B4-BE49-F238E27FC236}">
                <a16:creationId xmlns:a16="http://schemas.microsoft.com/office/drawing/2014/main" id="{AEFAE446-7A61-DE54-28F3-7138CF9455A4}"/>
              </a:ext>
            </a:extLst>
          </p:cNvPr>
          <p:cNvSpPr/>
          <p:nvPr/>
        </p:nvSpPr>
        <p:spPr>
          <a:xfrm>
            <a:off x="10008670" y="2667000"/>
            <a:ext cx="76200" cy="38100"/>
          </a:xfrm>
          <a:prstGeom prst="rect">
            <a:avLst/>
          </a:prstGeom>
          <a:solidFill>
            <a:srgbClr val="D5DC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p2m3">
            <a:extLst>
              <a:ext uri="{FF2B5EF4-FFF2-40B4-BE49-F238E27FC236}">
                <a16:creationId xmlns:a16="http://schemas.microsoft.com/office/drawing/2014/main" id="{F88A9120-1196-2F3D-DA74-793703AEFF40}"/>
              </a:ext>
            </a:extLst>
          </p:cNvPr>
          <p:cNvSpPr/>
          <p:nvPr/>
        </p:nvSpPr>
        <p:spPr>
          <a:xfrm>
            <a:off x="11008895" y="2667000"/>
            <a:ext cx="76200" cy="38100"/>
          </a:xfrm>
          <a:prstGeom prst="rect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cell-o-old">
            <a:extLst>
              <a:ext uri="{FF2B5EF4-FFF2-40B4-BE49-F238E27FC236}">
                <a16:creationId xmlns:a16="http://schemas.microsoft.com/office/drawing/2014/main" id="{93F200F6-A271-FAF8-C916-C758B2BA2EDE}"/>
              </a:ext>
            </a:extLst>
          </p:cNvPr>
          <p:cNvSpPr/>
          <p:nvPr/>
        </p:nvSpPr>
        <p:spPr>
          <a:xfrm>
            <a:off x="1371600" y="2750820"/>
            <a:ext cx="4358640" cy="518160"/>
          </a:xfrm>
          <a:prstGeom prst="rect">
            <a:avLst/>
          </a:prstGeom>
          <a:solidFill>
            <a:srgbClr val="F1F3F3"/>
          </a:solidFill>
          <a:ln w="6350">
            <a:solidFill>
              <a:srgbClr val="CD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op-old0">
            <a:extLst>
              <a:ext uri="{FF2B5EF4-FFF2-40B4-BE49-F238E27FC236}">
                <a16:creationId xmlns:a16="http://schemas.microsoft.com/office/drawing/2014/main" id="{2DE26820-6989-C569-1988-D3BC9BA42067}"/>
              </a:ext>
            </a:extLst>
          </p:cNvPr>
          <p:cNvSpPr/>
          <p:nvPr/>
        </p:nvSpPr>
        <p:spPr>
          <a:xfrm>
            <a:off x="1435100" y="2827020"/>
            <a:ext cx="1359747" cy="342900"/>
          </a:xfrm>
          <a:prstGeom prst="rect">
            <a:avLst/>
          </a:prstGeom>
          <a:solidFill>
            <a:srgbClr val="E5E9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op-old0-ico">
            <a:extLst>
              <a:ext uri="{FF2B5EF4-FFF2-40B4-BE49-F238E27FC236}">
                <a16:creationId xmlns:a16="http://schemas.microsoft.com/office/drawing/2014/main" id="{2E4E52F2-EA2F-4D26-8F65-C5D51996A977}"/>
              </a:ext>
            </a:extLst>
          </p:cNvPr>
          <p:cNvSpPr/>
          <p:nvPr/>
        </p:nvSpPr>
        <p:spPr>
          <a:xfrm>
            <a:off x="1485900" y="2928620"/>
            <a:ext cx="177800" cy="177800"/>
          </a:xfrm>
          <a:prstGeom prst="ellipse">
            <a:avLst/>
          </a:prstGeom>
          <a:solidFill>
            <a:srgbClr val="879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op-old0-t">
            <a:extLst>
              <a:ext uri="{FF2B5EF4-FFF2-40B4-BE49-F238E27FC236}">
                <a16:creationId xmlns:a16="http://schemas.microsoft.com/office/drawing/2014/main" id="{CEA2B9D8-7CA2-DCFC-5ACF-28804D0C4BE9}"/>
              </a:ext>
            </a:extLst>
          </p:cNvPr>
          <p:cNvSpPr txBox="1"/>
          <p:nvPr/>
        </p:nvSpPr>
        <p:spPr>
          <a:xfrm>
            <a:off x="1689100" y="2852420"/>
            <a:ext cx="108034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405863"/>
                </a:solidFill>
                <a:latin typeface="Microsoft YaHei" panose="020B0503020204020204" pitchFamily="34" charset="-122"/>
              </a:rPr>
              <a:t>季度跟踪</a:t>
            </a:r>
          </a:p>
        </p:txBody>
      </p:sp>
      <p:sp>
        <p:nvSpPr>
          <p:cNvPr id="125" name="op-old0-s">
            <a:extLst>
              <a:ext uri="{FF2B5EF4-FFF2-40B4-BE49-F238E27FC236}">
                <a16:creationId xmlns:a16="http://schemas.microsoft.com/office/drawing/2014/main" id="{D2C7F117-3D02-1A7F-5897-B767F868EEA5}"/>
              </a:ext>
            </a:extLst>
          </p:cNvPr>
          <p:cNvSpPr txBox="1"/>
          <p:nvPr/>
        </p:nvSpPr>
        <p:spPr>
          <a:xfrm>
            <a:off x="1689100" y="3030220"/>
            <a:ext cx="108034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过程状态更新不及时</a:t>
            </a:r>
          </a:p>
        </p:txBody>
      </p:sp>
      <p:sp>
        <p:nvSpPr>
          <p:cNvPr id="126" name="op-old1">
            <a:extLst>
              <a:ext uri="{FF2B5EF4-FFF2-40B4-BE49-F238E27FC236}">
                <a16:creationId xmlns:a16="http://schemas.microsoft.com/office/drawing/2014/main" id="{5E429B39-9402-7999-0747-637FAF8BC42D}"/>
              </a:ext>
            </a:extLst>
          </p:cNvPr>
          <p:cNvSpPr/>
          <p:nvPr/>
        </p:nvSpPr>
        <p:spPr>
          <a:xfrm>
            <a:off x="2858347" y="2827020"/>
            <a:ext cx="1359747" cy="342900"/>
          </a:xfrm>
          <a:prstGeom prst="rect">
            <a:avLst/>
          </a:prstGeom>
          <a:solidFill>
            <a:srgbClr val="E5E9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op-old1-ico">
            <a:extLst>
              <a:ext uri="{FF2B5EF4-FFF2-40B4-BE49-F238E27FC236}">
                <a16:creationId xmlns:a16="http://schemas.microsoft.com/office/drawing/2014/main" id="{F47A38CB-840B-7FDC-F0AF-852462037285}"/>
              </a:ext>
            </a:extLst>
          </p:cNvPr>
          <p:cNvSpPr/>
          <p:nvPr/>
        </p:nvSpPr>
        <p:spPr>
          <a:xfrm>
            <a:off x="2909147" y="2928620"/>
            <a:ext cx="177800" cy="177800"/>
          </a:xfrm>
          <a:prstGeom prst="ellipse">
            <a:avLst/>
          </a:prstGeom>
          <a:solidFill>
            <a:srgbClr val="879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op-old1-t">
            <a:extLst>
              <a:ext uri="{FF2B5EF4-FFF2-40B4-BE49-F238E27FC236}">
                <a16:creationId xmlns:a16="http://schemas.microsoft.com/office/drawing/2014/main" id="{58209477-F8B0-080C-8608-4DC7C65AD013}"/>
              </a:ext>
            </a:extLst>
          </p:cNvPr>
          <p:cNvSpPr txBox="1"/>
          <p:nvPr/>
        </p:nvSpPr>
        <p:spPr>
          <a:xfrm>
            <a:off x="3112347" y="2852420"/>
            <a:ext cx="108034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405863"/>
                </a:solidFill>
                <a:latin typeface="Microsoft YaHei" panose="020B0503020204020204" pitchFamily="34" charset="-122"/>
              </a:rPr>
              <a:t>年底集中验收</a:t>
            </a:r>
          </a:p>
        </p:txBody>
      </p:sp>
      <p:sp>
        <p:nvSpPr>
          <p:cNvPr id="129" name="op-old1-s">
            <a:extLst>
              <a:ext uri="{FF2B5EF4-FFF2-40B4-BE49-F238E27FC236}">
                <a16:creationId xmlns:a16="http://schemas.microsoft.com/office/drawing/2014/main" id="{12988564-EFC8-70BD-7896-CC8CC92068C7}"/>
              </a:ext>
            </a:extLst>
          </p:cNvPr>
          <p:cNvSpPr txBox="1"/>
          <p:nvPr/>
        </p:nvSpPr>
        <p:spPr>
          <a:xfrm>
            <a:off x="3112347" y="3030220"/>
            <a:ext cx="108034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问题发现与纠偏滞后</a:t>
            </a:r>
          </a:p>
        </p:txBody>
      </p:sp>
      <p:sp>
        <p:nvSpPr>
          <p:cNvPr id="130" name="op-old2">
            <a:extLst>
              <a:ext uri="{FF2B5EF4-FFF2-40B4-BE49-F238E27FC236}">
                <a16:creationId xmlns:a16="http://schemas.microsoft.com/office/drawing/2014/main" id="{A4729304-608E-37DD-C93D-B350E3CB7C62}"/>
              </a:ext>
            </a:extLst>
          </p:cNvPr>
          <p:cNvSpPr/>
          <p:nvPr/>
        </p:nvSpPr>
        <p:spPr>
          <a:xfrm>
            <a:off x="4281593" y="2827020"/>
            <a:ext cx="1359747" cy="342900"/>
          </a:xfrm>
          <a:prstGeom prst="rect">
            <a:avLst/>
          </a:prstGeom>
          <a:solidFill>
            <a:srgbClr val="E5E9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op-old2-ico">
            <a:extLst>
              <a:ext uri="{FF2B5EF4-FFF2-40B4-BE49-F238E27FC236}">
                <a16:creationId xmlns:a16="http://schemas.microsoft.com/office/drawing/2014/main" id="{D43CDCC7-41E4-CD1C-2889-3F66A5B08840}"/>
              </a:ext>
            </a:extLst>
          </p:cNvPr>
          <p:cNvSpPr/>
          <p:nvPr/>
        </p:nvSpPr>
        <p:spPr>
          <a:xfrm>
            <a:off x="4332393" y="2928620"/>
            <a:ext cx="177800" cy="177800"/>
          </a:xfrm>
          <a:prstGeom prst="ellipse">
            <a:avLst/>
          </a:prstGeom>
          <a:solidFill>
            <a:srgbClr val="879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op-old2-t">
            <a:extLst>
              <a:ext uri="{FF2B5EF4-FFF2-40B4-BE49-F238E27FC236}">
                <a16:creationId xmlns:a16="http://schemas.microsoft.com/office/drawing/2014/main" id="{CE9AF6D1-9DA6-2424-BC4E-9D573E9B22C9}"/>
              </a:ext>
            </a:extLst>
          </p:cNvPr>
          <p:cNvSpPr txBox="1"/>
          <p:nvPr/>
        </p:nvSpPr>
        <p:spPr>
          <a:xfrm>
            <a:off x="4535593" y="2852420"/>
            <a:ext cx="108034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405863"/>
                </a:solidFill>
                <a:latin typeface="Microsoft YaHei" panose="020B0503020204020204" pitchFamily="34" charset="-122"/>
              </a:rPr>
              <a:t>偏重进度管理</a:t>
            </a:r>
          </a:p>
        </p:txBody>
      </p:sp>
      <p:sp>
        <p:nvSpPr>
          <p:cNvPr id="133" name="op-old2-s">
            <a:extLst>
              <a:ext uri="{FF2B5EF4-FFF2-40B4-BE49-F238E27FC236}">
                <a16:creationId xmlns:a16="http://schemas.microsoft.com/office/drawing/2014/main" id="{E6B64D1C-B303-F19F-D3D0-5C3CFCB6E500}"/>
              </a:ext>
            </a:extLst>
          </p:cNvPr>
          <p:cNvSpPr txBox="1"/>
          <p:nvPr/>
        </p:nvSpPr>
        <p:spPr>
          <a:xfrm>
            <a:off x="4535593" y="3030220"/>
            <a:ext cx="108034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看进度多、落地辅导少</a:t>
            </a:r>
          </a:p>
        </p:txBody>
      </p:sp>
      <p:sp>
        <p:nvSpPr>
          <p:cNvPr id="134" name="cell-o-new">
            <a:extLst>
              <a:ext uri="{FF2B5EF4-FFF2-40B4-BE49-F238E27FC236}">
                <a16:creationId xmlns:a16="http://schemas.microsoft.com/office/drawing/2014/main" id="{6E0A468E-7BFB-B408-F6AA-7F401D6DD972}"/>
              </a:ext>
            </a:extLst>
          </p:cNvPr>
          <p:cNvSpPr/>
          <p:nvPr/>
        </p:nvSpPr>
        <p:spPr>
          <a:xfrm>
            <a:off x="5730240" y="2750820"/>
            <a:ext cx="6050280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op-new0">
            <a:extLst>
              <a:ext uri="{FF2B5EF4-FFF2-40B4-BE49-F238E27FC236}">
                <a16:creationId xmlns:a16="http://schemas.microsoft.com/office/drawing/2014/main" id="{BB461D32-6882-ABC6-9EE2-A68291BB0654}"/>
              </a:ext>
            </a:extLst>
          </p:cNvPr>
          <p:cNvSpPr/>
          <p:nvPr/>
        </p:nvSpPr>
        <p:spPr>
          <a:xfrm>
            <a:off x="5793740" y="2827020"/>
            <a:ext cx="1923627" cy="342900"/>
          </a:xfrm>
          <a:prstGeom prst="rect">
            <a:avLst/>
          </a:prstGeom>
          <a:solidFill>
            <a:srgbClr val="E7F1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op-new0-ico">
            <a:extLst>
              <a:ext uri="{FF2B5EF4-FFF2-40B4-BE49-F238E27FC236}">
                <a16:creationId xmlns:a16="http://schemas.microsoft.com/office/drawing/2014/main" id="{7D1B99D1-80CB-16F7-56BE-780010655756}"/>
              </a:ext>
            </a:extLst>
          </p:cNvPr>
          <p:cNvSpPr/>
          <p:nvPr/>
        </p:nvSpPr>
        <p:spPr>
          <a:xfrm>
            <a:off x="5844540" y="2928620"/>
            <a:ext cx="177800" cy="177800"/>
          </a:xfrm>
          <a:prstGeom prst="ellipse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◎</a:t>
            </a:r>
          </a:p>
        </p:txBody>
      </p:sp>
      <p:sp>
        <p:nvSpPr>
          <p:cNvPr id="137" name="op-new0-t">
            <a:extLst>
              <a:ext uri="{FF2B5EF4-FFF2-40B4-BE49-F238E27FC236}">
                <a16:creationId xmlns:a16="http://schemas.microsoft.com/office/drawing/2014/main" id="{00D728F5-8603-7132-71D9-C8958039CA03}"/>
              </a:ext>
            </a:extLst>
          </p:cNvPr>
          <p:cNvSpPr txBox="1"/>
          <p:nvPr/>
        </p:nvSpPr>
        <p:spPr>
          <a:xfrm>
            <a:off x="6047740" y="2852420"/>
            <a:ext cx="164422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实时跟踪</a:t>
            </a:r>
          </a:p>
        </p:txBody>
      </p:sp>
      <p:sp>
        <p:nvSpPr>
          <p:cNvPr id="138" name="op-new0-s">
            <a:extLst>
              <a:ext uri="{FF2B5EF4-FFF2-40B4-BE49-F238E27FC236}">
                <a16:creationId xmlns:a16="http://schemas.microsoft.com/office/drawing/2014/main" id="{471BB1DE-045C-E864-FEC2-EF8E1803B55A}"/>
              </a:ext>
            </a:extLst>
          </p:cNvPr>
          <p:cNvSpPr txBox="1"/>
          <p:nvPr/>
        </p:nvSpPr>
        <p:spPr>
          <a:xfrm>
            <a:off x="6047740" y="3030220"/>
            <a:ext cx="164422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目标、进度、差距持续可见</a:t>
            </a:r>
          </a:p>
        </p:txBody>
      </p:sp>
      <p:sp>
        <p:nvSpPr>
          <p:cNvPr id="139" name="op-new1">
            <a:extLst>
              <a:ext uri="{FF2B5EF4-FFF2-40B4-BE49-F238E27FC236}">
                <a16:creationId xmlns:a16="http://schemas.microsoft.com/office/drawing/2014/main" id="{CE80861E-5B5A-DB29-949F-18A9F8D4397D}"/>
              </a:ext>
            </a:extLst>
          </p:cNvPr>
          <p:cNvSpPr/>
          <p:nvPr/>
        </p:nvSpPr>
        <p:spPr>
          <a:xfrm>
            <a:off x="7780867" y="2827020"/>
            <a:ext cx="1923627" cy="342900"/>
          </a:xfrm>
          <a:prstGeom prst="rect">
            <a:avLst/>
          </a:prstGeom>
          <a:solidFill>
            <a:srgbClr val="E7F1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op-new1-ico">
            <a:extLst>
              <a:ext uri="{FF2B5EF4-FFF2-40B4-BE49-F238E27FC236}">
                <a16:creationId xmlns:a16="http://schemas.microsoft.com/office/drawing/2014/main" id="{05261DFA-1B27-6ADB-EE09-DFDC23F24AA5}"/>
              </a:ext>
            </a:extLst>
          </p:cNvPr>
          <p:cNvSpPr/>
          <p:nvPr/>
        </p:nvSpPr>
        <p:spPr>
          <a:xfrm>
            <a:off x="7831667" y="2928620"/>
            <a:ext cx="177800" cy="177800"/>
          </a:xfrm>
          <a:prstGeom prst="ellipse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✓</a:t>
            </a:r>
          </a:p>
        </p:txBody>
      </p:sp>
      <p:sp>
        <p:nvSpPr>
          <p:cNvPr id="141" name="op-new1-t">
            <a:extLst>
              <a:ext uri="{FF2B5EF4-FFF2-40B4-BE49-F238E27FC236}">
                <a16:creationId xmlns:a16="http://schemas.microsoft.com/office/drawing/2014/main" id="{BF700F3F-302F-39C9-DEAD-87D13AD79DDB}"/>
              </a:ext>
            </a:extLst>
          </p:cNvPr>
          <p:cNvSpPr txBox="1"/>
          <p:nvPr/>
        </p:nvSpPr>
        <p:spPr>
          <a:xfrm>
            <a:off x="8034867" y="2852420"/>
            <a:ext cx="164422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达成即验收</a:t>
            </a:r>
          </a:p>
        </p:txBody>
      </p:sp>
      <p:sp>
        <p:nvSpPr>
          <p:cNvPr id="142" name="op-new1-s">
            <a:extLst>
              <a:ext uri="{FF2B5EF4-FFF2-40B4-BE49-F238E27FC236}">
                <a16:creationId xmlns:a16="http://schemas.microsoft.com/office/drawing/2014/main" id="{068A9849-519E-898E-F7CE-0964765FA9BF}"/>
              </a:ext>
            </a:extLst>
          </p:cNvPr>
          <p:cNvSpPr txBox="1"/>
          <p:nvPr/>
        </p:nvSpPr>
        <p:spPr>
          <a:xfrm>
            <a:off x="8034867" y="3030220"/>
            <a:ext cx="164422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完成后及时确认结果</a:t>
            </a:r>
          </a:p>
        </p:txBody>
      </p:sp>
      <p:sp>
        <p:nvSpPr>
          <p:cNvPr id="143" name="op-new2">
            <a:extLst>
              <a:ext uri="{FF2B5EF4-FFF2-40B4-BE49-F238E27FC236}">
                <a16:creationId xmlns:a16="http://schemas.microsoft.com/office/drawing/2014/main" id="{E8CF986E-4004-3388-71A0-0469B366FA40}"/>
              </a:ext>
            </a:extLst>
          </p:cNvPr>
          <p:cNvSpPr/>
          <p:nvPr/>
        </p:nvSpPr>
        <p:spPr>
          <a:xfrm>
            <a:off x="9767994" y="2827020"/>
            <a:ext cx="1923626" cy="342900"/>
          </a:xfrm>
          <a:prstGeom prst="rect">
            <a:avLst/>
          </a:prstGeom>
          <a:solidFill>
            <a:srgbClr val="E7F1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op-new2-ico">
            <a:extLst>
              <a:ext uri="{FF2B5EF4-FFF2-40B4-BE49-F238E27FC236}">
                <a16:creationId xmlns:a16="http://schemas.microsoft.com/office/drawing/2014/main" id="{7E336ACC-8DC3-B99E-63C9-D8389F432BEB}"/>
              </a:ext>
            </a:extLst>
          </p:cNvPr>
          <p:cNvSpPr/>
          <p:nvPr/>
        </p:nvSpPr>
        <p:spPr>
          <a:xfrm>
            <a:off x="9818794" y="2928620"/>
            <a:ext cx="177800" cy="177800"/>
          </a:xfrm>
          <a:prstGeom prst="ellipse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↗</a:t>
            </a:r>
          </a:p>
        </p:txBody>
      </p:sp>
      <p:sp>
        <p:nvSpPr>
          <p:cNvPr id="145" name="op-new2-t">
            <a:extLst>
              <a:ext uri="{FF2B5EF4-FFF2-40B4-BE49-F238E27FC236}">
                <a16:creationId xmlns:a16="http://schemas.microsoft.com/office/drawing/2014/main" id="{D16E5C8D-2DDD-7DEA-41AB-055F9E29C5F3}"/>
              </a:ext>
            </a:extLst>
          </p:cNvPr>
          <p:cNvSpPr txBox="1"/>
          <p:nvPr/>
        </p:nvSpPr>
        <p:spPr>
          <a:xfrm>
            <a:off x="10021994" y="2852420"/>
            <a:ext cx="164422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落地辅导</a:t>
            </a:r>
          </a:p>
        </p:txBody>
      </p:sp>
      <p:sp>
        <p:nvSpPr>
          <p:cNvPr id="146" name="op-new2-s">
            <a:extLst>
              <a:ext uri="{FF2B5EF4-FFF2-40B4-BE49-F238E27FC236}">
                <a16:creationId xmlns:a16="http://schemas.microsoft.com/office/drawing/2014/main" id="{549C69DB-DCDB-E66A-93AE-CDF591C06967}"/>
              </a:ext>
            </a:extLst>
          </p:cNvPr>
          <p:cNvSpPr txBox="1"/>
          <p:nvPr/>
        </p:nvSpPr>
        <p:spPr>
          <a:xfrm>
            <a:off x="10021994" y="3030220"/>
            <a:ext cx="164422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结合业务需求给出建议</a:t>
            </a:r>
          </a:p>
        </p:txBody>
      </p:sp>
      <p:sp>
        <p:nvSpPr>
          <p:cNvPr id="147" name="cell-v-old">
            <a:extLst>
              <a:ext uri="{FF2B5EF4-FFF2-40B4-BE49-F238E27FC236}">
                <a16:creationId xmlns:a16="http://schemas.microsoft.com/office/drawing/2014/main" id="{045D4A4F-961A-06E2-12E1-3577546FAD75}"/>
              </a:ext>
            </a:extLst>
          </p:cNvPr>
          <p:cNvSpPr/>
          <p:nvPr/>
        </p:nvSpPr>
        <p:spPr>
          <a:xfrm>
            <a:off x="1371600" y="3268980"/>
            <a:ext cx="4358640" cy="960120"/>
          </a:xfrm>
          <a:prstGeom prst="rect">
            <a:avLst/>
          </a:prstGeom>
          <a:solidFill>
            <a:srgbClr val="F1F3F3"/>
          </a:solidFill>
          <a:ln w="6350">
            <a:solidFill>
              <a:srgbClr val="CD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vold0">
            <a:extLst>
              <a:ext uri="{FF2B5EF4-FFF2-40B4-BE49-F238E27FC236}">
                <a16:creationId xmlns:a16="http://schemas.microsoft.com/office/drawing/2014/main" id="{315AE98C-41D2-CBEA-B6BF-2071E85D7E44}"/>
              </a:ext>
            </a:extLst>
          </p:cNvPr>
          <p:cNvSpPr/>
          <p:nvPr/>
        </p:nvSpPr>
        <p:spPr>
          <a:xfrm>
            <a:off x="1447800" y="3446780"/>
            <a:ext cx="1359747" cy="373380"/>
          </a:xfrm>
          <a:prstGeom prst="rect">
            <a:avLst/>
          </a:prstGeom>
          <a:solidFill>
            <a:srgbClr val="E5E9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vold0-top">
            <a:extLst>
              <a:ext uri="{FF2B5EF4-FFF2-40B4-BE49-F238E27FC236}">
                <a16:creationId xmlns:a16="http://schemas.microsoft.com/office/drawing/2014/main" id="{BE36ECB7-C4BB-0D3D-D0D8-D6CD7B7A624A}"/>
              </a:ext>
            </a:extLst>
          </p:cNvPr>
          <p:cNvSpPr/>
          <p:nvPr/>
        </p:nvSpPr>
        <p:spPr>
          <a:xfrm>
            <a:off x="1447800" y="3446780"/>
            <a:ext cx="1359747" cy="25400"/>
          </a:xfrm>
          <a:prstGeom prst="rect">
            <a:avLst/>
          </a:prstGeom>
          <a:solidFill>
            <a:srgbClr val="899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vold0-t">
            <a:extLst>
              <a:ext uri="{FF2B5EF4-FFF2-40B4-BE49-F238E27FC236}">
                <a16:creationId xmlns:a16="http://schemas.microsoft.com/office/drawing/2014/main" id="{D5AB2B49-3FB4-0A65-8B34-6AE4E87E9BF5}"/>
              </a:ext>
            </a:extLst>
          </p:cNvPr>
          <p:cNvSpPr txBox="1"/>
          <p:nvPr/>
        </p:nvSpPr>
        <p:spPr>
          <a:xfrm>
            <a:off x="1447800" y="3497580"/>
            <a:ext cx="1359747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700" b="1">
                <a:solidFill>
                  <a:srgbClr val="425B66"/>
                </a:solidFill>
                <a:latin typeface="Microsoft YaHei" panose="020B0503020204020204" pitchFamily="34" charset="-122"/>
              </a:rPr>
              <a:t>SP/BP </a:t>
            </a:r>
            <a:r>
              <a:rPr lang="zh-CN" altLang="en-US" sz="700" b="1">
                <a:solidFill>
                  <a:srgbClr val="425B66"/>
                </a:solidFill>
                <a:latin typeface="Microsoft YaHei" panose="020B0503020204020204" pitchFamily="34" charset="-122"/>
              </a:rPr>
              <a:t>拆解</a:t>
            </a:r>
          </a:p>
        </p:txBody>
      </p:sp>
      <p:sp>
        <p:nvSpPr>
          <p:cNvPr id="151" name="vold0-s">
            <a:extLst>
              <a:ext uri="{FF2B5EF4-FFF2-40B4-BE49-F238E27FC236}">
                <a16:creationId xmlns:a16="http://schemas.microsoft.com/office/drawing/2014/main" id="{A5AC4C25-7927-7BD0-0F76-433C3937A138}"/>
              </a:ext>
            </a:extLst>
          </p:cNvPr>
          <p:cNvSpPr txBox="1"/>
          <p:nvPr/>
        </p:nvSpPr>
        <p:spPr>
          <a:xfrm>
            <a:off x="1447800" y="3700780"/>
            <a:ext cx="135974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600">
                <a:solidFill>
                  <a:srgbClr val="75858D"/>
                </a:solidFill>
                <a:latin typeface="Microsoft YaHei" panose="020B0503020204020204" pitchFamily="34" charset="-122"/>
              </a:rPr>
              <a:t>形成能力细分项</a:t>
            </a:r>
          </a:p>
        </p:txBody>
      </p:sp>
      <p:sp>
        <p:nvSpPr>
          <p:cNvPr id="152" name="vold1">
            <a:extLst>
              <a:ext uri="{FF2B5EF4-FFF2-40B4-BE49-F238E27FC236}">
                <a16:creationId xmlns:a16="http://schemas.microsoft.com/office/drawing/2014/main" id="{7BA9056D-B40B-5D81-C47C-96A0C2E91F4F}"/>
              </a:ext>
            </a:extLst>
          </p:cNvPr>
          <p:cNvSpPr/>
          <p:nvPr/>
        </p:nvSpPr>
        <p:spPr>
          <a:xfrm>
            <a:off x="2871047" y="3446780"/>
            <a:ext cx="1359747" cy="373380"/>
          </a:xfrm>
          <a:prstGeom prst="rect">
            <a:avLst/>
          </a:prstGeom>
          <a:solidFill>
            <a:srgbClr val="E5E9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vold1-top">
            <a:extLst>
              <a:ext uri="{FF2B5EF4-FFF2-40B4-BE49-F238E27FC236}">
                <a16:creationId xmlns:a16="http://schemas.microsoft.com/office/drawing/2014/main" id="{A75E4673-E2F0-665B-F916-87059675D68F}"/>
              </a:ext>
            </a:extLst>
          </p:cNvPr>
          <p:cNvSpPr/>
          <p:nvPr/>
        </p:nvSpPr>
        <p:spPr>
          <a:xfrm>
            <a:off x="2871047" y="3446780"/>
            <a:ext cx="1359747" cy="25400"/>
          </a:xfrm>
          <a:prstGeom prst="rect">
            <a:avLst/>
          </a:prstGeom>
          <a:solidFill>
            <a:srgbClr val="8998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vold1-t">
            <a:extLst>
              <a:ext uri="{FF2B5EF4-FFF2-40B4-BE49-F238E27FC236}">
                <a16:creationId xmlns:a16="http://schemas.microsoft.com/office/drawing/2014/main" id="{E8965947-B9F1-9754-2845-406FCB2DC121}"/>
              </a:ext>
            </a:extLst>
          </p:cNvPr>
          <p:cNvSpPr txBox="1"/>
          <p:nvPr/>
        </p:nvSpPr>
        <p:spPr>
          <a:xfrm>
            <a:off x="2871047" y="3497580"/>
            <a:ext cx="1359747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700" b="1">
                <a:solidFill>
                  <a:srgbClr val="425B66"/>
                </a:solidFill>
                <a:latin typeface="Microsoft YaHei" panose="020B0503020204020204" pitchFamily="34" charset="-122"/>
              </a:rPr>
              <a:t>KPI </a:t>
            </a:r>
            <a:r>
              <a:rPr lang="zh-CN" altLang="en-US" sz="700" b="1">
                <a:solidFill>
                  <a:srgbClr val="425B66"/>
                </a:solidFill>
                <a:latin typeface="Microsoft YaHei" panose="020B0503020204020204" pitchFamily="34" charset="-122"/>
              </a:rPr>
              <a:t>关联</a:t>
            </a:r>
          </a:p>
        </p:txBody>
      </p:sp>
      <p:sp>
        <p:nvSpPr>
          <p:cNvPr id="155" name="vold1-s">
            <a:extLst>
              <a:ext uri="{FF2B5EF4-FFF2-40B4-BE49-F238E27FC236}">
                <a16:creationId xmlns:a16="http://schemas.microsoft.com/office/drawing/2014/main" id="{B7A27CD4-037A-80DF-F54B-9855A6D64E1F}"/>
              </a:ext>
            </a:extLst>
          </p:cNvPr>
          <p:cNvSpPr txBox="1"/>
          <p:nvPr/>
        </p:nvSpPr>
        <p:spPr>
          <a:xfrm>
            <a:off x="2871047" y="3700780"/>
            <a:ext cx="135974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600">
                <a:solidFill>
                  <a:srgbClr val="75858D"/>
                </a:solidFill>
                <a:latin typeface="Microsoft YaHei" panose="020B0503020204020204" pitchFamily="34" charset="-122"/>
              </a:rPr>
              <a:t>衡量年度交付结果</a:t>
            </a:r>
          </a:p>
        </p:txBody>
      </p:sp>
      <p:sp>
        <p:nvSpPr>
          <p:cNvPr id="156" name="vold2">
            <a:extLst>
              <a:ext uri="{FF2B5EF4-FFF2-40B4-BE49-F238E27FC236}">
                <a16:creationId xmlns:a16="http://schemas.microsoft.com/office/drawing/2014/main" id="{AAF44D94-B733-0685-54D6-839956404194}"/>
              </a:ext>
            </a:extLst>
          </p:cNvPr>
          <p:cNvSpPr/>
          <p:nvPr/>
        </p:nvSpPr>
        <p:spPr>
          <a:xfrm>
            <a:off x="4294293" y="3446780"/>
            <a:ext cx="1359747" cy="373380"/>
          </a:xfrm>
          <a:prstGeom prst="rect">
            <a:avLst/>
          </a:prstGeom>
          <a:solidFill>
            <a:srgbClr val="E5E9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vold2-top">
            <a:extLst>
              <a:ext uri="{FF2B5EF4-FFF2-40B4-BE49-F238E27FC236}">
                <a16:creationId xmlns:a16="http://schemas.microsoft.com/office/drawing/2014/main" id="{7721E145-87F8-C7BC-AFC1-7C074B5265EA}"/>
              </a:ext>
            </a:extLst>
          </p:cNvPr>
          <p:cNvSpPr/>
          <p:nvPr/>
        </p:nvSpPr>
        <p:spPr>
          <a:xfrm>
            <a:off x="4294293" y="3446780"/>
            <a:ext cx="1359747" cy="25400"/>
          </a:xfrm>
          <a:prstGeom prst="rect">
            <a:avLst/>
          </a:prstGeom>
          <a:solidFill>
            <a:srgbClr val="B9796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vold2-t">
            <a:extLst>
              <a:ext uri="{FF2B5EF4-FFF2-40B4-BE49-F238E27FC236}">
                <a16:creationId xmlns:a16="http://schemas.microsoft.com/office/drawing/2014/main" id="{B5787C82-D3CC-01E8-42DF-FD083111B68A}"/>
              </a:ext>
            </a:extLst>
          </p:cNvPr>
          <p:cNvSpPr txBox="1"/>
          <p:nvPr/>
        </p:nvSpPr>
        <p:spPr>
          <a:xfrm>
            <a:off x="4294293" y="3497580"/>
            <a:ext cx="1359747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700" b="1">
                <a:solidFill>
                  <a:srgbClr val="425B66"/>
                </a:solidFill>
                <a:latin typeface="Microsoft YaHei" panose="020B0503020204020204" pitchFamily="34" charset="-122"/>
              </a:rPr>
              <a:t>引导不足</a:t>
            </a:r>
          </a:p>
        </p:txBody>
      </p:sp>
      <p:sp>
        <p:nvSpPr>
          <p:cNvPr id="159" name="vold2-s">
            <a:extLst>
              <a:ext uri="{FF2B5EF4-FFF2-40B4-BE49-F238E27FC236}">
                <a16:creationId xmlns:a16="http://schemas.microsoft.com/office/drawing/2014/main" id="{76423E48-8AB5-E29E-84AE-CFBCAFAE3D87}"/>
              </a:ext>
            </a:extLst>
          </p:cNvPr>
          <p:cNvSpPr txBox="1"/>
          <p:nvPr/>
        </p:nvSpPr>
        <p:spPr>
          <a:xfrm>
            <a:off x="4294293" y="3700780"/>
            <a:ext cx="1359747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600">
                <a:solidFill>
                  <a:srgbClr val="75858D"/>
                </a:solidFill>
                <a:latin typeface="Microsoft YaHei" panose="020B0503020204020204" pitchFamily="34" charset="-122"/>
              </a:rPr>
              <a:t>无法驱动业务自我优化升级</a:t>
            </a:r>
          </a:p>
        </p:txBody>
      </p:sp>
      <p:sp>
        <p:nvSpPr>
          <p:cNvPr id="160" name="cell-v-new">
            <a:extLst>
              <a:ext uri="{FF2B5EF4-FFF2-40B4-BE49-F238E27FC236}">
                <a16:creationId xmlns:a16="http://schemas.microsoft.com/office/drawing/2014/main" id="{7AC5C18C-BC41-D14B-2F76-C6C253815021}"/>
              </a:ext>
            </a:extLst>
          </p:cNvPr>
          <p:cNvSpPr/>
          <p:nvPr/>
        </p:nvSpPr>
        <p:spPr>
          <a:xfrm>
            <a:off x="5730240" y="3268980"/>
            <a:ext cx="60502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goal-box">
            <a:extLst>
              <a:ext uri="{FF2B5EF4-FFF2-40B4-BE49-F238E27FC236}">
                <a16:creationId xmlns:a16="http://schemas.microsoft.com/office/drawing/2014/main" id="{84622624-3E9F-A1DC-4388-279EFED74DAE}"/>
              </a:ext>
            </a:extLst>
          </p:cNvPr>
          <p:cNvSpPr/>
          <p:nvPr/>
        </p:nvSpPr>
        <p:spPr>
          <a:xfrm>
            <a:off x="5806440" y="3370580"/>
            <a:ext cx="2438400" cy="708660"/>
          </a:xfrm>
          <a:prstGeom prst="rect">
            <a:avLst/>
          </a:prstGeom>
          <a:noFill/>
          <a:ln w="15240" cap="flat" cmpd="sng" algn="ctr">
            <a:solidFill>
              <a:srgbClr val="C9D5D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goal-cap">
            <a:extLst>
              <a:ext uri="{FF2B5EF4-FFF2-40B4-BE49-F238E27FC236}">
                <a16:creationId xmlns:a16="http://schemas.microsoft.com/office/drawing/2014/main" id="{C2D1630C-9EB8-D221-1A08-23D62AAA56ED}"/>
              </a:ext>
            </a:extLst>
          </p:cNvPr>
          <p:cNvSpPr txBox="1"/>
          <p:nvPr/>
        </p:nvSpPr>
        <p:spPr>
          <a:xfrm>
            <a:off x="5857240" y="3370580"/>
            <a:ext cx="23368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61747E"/>
                </a:solidFill>
                <a:latin typeface="Microsoft YaHei" panose="020B0503020204020204" pitchFamily="34" charset="-122"/>
              </a:rPr>
              <a:t>完整测试能力年度目标合集 </a:t>
            </a:r>
            <a:r>
              <a:rPr lang="en-US" altLang="zh-CN" sz="600" b="1">
                <a:solidFill>
                  <a:srgbClr val="61747E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600" b="1">
                <a:solidFill>
                  <a:srgbClr val="61747E"/>
                </a:solidFill>
                <a:latin typeface="Microsoft YaHei" panose="020B0503020204020204" pitchFamily="34" charset="-122"/>
              </a:rPr>
              <a:t>递进能力阶</a:t>
            </a:r>
          </a:p>
        </p:txBody>
      </p:sp>
      <p:sp>
        <p:nvSpPr>
          <p:cNvPr id="163" name="step0">
            <a:extLst>
              <a:ext uri="{FF2B5EF4-FFF2-40B4-BE49-F238E27FC236}">
                <a16:creationId xmlns:a16="http://schemas.microsoft.com/office/drawing/2014/main" id="{E7D79E37-C106-6C54-B4D9-94C4D9DAC4EE}"/>
              </a:ext>
            </a:extLst>
          </p:cNvPr>
          <p:cNvSpPr/>
          <p:nvPr/>
        </p:nvSpPr>
        <p:spPr>
          <a:xfrm>
            <a:off x="5831840" y="3764280"/>
            <a:ext cx="774700" cy="213360"/>
          </a:xfrm>
          <a:prstGeom prst="rect">
            <a:avLst/>
          </a:prstGeom>
          <a:solidFill>
            <a:srgbClr val="8398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/>
            <a:r>
              <a:rPr lang="en-US" altLang="zh-CN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级</a:t>
            </a:r>
            <a:r>
              <a:rPr lang="en-US" altLang="zh-CN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`n</a:t>
            </a:r>
            <a:r>
              <a:rPr lang="zh-CN" altLang="en-US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基础基底</a:t>
            </a:r>
          </a:p>
        </p:txBody>
      </p:sp>
      <p:sp>
        <p:nvSpPr>
          <p:cNvPr id="164" name="step1">
            <a:extLst>
              <a:ext uri="{FF2B5EF4-FFF2-40B4-BE49-F238E27FC236}">
                <a16:creationId xmlns:a16="http://schemas.microsoft.com/office/drawing/2014/main" id="{FFF80428-5F35-2B3B-5877-F311404A30DD}"/>
              </a:ext>
            </a:extLst>
          </p:cNvPr>
          <p:cNvSpPr/>
          <p:nvPr/>
        </p:nvSpPr>
        <p:spPr>
          <a:xfrm>
            <a:off x="6644640" y="3619500"/>
            <a:ext cx="774700" cy="35814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/>
            <a:r>
              <a:rPr lang="en-US" altLang="zh-CN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级</a:t>
            </a:r>
            <a:r>
              <a:rPr lang="en-US" altLang="zh-CN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`n</a:t>
            </a:r>
            <a:r>
              <a:rPr lang="zh-CN" altLang="en-US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年度重点</a:t>
            </a:r>
          </a:p>
        </p:txBody>
      </p:sp>
      <p:sp>
        <p:nvSpPr>
          <p:cNvPr id="165" name="step2">
            <a:extLst>
              <a:ext uri="{FF2B5EF4-FFF2-40B4-BE49-F238E27FC236}">
                <a16:creationId xmlns:a16="http://schemas.microsoft.com/office/drawing/2014/main" id="{E8250867-5A72-B351-9F90-B6653F7B6994}"/>
              </a:ext>
            </a:extLst>
          </p:cNvPr>
          <p:cNvSpPr/>
          <p:nvPr/>
        </p:nvSpPr>
        <p:spPr>
          <a:xfrm>
            <a:off x="7457440" y="3482340"/>
            <a:ext cx="774700" cy="495300"/>
          </a:xfrm>
          <a:prstGeom prst="rect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/>
            <a:r>
              <a:rPr lang="en-US" altLang="zh-CN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r>
              <a:rPr lang="zh-CN" altLang="en-US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级</a:t>
            </a:r>
            <a:r>
              <a:rPr lang="en-US" altLang="zh-CN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`n</a:t>
            </a:r>
            <a:r>
              <a:rPr lang="zh-CN" altLang="en-US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数字化 </a:t>
            </a:r>
            <a:r>
              <a:rPr lang="en-US" altLang="zh-CN" sz="600" b="1">
                <a:solidFill>
                  <a:srgbClr val="FFFFFF"/>
                </a:solidFill>
                <a:latin typeface="Microsoft YaHei" panose="020B0503020204020204" pitchFamily="34" charset="-122"/>
              </a:rPr>
              <a:t>/ AI</a:t>
            </a:r>
            <a:endParaRPr lang="zh-CN" altLang="en-US" sz="6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6" name="out0">
            <a:extLst>
              <a:ext uri="{FF2B5EF4-FFF2-40B4-BE49-F238E27FC236}">
                <a16:creationId xmlns:a16="http://schemas.microsoft.com/office/drawing/2014/main" id="{4AAA5EDA-BF25-C819-FF36-54F15925EC32}"/>
              </a:ext>
            </a:extLst>
          </p:cNvPr>
          <p:cNvSpPr/>
          <p:nvPr/>
        </p:nvSpPr>
        <p:spPr>
          <a:xfrm>
            <a:off x="8295640" y="3370580"/>
            <a:ext cx="1102360" cy="708660"/>
          </a:xfrm>
          <a:prstGeom prst="rect">
            <a:avLst/>
          </a:prstGeom>
          <a:solidFill>
            <a:srgbClr val="EEF4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out0-top">
            <a:extLst>
              <a:ext uri="{FF2B5EF4-FFF2-40B4-BE49-F238E27FC236}">
                <a16:creationId xmlns:a16="http://schemas.microsoft.com/office/drawing/2014/main" id="{285AF781-B724-26FB-4AE7-E85DE4D3B957}"/>
              </a:ext>
            </a:extLst>
          </p:cNvPr>
          <p:cNvSpPr/>
          <p:nvPr/>
        </p:nvSpPr>
        <p:spPr>
          <a:xfrm>
            <a:off x="8295640" y="3370580"/>
            <a:ext cx="1102360" cy="3048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out0-t">
            <a:extLst>
              <a:ext uri="{FF2B5EF4-FFF2-40B4-BE49-F238E27FC236}">
                <a16:creationId xmlns:a16="http://schemas.microsoft.com/office/drawing/2014/main" id="{52054D48-1E71-62E3-A0F5-99DA378BA1AA}"/>
              </a:ext>
            </a:extLst>
          </p:cNvPr>
          <p:cNvSpPr txBox="1"/>
          <p:nvPr/>
        </p:nvSpPr>
        <p:spPr>
          <a:xfrm>
            <a:off x="8295640" y="3446780"/>
            <a:ext cx="1102360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700" b="1">
                <a:solidFill>
                  <a:srgbClr val="176B65"/>
                </a:solidFill>
                <a:latin typeface="Microsoft YaHei" panose="020B0503020204020204" pitchFamily="34" charset="-122"/>
              </a:rPr>
              <a:t>可诊断</a:t>
            </a:r>
          </a:p>
        </p:txBody>
      </p:sp>
      <p:sp>
        <p:nvSpPr>
          <p:cNvPr id="169" name="out0-s">
            <a:extLst>
              <a:ext uri="{FF2B5EF4-FFF2-40B4-BE49-F238E27FC236}">
                <a16:creationId xmlns:a16="http://schemas.microsoft.com/office/drawing/2014/main" id="{AF8E312E-0715-D3B9-F63D-8A9CB3D4F34C}"/>
              </a:ext>
            </a:extLst>
          </p:cNvPr>
          <p:cNvSpPr txBox="1"/>
          <p:nvPr/>
        </p:nvSpPr>
        <p:spPr>
          <a:xfrm>
            <a:off x="8295640" y="3624580"/>
            <a:ext cx="110236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0747E"/>
                </a:solidFill>
                <a:latin typeface="Microsoft YaHei" panose="020B0503020204020204" pitchFamily="34" charset="-122"/>
              </a:rPr>
              <a:t>识别能力当前达成情况与年度目标差距。</a:t>
            </a:r>
          </a:p>
        </p:txBody>
      </p:sp>
      <p:sp>
        <p:nvSpPr>
          <p:cNvPr id="170" name="out1">
            <a:extLst>
              <a:ext uri="{FF2B5EF4-FFF2-40B4-BE49-F238E27FC236}">
                <a16:creationId xmlns:a16="http://schemas.microsoft.com/office/drawing/2014/main" id="{79572978-B8F6-2C95-A358-E50D515A54A8}"/>
              </a:ext>
            </a:extLst>
          </p:cNvPr>
          <p:cNvSpPr/>
          <p:nvPr/>
        </p:nvSpPr>
        <p:spPr>
          <a:xfrm>
            <a:off x="9448800" y="3370580"/>
            <a:ext cx="1102360" cy="708660"/>
          </a:xfrm>
          <a:prstGeom prst="rect">
            <a:avLst/>
          </a:prstGeom>
          <a:solidFill>
            <a:srgbClr val="EEF4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out1-top">
            <a:extLst>
              <a:ext uri="{FF2B5EF4-FFF2-40B4-BE49-F238E27FC236}">
                <a16:creationId xmlns:a16="http://schemas.microsoft.com/office/drawing/2014/main" id="{B262AD3E-E58D-3DD8-030B-29FE7B5FA183}"/>
              </a:ext>
            </a:extLst>
          </p:cNvPr>
          <p:cNvSpPr/>
          <p:nvPr/>
        </p:nvSpPr>
        <p:spPr>
          <a:xfrm>
            <a:off x="9448800" y="3370580"/>
            <a:ext cx="1102360" cy="30480"/>
          </a:xfrm>
          <a:prstGeom prst="rect">
            <a:avLst/>
          </a:prstGeom>
          <a:solidFill>
            <a:srgbClr val="8298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out1-t">
            <a:extLst>
              <a:ext uri="{FF2B5EF4-FFF2-40B4-BE49-F238E27FC236}">
                <a16:creationId xmlns:a16="http://schemas.microsoft.com/office/drawing/2014/main" id="{3E888D32-940A-F895-DD04-507478BE7750}"/>
              </a:ext>
            </a:extLst>
          </p:cNvPr>
          <p:cNvSpPr txBox="1"/>
          <p:nvPr/>
        </p:nvSpPr>
        <p:spPr>
          <a:xfrm>
            <a:off x="9448800" y="3446780"/>
            <a:ext cx="1102360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700" b="1">
                <a:solidFill>
                  <a:srgbClr val="176B65"/>
                </a:solidFill>
                <a:latin typeface="Microsoft YaHei" panose="020B0503020204020204" pitchFamily="34" charset="-122"/>
              </a:rPr>
              <a:t>可对比</a:t>
            </a:r>
          </a:p>
        </p:txBody>
      </p:sp>
      <p:sp>
        <p:nvSpPr>
          <p:cNvPr id="173" name="out1-s">
            <a:extLst>
              <a:ext uri="{FF2B5EF4-FFF2-40B4-BE49-F238E27FC236}">
                <a16:creationId xmlns:a16="http://schemas.microsoft.com/office/drawing/2014/main" id="{D6820A85-8E90-280A-6626-82261139D3FF}"/>
              </a:ext>
            </a:extLst>
          </p:cNvPr>
          <p:cNvSpPr txBox="1"/>
          <p:nvPr/>
        </p:nvSpPr>
        <p:spPr>
          <a:xfrm>
            <a:off x="9448800" y="3624580"/>
            <a:ext cx="110236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0747E"/>
                </a:solidFill>
                <a:latin typeface="Microsoft YaHei" panose="020B0503020204020204" pitchFamily="34" charset="-122"/>
              </a:rPr>
              <a:t>比较不同科组、部门、业务的能力得分差距。</a:t>
            </a:r>
          </a:p>
        </p:txBody>
      </p:sp>
      <p:sp>
        <p:nvSpPr>
          <p:cNvPr id="174" name="out2">
            <a:extLst>
              <a:ext uri="{FF2B5EF4-FFF2-40B4-BE49-F238E27FC236}">
                <a16:creationId xmlns:a16="http://schemas.microsoft.com/office/drawing/2014/main" id="{E63CBD22-9C39-B1E8-FBB1-16D51EB1A0A3}"/>
              </a:ext>
            </a:extLst>
          </p:cNvPr>
          <p:cNvSpPr/>
          <p:nvPr/>
        </p:nvSpPr>
        <p:spPr>
          <a:xfrm>
            <a:off x="10601960" y="3370580"/>
            <a:ext cx="1102360" cy="708660"/>
          </a:xfrm>
          <a:prstGeom prst="rect">
            <a:avLst/>
          </a:prstGeom>
          <a:solidFill>
            <a:srgbClr val="EEF4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out2-top">
            <a:extLst>
              <a:ext uri="{FF2B5EF4-FFF2-40B4-BE49-F238E27FC236}">
                <a16:creationId xmlns:a16="http://schemas.microsoft.com/office/drawing/2014/main" id="{2CA28AC7-2D90-52C8-BA60-919485AB878D}"/>
              </a:ext>
            </a:extLst>
          </p:cNvPr>
          <p:cNvSpPr/>
          <p:nvPr/>
        </p:nvSpPr>
        <p:spPr>
          <a:xfrm>
            <a:off x="10601960" y="3370580"/>
            <a:ext cx="1102360" cy="30480"/>
          </a:xfrm>
          <a:prstGeom prst="rect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out2-t">
            <a:extLst>
              <a:ext uri="{FF2B5EF4-FFF2-40B4-BE49-F238E27FC236}">
                <a16:creationId xmlns:a16="http://schemas.microsoft.com/office/drawing/2014/main" id="{52E1DFC1-51C2-4295-0330-DFFCE5525476}"/>
              </a:ext>
            </a:extLst>
          </p:cNvPr>
          <p:cNvSpPr txBox="1"/>
          <p:nvPr/>
        </p:nvSpPr>
        <p:spPr>
          <a:xfrm>
            <a:off x="10601960" y="3446780"/>
            <a:ext cx="1102360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700" b="1">
                <a:solidFill>
                  <a:srgbClr val="176B65"/>
                </a:solidFill>
                <a:latin typeface="Microsoft YaHei" panose="020B0503020204020204" pitchFamily="34" charset="-122"/>
              </a:rPr>
              <a:t>可引导</a:t>
            </a:r>
          </a:p>
        </p:txBody>
      </p:sp>
      <p:sp>
        <p:nvSpPr>
          <p:cNvPr id="177" name="out2-s">
            <a:extLst>
              <a:ext uri="{FF2B5EF4-FFF2-40B4-BE49-F238E27FC236}">
                <a16:creationId xmlns:a16="http://schemas.microsoft.com/office/drawing/2014/main" id="{6C18D499-0F9D-BB5E-6705-38CEF6B6A0E4}"/>
              </a:ext>
            </a:extLst>
          </p:cNvPr>
          <p:cNvSpPr txBox="1"/>
          <p:nvPr/>
        </p:nvSpPr>
        <p:spPr>
          <a:xfrm>
            <a:off x="10601960" y="3624580"/>
            <a:ext cx="110236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0747E"/>
                </a:solidFill>
                <a:latin typeface="Microsoft YaHei" panose="020B0503020204020204" pitchFamily="34" charset="-122"/>
              </a:rPr>
              <a:t>按目标差距与对比结果形成分层改进建议。</a:t>
            </a:r>
          </a:p>
        </p:txBody>
      </p:sp>
      <p:sp>
        <p:nvSpPr>
          <p:cNvPr id="178" name="ex-bg">
            <a:extLst>
              <a:ext uri="{FF2B5EF4-FFF2-40B4-BE49-F238E27FC236}">
                <a16:creationId xmlns:a16="http://schemas.microsoft.com/office/drawing/2014/main" id="{22437479-B935-339B-134B-F823A3E17F71}"/>
              </a:ext>
            </a:extLst>
          </p:cNvPr>
          <p:cNvSpPr/>
          <p:nvPr/>
        </p:nvSpPr>
        <p:spPr>
          <a:xfrm>
            <a:off x="472440" y="4343400"/>
            <a:ext cx="11308080" cy="225552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ex-top">
            <a:extLst>
              <a:ext uri="{FF2B5EF4-FFF2-40B4-BE49-F238E27FC236}">
                <a16:creationId xmlns:a16="http://schemas.microsoft.com/office/drawing/2014/main" id="{35F19F55-7D63-FC2E-7F64-8D871F7B267B}"/>
              </a:ext>
            </a:extLst>
          </p:cNvPr>
          <p:cNvSpPr/>
          <p:nvPr/>
        </p:nvSpPr>
        <p:spPr>
          <a:xfrm>
            <a:off x="472440" y="4343400"/>
            <a:ext cx="11308080" cy="2540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ex-head">
            <a:extLst>
              <a:ext uri="{FF2B5EF4-FFF2-40B4-BE49-F238E27FC236}">
                <a16:creationId xmlns:a16="http://schemas.microsoft.com/office/drawing/2014/main" id="{F2D2322E-453C-93CE-7E6F-22EDF65DB0F6}"/>
              </a:ext>
            </a:extLst>
          </p:cNvPr>
          <p:cNvSpPr txBox="1"/>
          <p:nvPr/>
        </p:nvSpPr>
        <p:spPr>
          <a:xfrm>
            <a:off x="548640" y="4376742"/>
            <a:ext cx="1115568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1100" b="1">
                <a:solidFill>
                  <a:srgbClr val="173650"/>
                </a:solidFill>
                <a:latin typeface="Microsoft YaHei" panose="020B0503020204020204" pitchFamily="34" charset="-122"/>
              </a:rPr>
              <a:t>测试能力成熟度管理示例</a:t>
            </a:r>
          </a:p>
        </p:txBody>
      </p:sp>
      <p:cxnSp>
        <p:nvCxnSpPr>
          <p:cNvPr id="181" name="ex-div">
            <a:extLst>
              <a:ext uri="{FF2B5EF4-FFF2-40B4-BE49-F238E27FC236}">
                <a16:creationId xmlns:a16="http://schemas.microsoft.com/office/drawing/2014/main" id="{6852B8DA-AE62-D347-5EA0-1358DF2BEA50}"/>
              </a:ext>
            </a:extLst>
          </p:cNvPr>
          <p:cNvCxnSpPr/>
          <p:nvPr/>
        </p:nvCxnSpPr>
        <p:spPr>
          <a:xfrm>
            <a:off x="472440" y="4610100"/>
            <a:ext cx="11308080" cy="0"/>
          </a:xfrm>
          <a:prstGeom prst="line">
            <a:avLst/>
          </a:prstGeom>
          <a:ln w="7620">
            <a:solidFill>
              <a:srgbClr val="D7DF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panel0">
            <a:extLst>
              <a:ext uri="{FF2B5EF4-FFF2-40B4-BE49-F238E27FC236}">
                <a16:creationId xmlns:a16="http://schemas.microsoft.com/office/drawing/2014/main" id="{632B5448-86AB-79FA-07F5-A608E6E4560F}"/>
              </a:ext>
            </a:extLst>
          </p:cNvPr>
          <p:cNvSpPr/>
          <p:nvPr/>
        </p:nvSpPr>
        <p:spPr>
          <a:xfrm>
            <a:off x="535940" y="4673600"/>
            <a:ext cx="2857500" cy="1861820"/>
          </a:xfrm>
          <a:prstGeom prst="rect">
            <a:avLst/>
          </a:prstGeom>
          <a:solidFill>
            <a:srgbClr val="F5F7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panel0-top">
            <a:extLst>
              <a:ext uri="{FF2B5EF4-FFF2-40B4-BE49-F238E27FC236}">
                <a16:creationId xmlns:a16="http://schemas.microsoft.com/office/drawing/2014/main" id="{7118CA07-549D-B196-BB2D-FE052DC4FD74}"/>
              </a:ext>
            </a:extLst>
          </p:cNvPr>
          <p:cNvSpPr/>
          <p:nvPr/>
        </p:nvSpPr>
        <p:spPr>
          <a:xfrm>
            <a:off x="535940" y="4673600"/>
            <a:ext cx="2857500" cy="25400"/>
          </a:xfrm>
          <a:prstGeom prst="rect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panel0-h">
            <a:extLst>
              <a:ext uri="{FF2B5EF4-FFF2-40B4-BE49-F238E27FC236}">
                <a16:creationId xmlns:a16="http://schemas.microsoft.com/office/drawing/2014/main" id="{08D1D112-CF9B-D988-3089-5E1765B54B80}"/>
              </a:ext>
            </a:extLst>
          </p:cNvPr>
          <p:cNvSpPr txBox="1"/>
          <p:nvPr/>
        </p:nvSpPr>
        <p:spPr>
          <a:xfrm>
            <a:off x="586740" y="4711700"/>
            <a:ext cx="27559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科组视角 </a:t>
            </a:r>
            <a:r>
              <a:rPr lang="en-US" altLang="zh-CN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运控测试组</a:t>
            </a:r>
          </a:p>
        </p:txBody>
      </p:sp>
      <p:sp>
        <p:nvSpPr>
          <p:cNvPr id="185" name="panel0-s">
            <a:extLst>
              <a:ext uri="{FF2B5EF4-FFF2-40B4-BE49-F238E27FC236}">
                <a16:creationId xmlns:a16="http://schemas.microsoft.com/office/drawing/2014/main" id="{CC3F368A-D602-FA9B-11BD-39447A80B3C8}"/>
              </a:ext>
            </a:extLst>
          </p:cNvPr>
          <p:cNvSpPr txBox="1"/>
          <p:nvPr/>
        </p:nvSpPr>
        <p:spPr>
          <a:xfrm>
            <a:off x="586740" y="4851400"/>
            <a:ext cx="27559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71828A"/>
                </a:solidFill>
                <a:latin typeface="Microsoft YaHei" panose="020B0503020204020204" pitchFamily="34" charset="-122"/>
              </a:rPr>
              <a:t>各维度目标 </a:t>
            </a:r>
            <a:r>
              <a:rPr lang="en-US" altLang="zh-CN" sz="600">
                <a:solidFill>
                  <a:srgbClr val="71828A"/>
                </a:solidFill>
                <a:latin typeface="Microsoft YaHei" panose="020B0503020204020204" pitchFamily="34" charset="-122"/>
              </a:rPr>
              <a:t>3.0</a:t>
            </a:r>
            <a:endParaRPr lang="zh-CN" altLang="en-US" sz="600">
              <a:solidFill>
                <a:srgbClr val="71828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6" name="panel1">
            <a:extLst>
              <a:ext uri="{FF2B5EF4-FFF2-40B4-BE49-F238E27FC236}">
                <a16:creationId xmlns:a16="http://schemas.microsoft.com/office/drawing/2014/main" id="{6DFC2EF8-A6F7-E7B1-B221-43C18F660EE2}"/>
              </a:ext>
            </a:extLst>
          </p:cNvPr>
          <p:cNvSpPr/>
          <p:nvPr/>
        </p:nvSpPr>
        <p:spPr>
          <a:xfrm>
            <a:off x="3454400" y="4673600"/>
            <a:ext cx="2628900" cy="1861820"/>
          </a:xfrm>
          <a:prstGeom prst="rect">
            <a:avLst/>
          </a:prstGeom>
          <a:solidFill>
            <a:srgbClr val="F5F7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panel1-top">
            <a:extLst>
              <a:ext uri="{FF2B5EF4-FFF2-40B4-BE49-F238E27FC236}">
                <a16:creationId xmlns:a16="http://schemas.microsoft.com/office/drawing/2014/main" id="{EF2B91C4-8F11-8B3D-C0C0-A40D60E002A8}"/>
              </a:ext>
            </a:extLst>
          </p:cNvPr>
          <p:cNvSpPr/>
          <p:nvPr/>
        </p:nvSpPr>
        <p:spPr>
          <a:xfrm>
            <a:off x="3454400" y="4673600"/>
            <a:ext cx="2628900" cy="25400"/>
          </a:xfrm>
          <a:prstGeom prst="rect">
            <a:avLst/>
          </a:prstGeom>
          <a:solidFill>
            <a:srgbClr val="8398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panel1-h">
            <a:extLst>
              <a:ext uri="{FF2B5EF4-FFF2-40B4-BE49-F238E27FC236}">
                <a16:creationId xmlns:a16="http://schemas.microsoft.com/office/drawing/2014/main" id="{A055FABE-51E1-D2AC-9F79-9514CE76A9C2}"/>
              </a:ext>
            </a:extLst>
          </p:cNvPr>
          <p:cNvSpPr txBox="1"/>
          <p:nvPr/>
        </p:nvSpPr>
        <p:spPr>
          <a:xfrm>
            <a:off x="3505200" y="4711700"/>
            <a:ext cx="25273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部门视角 </a:t>
            </a:r>
            <a:r>
              <a:rPr lang="en-US" altLang="zh-CN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驱动测试部</a:t>
            </a:r>
          </a:p>
        </p:txBody>
      </p:sp>
      <p:sp>
        <p:nvSpPr>
          <p:cNvPr id="189" name="panel1-s">
            <a:extLst>
              <a:ext uri="{FF2B5EF4-FFF2-40B4-BE49-F238E27FC236}">
                <a16:creationId xmlns:a16="http://schemas.microsoft.com/office/drawing/2014/main" id="{95CFD5EB-60E1-1803-0ABD-56C8C20751B9}"/>
              </a:ext>
            </a:extLst>
          </p:cNvPr>
          <p:cNvSpPr txBox="1"/>
          <p:nvPr/>
        </p:nvSpPr>
        <p:spPr>
          <a:xfrm>
            <a:off x="3505200" y="4851400"/>
            <a:ext cx="25273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71828A"/>
                </a:solidFill>
                <a:latin typeface="Microsoft YaHei" panose="020B0503020204020204" pitchFamily="34" charset="-122"/>
              </a:rPr>
              <a:t>同部门科组对比</a:t>
            </a:r>
          </a:p>
        </p:txBody>
      </p:sp>
      <p:sp>
        <p:nvSpPr>
          <p:cNvPr id="190" name="panel2">
            <a:extLst>
              <a:ext uri="{FF2B5EF4-FFF2-40B4-BE49-F238E27FC236}">
                <a16:creationId xmlns:a16="http://schemas.microsoft.com/office/drawing/2014/main" id="{BDE2A904-8E77-9977-44FB-9A6092AC8428}"/>
              </a:ext>
            </a:extLst>
          </p:cNvPr>
          <p:cNvSpPr/>
          <p:nvPr/>
        </p:nvSpPr>
        <p:spPr>
          <a:xfrm>
            <a:off x="6144260" y="4673600"/>
            <a:ext cx="2781300" cy="1861820"/>
          </a:xfrm>
          <a:prstGeom prst="rect">
            <a:avLst/>
          </a:prstGeom>
          <a:solidFill>
            <a:srgbClr val="F5F7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panel2-top">
            <a:extLst>
              <a:ext uri="{FF2B5EF4-FFF2-40B4-BE49-F238E27FC236}">
                <a16:creationId xmlns:a16="http://schemas.microsoft.com/office/drawing/2014/main" id="{7D1431E8-17AE-1D55-745F-E22DBE4B516C}"/>
              </a:ext>
            </a:extLst>
          </p:cNvPr>
          <p:cNvSpPr/>
          <p:nvPr/>
        </p:nvSpPr>
        <p:spPr>
          <a:xfrm>
            <a:off x="6144260" y="4673600"/>
            <a:ext cx="2781300" cy="25400"/>
          </a:xfrm>
          <a:prstGeom prst="rect">
            <a:avLst/>
          </a:prstGeom>
          <a:solidFill>
            <a:srgbClr val="8298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panel2-h">
            <a:extLst>
              <a:ext uri="{FF2B5EF4-FFF2-40B4-BE49-F238E27FC236}">
                <a16:creationId xmlns:a16="http://schemas.microsoft.com/office/drawing/2014/main" id="{46F385AC-7C4C-E561-5586-C3DF633B878B}"/>
              </a:ext>
            </a:extLst>
          </p:cNvPr>
          <p:cNvSpPr txBox="1"/>
          <p:nvPr/>
        </p:nvSpPr>
        <p:spPr>
          <a:xfrm>
            <a:off x="6195060" y="4711700"/>
            <a:ext cx="26797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业务视角 </a:t>
            </a:r>
            <a:r>
              <a:rPr lang="en-US" altLang="zh-CN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伺服产品业务</a:t>
            </a:r>
          </a:p>
        </p:txBody>
      </p:sp>
      <p:sp>
        <p:nvSpPr>
          <p:cNvPr id="193" name="panel2-s">
            <a:extLst>
              <a:ext uri="{FF2B5EF4-FFF2-40B4-BE49-F238E27FC236}">
                <a16:creationId xmlns:a16="http://schemas.microsoft.com/office/drawing/2014/main" id="{92B25684-7904-9A10-2FB2-7C84EFA72C86}"/>
              </a:ext>
            </a:extLst>
          </p:cNvPr>
          <p:cNvSpPr txBox="1"/>
          <p:nvPr/>
        </p:nvSpPr>
        <p:spPr>
          <a:xfrm>
            <a:off x="6195060" y="4851400"/>
            <a:ext cx="26797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71828A"/>
                </a:solidFill>
                <a:latin typeface="Microsoft YaHei" panose="020B0503020204020204" pitchFamily="34" charset="-122"/>
              </a:rPr>
              <a:t>六领域对比</a:t>
            </a:r>
          </a:p>
        </p:txBody>
      </p:sp>
      <p:sp>
        <p:nvSpPr>
          <p:cNvPr id="194" name="panel3">
            <a:extLst>
              <a:ext uri="{FF2B5EF4-FFF2-40B4-BE49-F238E27FC236}">
                <a16:creationId xmlns:a16="http://schemas.microsoft.com/office/drawing/2014/main" id="{DF884916-E34A-E9DA-4F31-B982AF7D64F7}"/>
              </a:ext>
            </a:extLst>
          </p:cNvPr>
          <p:cNvSpPr/>
          <p:nvPr/>
        </p:nvSpPr>
        <p:spPr>
          <a:xfrm>
            <a:off x="8986520" y="4673600"/>
            <a:ext cx="2730500" cy="1861820"/>
          </a:xfrm>
          <a:prstGeom prst="rect">
            <a:avLst/>
          </a:prstGeom>
          <a:solidFill>
            <a:srgbClr val="F5F7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panel3-top">
            <a:extLst>
              <a:ext uri="{FF2B5EF4-FFF2-40B4-BE49-F238E27FC236}">
                <a16:creationId xmlns:a16="http://schemas.microsoft.com/office/drawing/2014/main" id="{2A58010F-9732-DA84-B909-BE1B038ACDF4}"/>
              </a:ext>
            </a:extLst>
          </p:cNvPr>
          <p:cNvSpPr/>
          <p:nvPr/>
        </p:nvSpPr>
        <p:spPr>
          <a:xfrm>
            <a:off x="8986520" y="4673600"/>
            <a:ext cx="2730500" cy="25400"/>
          </a:xfrm>
          <a:prstGeom prst="rect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panel3-h">
            <a:extLst>
              <a:ext uri="{FF2B5EF4-FFF2-40B4-BE49-F238E27FC236}">
                <a16:creationId xmlns:a16="http://schemas.microsoft.com/office/drawing/2014/main" id="{AE6418DC-F9FA-6277-246D-D6BA063243F2}"/>
              </a:ext>
            </a:extLst>
          </p:cNvPr>
          <p:cNvSpPr txBox="1"/>
          <p:nvPr/>
        </p:nvSpPr>
        <p:spPr>
          <a:xfrm>
            <a:off x="9037320" y="4711700"/>
            <a:ext cx="26289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改进建议 </a:t>
            </a:r>
            <a:r>
              <a:rPr lang="en-US" altLang="zh-CN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预计 </a:t>
            </a:r>
            <a:r>
              <a:rPr lang="en-US" altLang="zh-CN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12 </a:t>
            </a:r>
            <a:r>
              <a:rPr lang="zh-CN" altLang="en-US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月达到 </a:t>
            </a:r>
            <a:r>
              <a:rPr lang="en-US" altLang="zh-CN" sz="800" b="1">
                <a:solidFill>
                  <a:srgbClr val="294858"/>
                </a:solidFill>
                <a:latin typeface="Microsoft YaHei" panose="020B0503020204020204" pitchFamily="34" charset="-122"/>
              </a:rPr>
              <a:t>3.0+</a:t>
            </a:r>
            <a:endParaRPr lang="zh-CN" altLang="en-US" sz="800" b="1">
              <a:solidFill>
                <a:srgbClr val="29485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7" name="radar-outer">
            <a:extLst>
              <a:ext uri="{FF2B5EF4-FFF2-40B4-BE49-F238E27FC236}">
                <a16:creationId xmlns:a16="http://schemas.microsoft.com/office/drawing/2014/main" id="{4634C318-351F-A136-2852-E0A8FA9ADEA6}"/>
              </a:ext>
            </a:extLst>
          </p:cNvPr>
          <p:cNvSpPr/>
          <p:nvPr/>
        </p:nvSpPr>
        <p:spPr>
          <a:xfrm>
            <a:off x="1263943" y="5147521"/>
            <a:ext cx="931595" cy="949118"/>
          </a:xfrm>
          <a:custGeom>
            <a:avLst/>
            <a:gdLst/>
            <a:ahLst/>
            <a:cxnLst/>
            <a:rect l="0" t="0" r="0" b="0"/>
            <a:pathLst>
              <a:path w="931595" h="949118">
                <a:moveTo>
                  <a:pt x="462671" y="0"/>
                </a:moveTo>
                <a:lnTo>
                  <a:pt x="931594" y="358408"/>
                </a:lnTo>
                <a:lnTo>
                  <a:pt x="750277" y="949117"/>
                </a:lnTo>
                <a:lnTo>
                  <a:pt x="175065" y="949117"/>
                </a:lnTo>
                <a:lnTo>
                  <a:pt x="0" y="358408"/>
                </a:lnTo>
                <a:close/>
              </a:path>
            </a:pathLst>
          </a:custGeom>
          <a:noFill/>
          <a:ln w="9525" cap="flat" cmpd="sng" algn="ctr">
            <a:solidFill>
              <a:srgbClr val="D2DCD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radar-inner">
            <a:extLst>
              <a:ext uri="{FF2B5EF4-FFF2-40B4-BE49-F238E27FC236}">
                <a16:creationId xmlns:a16="http://schemas.microsoft.com/office/drawing/2014/main" id="{AB92BF2D-D36E-8FD4-9478-A614080E4228}"/>
              </a:ext>
            </a:extLst>
          </p:cNvPr>
          <p:cNvSpPr/>
          <p:nvPr/>
        </p:nvSpPr>
        <p:spPr>
          <a:xfrm>
            <a:off x="1526540" y="5413008"/>
            <a:ext cx="393896" cy="398232"/>
          </a:xfrm>
          <a:custGeom>
            <a:avLst/>
            <a:gdLst/>
            <a:ahLst/>
            <a:cxnLst/>
            <a:rect l="0" t="0" r="0" b="0"/>
            <a:pathLst>
              <a:path w="393896" h="398232">
                <a:moveTo>
                  <a:pt x="200074" y="0"/>
                </a:moveTo>
                <a:lnTo>
                  <a:pt x="393895" y="146018"/>
                </a:lnTo>
                <a:lnTo>
                  <a:pt x="325120" y="398231"/>
                </a:lnTo>
                <a:lnTo>
                  <a:pt x="75028" y="398231"/>
                </a:lnTo>
                <a:lnTo>
                  <a:pt x="0" y="146018"/>
                </a:lnTo>
                <a:close/>
              </a:path>
            </a:pathLst>
          </a:custGeom>
          <a:noFill/>
          <a:ln w="9525" cap="flat" cmpd="sng" algn="ctr">
            <a:solidFill>
              <a:srgbClr val="DCE4E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radar-gold">
            <a:extLst>
              <a:ext uri="{FF2B5EF4-FFF2-40B4-BE49-F238E27FC236}">
                <a16:creationId xmlns:a16="http://schemas.microsoft.com/office/drawing/2014/main" id="{BC90443A-4190-87A6-8C2F-9799012368DA}"/>
              </a:ext>
            </a:extLst>
          </p:cNvPr>
          <p:cNvSpPr/>
          <p:nvPr/>
        </p:nvSpPr>
        <p:spPr>
          <a:xfrm>
            <a:off x="1395242" y="5280264"/>
            <a:ext cx="662745" cy="676994"/>
          </a:xfrm>
          <a:custGeom>
            <a:avLst/>
            <a:gdLst/>
            <a:ahLst/>
            <a:cxnLst/>
            <a:rect l="0" t="0" r="0" b="0"/>
            <a:pathLst>
              <a:path w="662745" h="676994">
                <a:moveTo>
                  <a:pt x="331372" y="0"/>
                </a:moveTo>
                <a:lnTo>
                  <a:pt x="662744" y="252213"/>
                </a:lnTo>
                <a:lnTo>
                  <a:pt x="537698" y="676993"/>
                </a:lnTo>
                <a:lnTo>
                  <a:pt x="125046" y="676993"/>
                </a:lnTo>
                <a:lnTo>
                  <a:pt x="0" y="252213"/>
                </a:lnTo>
                <a:close/>
              </a:path>
            </a:pathLst>
          </a:custGeom>
          <a:noFill/>
          <a:ln w="15240" cap="flat" cmpd="sng" algn="ctr">
            <a:solidFill>
              <a:srgbClr val="B49A69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0" name="radar-spk0">
            <a:extLst>
              <a:ext uri="{FF2B5EF4-FFF2-40B4-BE49-F238E27FC236}">
                <a16:creationId xmlns:a16="http://schemas.microsoft.com/office/drawing/2014/main" id="{646BB2E9-016E-6D86-3BCF-B601FA89E994}"/>
              </a:ext>
            </a:extLst>
          </p:cNvPr>
          <p:cNvCxnSpPr/>
          <p:nvPr/>
        </p:nvCxnSpPr>
        <p:spPr>
          <a:xfrm flipV="1">
            <a:off x="1726614" y="5147521"/>
            <a:ext cx="0" cy="511063"/>
          </a:xfrm>
          <a:prstGeom prst="line">
            <a:avLst/>
          </a:prstGeom>
          <a:ln w="8890">
            <a:solidFill>
              <a:srgbClr val="D2DC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radar-spk1">
            <a:extLst>
              <a:ext uri="{FF2B5EF4-FFF2-40B4-BE49-F238E27FC236}">
                <a16:creationId xmlns:a16="http://schemas.microsoft.com/office/drawing/2014/main" id="{B34E10D8-0F65-7183-43C3-4284A98D1243}"/>
              </a:ext>
            </a:extLst>
          </p:cNvPr>
          <p:cNvCxnSpPr/>
          <p:nvPr/>
        </p:nvCxnSpPr>
        <p:spPr>
          <a:xfrm flipV="1">
            <a:off x="1726614" y="5505929"/>
            <a:ext cx="468923" cy="152655"/>
          </a:xfrm>
          <a:prstGeom prst="line">
            <a:avLst/>
          </a:prstGeom>
          <a:ln w="8890">
            <a:solidFill>
              <a:srgbClr val="D2DC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radar-spk2">
            <a:extLst>
              <a:ext uri="{FF2B5EF4-FFF2-40B4-BE49-F238E27FC236}">
                <a16:creationId xmlns:a16="http://schemas.microsoft.com/office/drawing/2014/main" id="{272A5ABA-7B2A-D9C4-04AB-35763A4309B4}"/>
              </a:ext>
            </a:extLst>
          </p:cNvPr>
          <p:cNvCxnSpPr/>
          <p:nvPr/>
        </p:nvCxnSpPr>
        <p:spPr>
          <a:xfrm>
            <a:off x="1726614" y="5658584"/>
            <a:ext cx="287606" cy="438054"/>
          </a:xfrm>
          <a:prstGeom prst="line">
            <a:avLst/>
          </a:prstGeom>
          <a:ln w="8890">
            <a:solidFill>
              <a:srgbClr val="D2DC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radar-spk3">
            <a:extLst>
              <a:ext uri="{FF2B5EF4-FFF2-40B4-BE49-F238E27FC236}">
                <a16:creationId xmlns:a16="http://schemas.microsoft.com/office/drawing/2014/main" id="{E488F809-44A6-1027-0C6C-F1E0946DBF7C}"/>
              </a:ext>
            </a:extLst>
          </p:cNvPr>
          <p:cNvCxnSpPr/>
          <p:nvPr/>
        </p:nvCxnSpPr>
        <p:spPr>
          <a:xfrm flipH="1">
            <a:off x="1439008" y="5658584"/>
            <a:ext cx="287606" cy="438054"/>
          </a:xfrm>
          <a:prstGeom prst="line">
            <a:avLst/>
          </a:prstGeom>
          <a:ln w="8890">
            <a:solidFill>
              <a:srgbClr val="D2DC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radar-spk4">
            <a:extLst>
              <a:ext uri="{FF2B5EF4-FFF2-40B4-BE49-F238E27FC236}">
                <a16:creationId xmlns:a16="http://schemas.microsoft.com/office/drawing/2014/main" id="{A0B1E722-7CF0-EC50-3752-0FE8A8E2A706}"/>
              </a:ext>
            </a:extLst>
          </p:cNvPr>
          <p:cNvCxnSpPr/>
          <p:nvPr/>
        </p:nvCxnSpPr>
        <p:spPr>
          <a:xfrm flipH="1" flipV="1">
            <a:off x="1263943" y="5505929"/>
            <a:ext cx="462671" cy="152655"/>
          </a:xfrm>
          <a:prstGeom prst="line">
            <a:avLst/>
          </a:prstGeom>
          <a:ln w="8890">
            <a:solidFill>
              <a:srgbClr val="D2DC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radar-data">
            <a:extLst>
              <a:ext uri="{FF2B5EF4-FFF2-40B4-BE49-F238E27FC236}">
                <a16:creationId xmlns:a16="http://schemas.microsoft.com/office/drawing/2014/main" id="{3133210D-4310-933A-6C7B-767DC435C4ED}"/>
              </a:ext>
            </a:extLst>
          </p:cNvPr>
          <p:cNvSpPr/>
          <p:nvPr/>
        </p:nvSpPr>
        <p:spPr>
          <a:xfrm>
            <a:off x="1370232" y="5233804"/>
            <a:ext cx="643989" cy="769915"/>
          </a:xfrm>
          <a:custGeom>
            <a:avLst/>
            <a:gdLst/>
            <a:ahLst/>
            <a:cxnLst/>
            <a:rect l="0" t="0" r="0" b="0"/>
            <a:pathLst>
              <a:path w="643989" h="769915">
                <a:moveTo>
                  <a:pt x="356382" y="0"/>
                </a:moveTo>
                <a:lnTo>
                  <a:pt x="643988" y="318585"/>
                </a:lnTo>
                <a:lnTo>
                  <a:pt x="587717" y="769914"/>
                </a:lnTo>
                <a:lnTo>
                  <a:pt x="181317" y="696905"/>
                </a:lnTo>
                <a:lnTo>
                  <a:pt x="0" y="318585"/>
                </a:lnTo>
                <a:close/>
              </a:path>
            </a:pathLst>
          </a:custGeom>
          <a:solidFill>
            <a:srgbClr val="6F9D96">
              <a:alpha val="22000"/>
            </a:srgbClr>
          </a:solidFill>
          <a:ln w="19050">
            <a:solidFill>
              <a:srgbClr val="1683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radar-pt0">
            <a:extLst>
              <a:ext uri="{FF2B5EF4-FFF2-40B4-BE49-F238E27FC236}">
                <a16:creationId xmlns:a16="http://schemas.microsoft.com/office/drawing/2014/main" id="{47DF4158-78CE-8A45-30D7-3C861BA64F1F}"/>
              </a:ext>
            </a:extLst>
          </p:cNvPr>
          <p:cNvSpPr/>
          <p:nvPr/>
        </p:nvSpPr>
        <p:spPr>
          <a:xfrm>
            <a:off x="1703754" y="5210944"/>
            <a:ext cx="45720" cy="45720"/>
          </a:xfrm>
          <a:prstGeom prst="ellipse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radar-pt1">
            <a:extLst>
              <a:ext uri="{FF2B5EF4-FFF2-40B4-BE49-F238E27FC236}">
                <a16:creationId xmlns:a16="http://schemas.microsoft.com/office/drawing/2014/main" id="{667A990E-43BD-15D5-FD53-8E414706B7C7}"/>
              </a:ext>
            </a:extLst>
          </p:cNvPr>
          <p:cNvSpPr/>
          <p:nvPr/>
        </p:nvSpPr>
        <p:spPr>
          <a:xfrm>
            <a:off x="1991360" y="5529529"/>
            <a:ext cx="45720" cy="45720"/>
          </a:xfrm>
          <a:prstGeom prst="ellipse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radar-pt2">
            <a:extLst>
              <a:ext uri="{FF2B5EF4-FFF2-40B4-BE49-F238E27FC236}">
                <a16:creationId xmlns:a16="http://schemas.microsoft.com/office/drawing/2014/main" id="{C90AF284-F842-FC3D-CCA9-E5BC5939B71C}"/>
              </a:ext>
            </a:extLst>
          </p:cNvPr>
          <p:cNvSpPr/>
          <p:nvPr/>
        </p:nvSpPr>
        <p:spPr>
          <a:xfrm>
            <a:off x="1935089" y="5980857"/>
            <a:ext cx="45720" cy="45720"/>
          </a:xfrm>
          <a:prstGeom prst="ellipse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radar-pt3">
            <a:extLst>
              <a:ext uri="{FF2B5EF4-FFF2-40B4-BE49-F238E27FC236}">
                <a16:creationId xmlns:a16="http://schemas.microsoft.com/office/drawing/2014/main" id="{4C0263BC-2267-A945-0D21-C27F05048796}"/>
              </a:ext>
            </a:extLst>
          </p:cNvPr>
          <p:cNvSpPr/>
          <p:nvPr/>
        </p:nvSpPr>
        <p:spPr>
          <a:xfrm>
            <a:off x="1528689" y="5907849"/>
            <a:ext cx="45720" cy="45720"/>
          </a:xfrm>
          <a:prstGeom prst="ellipse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radar-pt4">
            <a:extLst>
              <a:ext uri="{FF2B5EF4-FFF2-40B4-BE49-F238E27FC236}">
                <a16:creationId xmlns:a16="http://schemas.microsoft.com/office/drawing/2014/main" id="{2117E563-CCD2-D9BC-F6D9-B6D146DC326C}"/>
              </a:ext>
            </a:extLst>
          </p:cNvPr>
          <p:cNvSpPr/>
          <p:nvPr/>
        </p:nvSpPr>
        <p:spPr>
          <a:xfrm>
            <a:off x="1347372" y="5529529"/>
            <a:ext cx="45720" cy="45720"/>
          </a:xfrm>
          <a:prstGeom prst="ellipse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radar-l1">
            <a:extLst>
              <a:ext uri="{FF2B5EF4-FFF2-40B4-BE49-F238E27FC236}">
                <a16:creationId xmlns:a16="http://schemas.microsoft.com/office/drawing/2014/main" id="{66E59B82-D677-DFD0-433A-0EB9154F71ED}"/>
              </a:ext>
            </a:extLst>
          </p:cNvPr>
          <p:cNvSpPr txBox="1"/>
          <p:nvPr/>
        </p:nvSpPr>
        <p:spPr>
          <a:xfrm>
            <a:off x="1399540" y="4927600"/>
            <a:ext cx="7112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600">
                <a:solidFill>
                  <a:srgbClr val="526873"/>
                </a:solidFill>
                <a:latin typeface="Microsoft YaHei" panose="020B0503020204020204" pitchFamily="34" charset="-122"/>
              </a:rPr>
              <a:t>测试设计 </a:t>
            </a:r>
            <a:r>
              <a:rPr lang="en-US" altLang="zh-CN" sz="600">
                <a:solidFill>
                  <a:srgbClr val="526873"/>
                </a:solidFill>
                <a:latin typeface="Microsoft YaHei" panose="020B0503020204020204" pitchFamily="34" charset="-122"/>
              </a:rPr>
              <a:t>3.2</a:t>
            </a:r>
            <a:endParaRPr lang="zh-CN" altLang="en-US" sz="600">
              <a:solidFill>
                <a:srgbClr val="52687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2" name="radar-l2">
            <a:extLst>
              <a:ext uri="{FF2B5EF4-FFF2-40B4-BE49-F238E27FC236}">
                <a16:creationId xmlns:a16="http://schemas.microsoft.com/office/drawing/2014/main" id="{E3BB591C-405E-E416-8738-1E560131AE40}"/>
              </a:ext>
            </a:extLst>
          </p:cNvPr>
          <p:cNvSpPr txBox="1"/>
          <p:nvPr/>
        </p:nvSpPr>
        <p:spPr>
          <a:xfrm>
            <a:off x="2288540" y="5359400"/>
            <a:ext cx="6604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526873"/>
                </a:solidFill>
                <a:latin typeface="Microsoft YaHei" panose="020B0503020204020204" pitchFamily="34" charset="-122"/>
              </a:rPr>
              <a:t>自动化 </a:t>
            </a:r>
            <a:r>
              <a:rPr lang="en-US" altLang="zh-CN" sz="600">
                <a:solidFill>
                  <a:srgbClr val="526873"/>
                </a:solidFill>
                <a:latin typeface="Microsoft YaHei" panose="020B0503020204020204" pitchFamily="34" charset="-122"/>
              </a:rPr>
              <a:t>2.4</a:t>
            </a:r>
            <a:endParaRPr lang="zh-CN" altLang="en-US" sz="600">
              <a:solidFill>
                <a:srgbClr val="52687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3" name="radar-l3">
            <a:extLst>
              <a:ext uri="{FF2B5EF4-FFF2-40B4-BE49-F238E27FC236}">
                <a16:creationId xmlns:a16="http://schemas.microsoft.com/office/drawing/2014/main" id="{47871A65-0E3E-65D9-E0FC-77E51C324AE6}"/>
              </a:ext>
            </a:extLst>
          </p:cNvPr>
          <p:cNvSpPr txBox="1"/>
          <p:nvPr/>
        </p:nvSpPr>
        <p:spPr>
          <a:xfrm>
            <a:off x="1704340" y="6350000"/>
            <a:ext cx="7112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526873"/>
                </a:solidFill>
                <a:latin typeface="Microsoft YaHei" panose="020B0503020204020204" pitchFamily="34" charset="-122"/>
              </a:rPr>
              <a:t>测试执行 </a:t>
            </a:r>
            <a:r>
              <a:rPr lang="en-US" altLang="zh-CN" sz="600">
                <a:solidFill>
                  <a:srgbClr val="526873"/>
                </a:solidFill>
                <a:latin typeface="Microsoft YaHei" panose="020B0503020204020204" pitchFamily="34" charset="-122"/>
              </a:rPr>
              <a:t>3.1</a:t>
            </a:r>
            <a:endParaRPr lang="zh-CN" altLang="en-US" sz="600">
              <a:solidFill>
                <a:srgbClr val="52687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4" name="radar-l4">
            <a:extLst>
              <a:ext uri="{FF2B5EF4-FFF2-40B4-BE49-F238E27FC236}">
                <a16:creationId xmlns:a16="http://schemas.microsoft.com/office/drawing/2014/main" id="{3D6C3587-4909-2B39-E617-36D80F0FE136}"/>
              </a:ext>
            </a:extLst>
          </p:cNvPr>
          <p:cNvSpPr txBox="1"/>
          <p:nvPr/>
        </p:nvSpPr>
        <p:spPr>
          <a:xfrm>
            <a:off x="586740" y="6350000"/>
            <a:ext cx="6604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526873"/>
                </a:solidFill>
                <a:latin typeface="Microsoft YaHei" panose="020B0503020204020204" pitchFamily="34" charset="-122"/>
              </a:rPr>
              <a:t>测试方案 </a:t>
            </a:r>
            <a:r>
              <a:rPr lang="en-US" altLang="zh-CN" sz="600">
                <a:solidFill>
                  <a:srgbClr val="526873"/>
                </a:solidFill>
                <a:latin typeface="Microsoft YaHei" panose="020B0503020204020204" pitchFamily="34" charset="-122"/>
              </a:rPr>
              <a:t>2.2</a:t>
            </a:r>
            <a:endParaRPr lang="zh-CN" altLang="en-US" sz="600">
              <a:solidFill>
                <a:srgbClr val="52687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5" name="radar-l5">
            <a:extLst>
              <a:ext uri="{FF2B5EF4-FFF2-40B4-BE49-F238E27FC236}">
                <a16:creationId xmlns:a16="http://schemas.microsoft.com/office/drawing/2014/main" id="{1D527D8C-8101-2D0E-A8E7-83BBD60070A7}"/>
              </a:ext>
            </a:extLst>
          </p:cNvPr>
          <p:cNvSpPr txBox="1"/>
          <p:nvPr/>
        </p:nvSpPr>
        <p:spPr>
          <a:xfrm>
            <a:off x="586740" y="5359400"/>
            <a:ext cx="5334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526873"/>
                </a:solidFill>
                <a:latin typeface="Microsoft YaHei" panose="020B0503020204020204" pitchFamily="34" charset="-122"/>
              </a:rPr>
              <a:t>测试用例 </a:t>
            </a:r>
            <a:r>
              <a:rPr lang="en-US" altLang="zh-CN" sz="600">
                <a:solidFill>
                  <a:srgbClr val="526873"/>
                </a:solidFill>
                <a:latin typeface="Microsoft YaHei" panose="020B0503020204020204" pitchFamily="34" charset="-122"/>
              </a:rPr>
              <a:t>3.0</a:t>
            </a:r>
            <a:endParaRPr lang="zh-CN" altLang="en-US" sz="600">
              <a:solidFill>
                <a:srgbClr val="52687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6" name="radar-tgt">
            <a:extLst>
              <a:ext uri="{FF2B5EF4-FFF2-40B4-BE49-F238E27FC236}">
                <a16:creationId xmlns:a16="http://schemas.microsoft.com/office/drawing/2014/main" id="{EF39AD3B-F23D-FF27-0C1A-8F11AFB2F903}"/>
              </a:ext>
            </a:extLst>
          </p:cNvPr>
          <p:cNvSpPr txBox="1"/>
          <p:nvPr/>
        </p:nvSpPr>
        <p:spPr>
          <a:xfrm>
            <a:off x="1475740" y="5257800"/>
            <a:ext cx="5080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9B7840"/>
                </a:solidFill>
                <a:latin typeface="Microsoft YaHei" panose="020B0503020204020204" pitchFamily="34" charset="-122"/>
              </a:rPr>
              <a:t>目标 </a:t>
            </a:r>
            <a:r>
              <a:rPr lang="en-US" altLang="zh-CN" sz="600">
                <a:solidFill>
                  <a:srgbClr val="9B7840"/>
                </a:solidFill>
                <a:latin typeface="Microsoft YaHei" panose="020B0503020204020204" pitchFamily="34" charset="-122"/>
              </a:rPr>
              <a:t>3.0</a:t>
            </a:r>
            <a:endParaRPr lang="zh-CN" altLang="en-US" sz="600">
              <a:solidFill>
                <a:srgbClr val="9B784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7" name="diag0-b">
            <a:extLst>
              <a:ext uri="{FF2B5EF4-FFF2-40B4-BE49-F238E27FC236}">
                <a16:creationId xmlns:a16="http://schemas.microsoft.com/office/drawing/2014/main" id="{BE3F30DA-E0AC-FA76-9122-9F6A2B4C4876}"/>
              </a:ext>
            </a:extLst>
          </p:cNvPr>
          <p:cNvSpPr txBox="1"/>
          <p:nvPr/>
        </p:nvSpPr>
        <p:spPr>
          <a:xfrm>
            <a:off x="2440940" y="5134108"/>
            <a:ext cx="3048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达成</a:t>
            </a:r>
          </a:p>
        </p:txBody>
      </p:sp>
      <p:sp>
        <p:nvSpPr>
          <p:cNvPr id="218" name="diag0-s">
            <a:extLst>
              <a:ext uri="{FF2B5EF4-FFF2-40B4-BE49-F238E27FC236}">
                <a16:creationId xmlns:a16="http://schemas.microsoft.com/office/drawing/2014/main" id="{FC3C6499-98E2-F8D1-A7AF-CE99320808C6}"/>
              </a:ext>
            </a:extLst>
          </p:cNvPr>
          <p:cNvSpPr txBox="1"/>
          <p:nvPr/>
        </p:nvSpPr>
        <p:spPr>
          <a:xfrm>
            <a:off x="2745740" y="5087942"/>
            <a:ext cx="5969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600">
                <a:solidFill>
                  <a:srgbClr val="566D78"/>
                </a:solidFill>
                <a:latin typeface="Microsoft YaHei" panose="020B0503020204020204" pitchFamily="34" charset="-122"/>
              </a:rPr>
              <a:t>3 / 5 </a:t>
            </a:r>
            <a:r>
              <a:rPr lang="zh-CN" altLang="en-US" sz="600">
                <a:solidFill>
                  <a:srgbClr val="566D78"/>
                </a:solidFill>
                <a:latin typeface="Microsoft YaHei" panose="020B0503020204020204" pitchFamily="34" charset="-122"/>
              </a:rPr>
              <a:t>个维度达标</a:t>
            </a:r>
          </a:p>
        </p:txBody>
      </p:sp>
      <p:cxnSp>
        <p:nvCxnSpPr>
          <p:cNvPr id="219" name="diag-line0">
            <a:extLst>
              <a:ext uri="{FF2B5EF4-FFF2-40B4-BE49-F238E27FC236}">
                <a16:creationId xmlns:a16="http://schemas.microsoft.com/office/drawing/2014/main" id="{A246C389-FDBD-359A-4517-25423E9812CA}"/>
              </a:ext>
            </a:extLst>
          </p:cNvPr>
          <p:cNvCxnSpPr/>
          <p:nvPr/>
        </p:nvCxnSpPr>
        <p:spPr>
          <a:xfrm>
            <a:off x="2440940" y="5384800"/>
            <a:ext cx="876300" cy="0"/>
          </a:xfrm>
          <a:prstGeom prst="line">
            <a:avLst/>
          </a:prstGeom>
          <a:ln w="6350">
            <a:solidFill>
              <a:srgbClr val="D9E1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diag1-b">
            <a:extLst>
              <a:ext uri="{FF2B5EF4-FFF2-40B4-BE49-F238E27FC236}">
                <a16:creationId xmlns:a16="http://schemas.microsoft.com/office/drawing/2014/main" id="{250213FB-807D-5322-9A7D-82566F419B1C}"/>
              </a:ext>
            </a:extLst>
          </p:cNvPr>
          <p:cNvSpPr txBox="1"/>
          <p:nvPr/>
        </p:nvSpPr>
        <p:spPr>
          <a:xfrm>
            <a:off x="2440940" y="5464308"/>
            <a:ext cx="3048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优势</a:t>
            </a:r>
          </a:p>
        </p:txBody>
      </p:sp>
      <p:sp>
        <p:nvSpPr>
          <p:cNvPr id="221" name="diag1-s">
            <a:extLst>
              <a:ext uri="{FF2B5EF4-FFF2-40B4-BE49-F238E27FC236}">
                <a16:creationId xmlns:a16="http://schemas.microsoft.com/office/drawing/2014/main" id="{BB41421D-D19D-3478-2123-9DB2C993001B}"/>
              </a:ext>
            </a:extLst>
          </p:cNvPr>
          <p:cNvSpPr txBox="1"/>
          <p:nvPr/>
        </p:nvSpPr>
        <p:spPr>
          <a:xfrm>
            <a:off x="2745740" y="5418142"/>
            <a:ext cx="5969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>
                <a:solidFill>
                  <a:srgbClr val="566D78"/>
                </a:solidFill>
                <a:latin typeface="Microsoft YaHei" panose="020B0503020204020204" pitchFamily="34" charset="-122"/>
              </a:rPr>
              <a:t>测试设计、测试执行</a:t>
            </a:r>
          </a:p>
        </p:txBody>
      </p:sp>
      <p:cxnSp>
        <p:nvCxnSpPr>
          <p:cNvPr id="222" name="diag-line1">
            <a:extLst>
              <a:ext uri="{FF2B5EF4-FFF2-40B4-BE49-F238E27FC236}">
                <a16:creationId xmlns:a16="http://schemas.microsoft.com/office/drawing/2014/main" id="{C3001182-4EB9-E0A8-CDFC-F6A2CC8B4EA5}"/>
              </a:ext>
            </a:extLst>
          </p:cNvPr>
          <p:cNvCxnSpPr/>
          <p:nvPr/>
        </p:nvCxnSpPr>
        <p:spPr>
          <a:xfrm>
            <a:off x="2440940" y="5715000"/>
            <a:ext cx="876300" cy="0"/>
          </a:xfrm>
          <a:prstGeom prst="line">
            <a:avLst/>
          </a:prstGeom>
          <a:ln w="6350">
            <a:solidFill>
              <a:srgbClr val="D9E1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diag2-b">
            <a:extLst>
              <a:ext uri="{FF2B5EF4-FFF2-40B4-BE49-F238E27FC236}">
                <a16:creationId xmlns:a16="http://schemas.microsoft.com/office/drawing/2014/main" id="{F9DDB4DB-37ED-0C3E-C8CA-FE42DE553429}"/>
              </a:ext>
            </a:extLst>
          </p:cNvPr>
          <p:cNvSpPr txBox="1"/>
          <p:nvPr/>
        </p:nvSpPr>
        <p:spPr>
          <a:xfrm>
            <a:off x="2440940" y="5794508"/>
            <a:ext cx="3048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差距</a:t>
            </a:r>
          </a:p>
        </p:txBody>
      </p:sp>
      <p:sp>
        <p:nvSpPr>
          <p:cNvPr id="224" name="diag2-s">
            <a:extLst>
              <a:ext uri="{FF2B5EF4-FFF2-40B4-BE49-F238E27FC236}">
                <a16:creationId xmlns:a16="http://schemas.microsoft.com/office/drawing/2014/main" id="{A7A4DF19-5E80-7D85-E58E-CAFFF8F2F208}"/>
              </a:ext>
            </a:extLst>
          </p:cNvPr>
          <p:cNvSpPr txBox="1"/>
          <p:nvPr/>
        </p:nvSpPr>
        <p:spPr>
          <a:xfrm>
            <a:off x="2745740" y="5748342"/>
            <a:ext cx="5969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>
                <a:solidFill>
                  <a:srgbClr val="566D78"/>
                </a:solidFill>
                <a:latin typeface="Microsoft YaHei" panose="020B0503020204020204" pitchFamily="34" charset="-122"/>
              </a:rPr>
              <a:t>自动化 </a:t>
            </a:r>
            <a:r>
              <a:rPr lang="en-US" altLang="zh-CN" sz="600">
                <a:solidFill>
                  <a:srgbClr val="566D78"/>
                </a:solidFill>
                <a:latin typeface="Microsoft YaHei" panose="020B0503020204020204" pitchFamily="34" charset="-122"/>
              </a:rPr>
              <a:t>-0.6</a:t>
            </a:r>
            <a:r>
              <a:rPr lang="zh-CN" altLang="en-US" sz="600">
                <a:solidFill>
                  <a:srgbClr val="566D78"/>
                </a:solidFill>
                <a:latin typeface="Microsoft YaHei" panose="020B0503020204020204" pitchFamily="34" charset="-122"/>
              </a:rPr>
              <a:t>；方案 </a:t>
            </a:r>
            <a:r>
              <a:rPr lang="en-US" altLang="zh-CN" sz="600">
                <a:solidFill>
                  <a:srgbClr val="566D78"/>
                </a:solidFill>
                <a:latin typeface="Microsoft YaHei" panose="020B0503020204020204" pitchFamily="34" charset="-122"/>
              </a:rPr>
              <a:t>-0.8</a:t>
            </a:r>
            <a:endParaRPr lang="zh-CN" altLang="en-US" sz="600">
              <a:solidFill>
                <a:srgbClr val="566D78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25" name="diag-line2">
            <a:extLst>
              <a:ext uri="{FF2B5EF4-FFF2-40B4-BE49-F238E27FC236}">
                <a16:creationId xmlns:a16="http://schemas.microsoft.com/office/drawing/2014/main" id="{182758CC-3939-E9FF-30F3-070D9FFC2870}"/>
              </a:ext>
            </a:extLst>
          </p:cNvPr>
          <p:cNvCxnSpPr/>
          <p:nvPr/>
        </p:nvCxnSpPr>
        <p:spPr>
          <a:xfrm>
            <a:off x="2440940" y="6045200"/>
            <a:ext cx="876300" cy="0"/>
          </a:xfrm>
          <a:prstGeom prst="line">
            <a:avLst/>
          </a:prstGeom>
          <a:ln w="6350">
            <a:solidFill>
              <a:srgbClr val="D9E1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diag3-b">
            <a:extLst>
              <a:ext uri="{FF2B5EF4-FFF2-40B4-BE49-F238E27FC236}">
                <a16:creationId xmlns:a16="http://schemas.microsoft.com/office/drawing/2014/main" id="{9D089106-25FC-3FB0-20FF-42D516A0B527}"/>
              </a:ext>
            </a:extLst>
          </p:cNvPr>
          <p:cNvSpPr txBox="1"/>
          <p:nvPr/>
        </p:nvSpPr>
        <p:spPr>
          <a:xfrm>
            <a:off x="2440940" y="6170874"/>
            <a:ext cx="3048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 b="1">
                <a:solidFill>
                  <a:srgbClr val="176B65"/>
                </a:solidFill>
                <a:latin typeface="Microsoft YaHei" panose="020B0503020204020204" pitchFamily="34" charset="-122"/>
              </a:rPr>
              <a:t>当前分</a:t>
            </a:r>
          </a:p>
        </p:txBody>
      </p:sp>
      <p:sp>
        <p:nvSpPr>
          <p:cNvPr id="227" name="diag3-s">
            <a:extLst>
              <a:ext uri="{FF2B5EF4-FFF2-40B4-BE49-F238E27FC236}">
                <a16:creationId xmlns:a16="http://schemas.microsoft.com/office/drawing/2014/main" id="{81D83333-CAC2-B64E-8EED-5A759353828C}"/>
              </a:ext>
            </a:extLst>
          </p:cNvPr>
          <p:cNvSpPr txBox="1"/>
          <p:nvPr/>
        </p:nvSpPr>
        <p:spPr>
          <a:xfrm>
            <a:off x="2745740" y="6078542"/>
            <a:ext cx="5969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600">
                <a:solidFill>
                  <a:srgbClr val="566D78"/>
                </a:solidFill>
                <a:latin typeface="Microsoft YaHei" panose="020B0503020204020204" pitchFamily="34" charset="-122"/>
              </a:rPr>
              <a:t>2.62</a:t>
            </a:r>
            <a:r>
              <a:rPr lang="zh-CN" altLang="en-US" sz="600">
                <a:solidFill>
                  <a:srgbClr val="566D78"/>
                </a:solidFill>
                <a:latin typeface="Microsoft YaHei" panose="020B0503020204020204" pitchFamily="34" charset="-122"/>
              </a:rPr>
              <a:t>，需形成改进计划</a:t>
            </a:r>
          </a:p>
        </p:txBody>
      </p:sp>
      <p:sp>
        <p:nvSpPr>
          <p:cNvPr id="228" name="dept-leg1">
            <a:extLst>
              <a:ext uri="{FF2B5EF4-FFF2-40B4-BE49-F238E27FC236}">
                <a16:creationId xmlns:a16="http://schemas.microsoft.com/office/drawing/2014/main" id="{ED9595EE-CC82-5309-EA39-C2DBD3A66BD5}"/>
              </a:ext>
            </a:extLst>
          </p:cNvPr>
          <p:cNvSpPr txBox="1"/>
          <p:nvPr/>
        </p:nvSpPr>
        <p:spPr>
          <a:xfrm>
            <a:off x="4686300" y="4851400"/>
            <a:ext cx="6604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目标 </a:t>
            </a:r>
            <a:r>
              <a:rPr lang="en-US" altLang="zh-CN" sz="600">
                <a:solidFill>
                  <a:srgbClr val="657881"/>
                </a:solidFill>
                <a:latin typeface="Microsoft YaHei" panose="020B0503020204020204" pitchFamily="34" charset="-122"/>
              </a:rPr>
              <a:t>3.0</a:t>
            </a:r>
            <a:endParaRPr lang="zh-CN" altLang="en-US" sz="600">
              <a:solidFill>
                <a:srgbClr val="65788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9" name="dept-leg1k">
            <a:extLst>
              <a:ext uri="{FF2B5EF4-FFF2-40B4-BE49-F238E27FC236}">
                <a16:creationId xmlns:a16="http://schemas.microsoft.com/office/drawing/2014/main" id="{AA30F445-440D-ED0D-7EA3-1C044CF74F64}"/>
              </a:ext>
            </a:extLst>
          </p:cNvPr>
          <p:cNvSpPr/>
          <p:nvPr/>
        </p:nvSpPr>
        <p:spPr>
          <a:xfrm>
            <a:off x="4533900" y="4902200"/>
            <a:ext cx="101600" cy="15240"/>
          </a:xfrm>
          <a:prstGeom prst="rect">
            <a:avLst/>
          </a:prstGeom>
          <a:solidFill>
            <a:srgbClr val="B96E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dept-leg2">
            <a:extLst>
              <a:ext uri="{FF2B5EF4-FFF2-40B4-BE49-F238E27FC236}">
                <a16:creationId xmlns:a16="http://schemas.microsoft.com/office/drawing/2014/main" id="{EB9BB1E7-FE5F-11BC-DF0B-0D3EAE68D58A}"/>
              </a:ext>
            </a:extLst>
          </p:cNvPr>
          <p:cNvSpPr txBox="1"/>
          <p:nvPr/>
        </p:nvSpPr>
        <p:spPr>
          <a:xfrm>
            <a:off x="5346700" y="4851400"/>
            <a:ext cx="6858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部门均值 </a:t>
            </a:r>
            <a:r>
              <a:rPr lang="en-US" altLang="zh-CN" sz="600">
                <a:solidFill>
                  <a:srgbClr val="657881"/>
                </a:solidFill>
                <a:latin typeface="Microsoft YaHei" panose="020B0503020204020204" pitchFamily="34" charset="-122"/>
              </a:rPr>
              <a:t>2.82</a:t>
            </a:r>
            <a:endParaRPr lang="zh-CN" altLang="en-US" sz="600">
              <a:solidFill>
                <a:srgbClr val="65788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1" name="dept-leg2k">
            <a:extLst>
              <a:ext uri="{FF2B5EF4-FFF2-40B4-BE49-F238E27FC236}">
                <a16:creationId xmlns:a16="http://schemas.microsoft.com/office/drawing/2014/main" id="{72F6AB04-A314-5533-0A8B-FC8E157E6225}"/>
              </a:ext>
            </a:extLst>
          </p:cNvPr>
          <p:cNvSpPr/>
          <p:nvPr/>
        </p:nvSpPr>
        <p:spPr>
          <a:xfrm>
            <a:off x="5194300" y="4902200"/>
            <a:ext cx="101600" cy="15240"/>
          </a:xfrm>
          <a:prstGeom prst="rect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dept-plot">
            <a:extLst>
              <a:ext uri="{FF2B5EF4-FFF2-40B4-BE49-F238E27FC236}">
                <a16:creationId xmlns:a16="http://schemas.microsoft.com/office/drawing/2014/main" id="{7A237282-7C76-327D-0CE9-9A3F0ED78150}"/>
              </a:ext>
            </a:extLst>
          </p:cNvPr>
          <p:cNvSpPr/>
          <p:nvPr/>
        </p:nvSpPr>
        <p:spPr>
          <a:xfrm>
            <a:off x="3683000" y="5003800"/>
            <a:ext cx="2273300" cy="1117600"/>
          </a:xfrm>
          <a:prstGeom prst="rect">
            <a:avLst/>
          </a:prstGeom>
          <a:noFill/>
          <a:ln w="8890" cap="flat" cmpd="sng" algn="ctr">
            <a:solidFill>
              <a:srgbClr val="AAB9B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3" name="dept-g1">
            <a:extLst>
              <a:ext uri="{FF2B5EF4-FFF2-40B4-BE49-F238E27FC236}">
                <a16:creationId xmlns:a16="http://schemas.microsoft.com/office/drawing/2014/main" id="{35FD8F4F-9523-D21C-C7E8-C0B2555C1F9A}"/>
              </a:ext>
            </a:extLst>
          </p:cNvPr>
          <p:cNvCxnSpPr/>
          <p:nvPr/>
        </p:nvCxnSpPr>
        <p:spPr>
          <a:xfrm>
            <a:off x="3683000" y="5842000"/>
            <a:ext cx="2273300" cy="0"/>
          </a:xfrm>
          <a:prstGeom prst="line">
            <a:avLst/>
          </a:prstGeom>
          <a:ln w="6350">
            <a:solidFill>
              <a:srgbClr val="E0E7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dept-g2">
            <a:extLst>
              <a:ext uri="{FF2B5EF4-FFF2-40B4-BE49-F238E27FC236}">
                <a16:creationId xmlns:a16="http://schemas.microsoft.com/office/drawing/2014/main" id="{B29161BB-AEAE-E198-5E3F-CA4D9BF3F85F}"/>
              </a:ext>
            </a:extLst>
          </p:cNvPr>
          <p:cNvCxnSpPr/>
          <p:nvPr/>
        </p:nvCxnSpPr>
        <p:spPr>
          <a:xfrm>
            <a:off x="3683000" y="5562600"/>
            <a:ext cx="2273300" cy="0"/>
          </a:xfrm>
          <a:prstGeom prst="line">
            <a:avLst/>
          </a:prstGeom>
          <a:ln w="6350">
            <a:solidFill>
              <a:srgbClr val="E0E7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dept-g3">
            <a:extLst>
              <a:ext uri="{FF2B5EF4-FFF2-40B4-BE49-F238E27FC236}">
                <a16:creationId xmlns:a16="http://schemas.microsoft.com/office/drawing/2014/main" id="{7C5AB329-FE30-CD8F-8561-8CE81B17AB33}"/>
              </a:ext>
            </a:extLst>
          </p:cNvPr>
          <p:cNvCxnSpPr/>
          <p:nvPr/>
        </p:nvCxnSpPr>
        <p:spPr>
          <a:xfrm>
            <a:off x="3683000" y="5283200"/>
            <a:ext cx="2273300" cy="0"/>
          </a:xfrm>
          <a:prstGeom prst="line">
            <a:avLst/>
          </a:prstGeom>
          <a:ln w="6350">
            <a:solidFill>
              <a:srgbClr val="E0E7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dept-a4">
            <a:extLst>
              <a:ext uri="{FF2B5EF4-FFF2-40B4-BE49-F238E27FC236}">
                <a16:creationId xmlns:a16="http://schemas.microsoft.com/office/drawing/2014/main" id="{54FF17CC-9EFC-0FF5-5EEC-746B4263D970}"/>
              </a:ext>
            </a:extLst>
          </p:cNvPr>
          <p:cNvSpPr txBox="1"/>
          <p:nvPr/>
        </p:nvSpPr>
        <p:spPr>
          <a:xfrm>
            <a:off x="3479800" y="5003800"/>
            <a:ext cx="2032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600">
                <a:solidFill>
                  <a:srgbClr val="71828A"/>
                </a:solidFill>
                <a:latin typeface="Microsoft YaHei" panose="020B0503020204020204" pitchFamily="34" charset="-122"/>
              </a:rPr>
              <a:t>4</a:t>
            </a:r>
            <a:endParaRPr lang="zh-CN" altLang="en-US" sz="600">
              <a:solidFill>
                <a:srgbClr val="71828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7" name="dept-a3">
            <a:extLst>
              <a:ext uri="{FF2B5EF4-FFF2-40B4-BE49-F238E27FC236}">
                <a16:creationId xmlns:a16="http://schemas.microsoft.com/office/drawing/2014/main" id="{C098BA39-400E-C1FC-279A-6E79DF7C3B48}"/>
              </a:ext>
            </a:extLst>
          </p:cNvPr>
          <p:cNvSpPr txBox="1"/>
          <p:nvPr/>
        </p:nvSpPr>
        <p:spPr>
          <a:xfrm>
            <a:off x="3479800" y="5283200"/>
            <a:ext cx="2032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600">
                <a:solidFill>
                  <a:srgbClr val="71828A"/>
                </a:solidFill>
                <a:latin typeface="Microsoft YaHei" panose="020B0503020204020204" pitchFamily="34" charset="-122"/>
              </a:rPr>
              <a:t>3</a:t>
            </a:r>
            <a:endParaRPr lang="zh-CN" altLang="en-US" sz="600">
              <a:solidFill>
                <a:srgbClr val="71828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8" name="dept-a2">
            <a:extLst>
              <a:ext uri="{FF2B5EF4-FFF2-40B4-BE49-F238E27FC236}">
                <a16:creationId xmlns:a16="http://schemas.microsoft.com/office/drawing/2014/main" id="{DA23E881-4C26-A7CA-0E9A-6C47200F38BD}"/>
              </a:ext>
            </a:extLst>
          </p:cNvPr>
          <p:cNvSpPr txBox="1"/>
          <p:nvPr/>
        </p:nvSpPr>
        <p:spPr>
          <a:xfrm>
            <a:off x="3479800" y="5562600"/>
            <a:ext cx="2032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600">
                <a:solidFill>
                  <a:srgbClr val="71828A"/>
                </a:solidFill>
                <a:latin typeface="Microsoft YaHei" panose="020B0503020204020204" pitchFamily="34" charset="-122"/>
              </a:rPr>
              <a:t>2</a:t>
            </a:r>
            <a:endParaRPr lang="zh-CN" altLang="en-US" sz="600">
              <a:solidFill>
                <a:srgbClr val="71828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9" name="dept-a1">
            <a:extLst>
              <a:ext uri="{FF2B5EF4-FFF2-40B4-BE49-F238E27FC236}">
                <a16:creationId xmlns:a16="http://schemas.microsoft.com/office/drawing/2014/main" id="{6F2D7AB1-524A-5885-C002-F333BAC636A5}"/>
              </a:ext>
            </a:extLst>
          </p:cNvPr>
          <p:cNvSpPr txBox="1"/>
          <p:nvPr/>
        </p:nvSpPr>
        <p:spPr>
          <a:xfrm>
            <a:off x="3479800" y="5842000"/>
            <a:ext cx="2032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600">
                <a:solidFill>
                  <a:srgbClr val="71828A"/>
                </a:solidFill>
                <a:latin typeface="Microsoft YaHei" panose="020B0503020204020204" pitchFamily="34" charset="-122"/>
              </a:rPr>
              <a:t>1</a:t>
            </a:r>
            <a:endParaRPr lang="zh-CN" altLang="en-US" sz="600">
              <a:solidFill>
                <a:srgbClr val="71828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0" name="dept-a0">
            <a:extLst>
              <a:ext uri="{FF2B5EF4-FFF2-40B4-BE49-F238E27FC236}">
                <a16:creationId xmlns:a16="http://schemas.microsoft.com/office/drawing/2014/main" id="{DEC568B2-2CFD-E80B-8286-CB29B5DE25ED}"/>
              </a:ext>
            </a:extLst>
          </p:cNvPr>
          <p:cNvSpPr txBox="1"/>
          <p:nvPr/>
        </p:nvSpPr>
        <p:spPr>
          <a:xfrm>
            <a:off x="3479800" y="6019800"/>
            <a:ext cx="2032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600">
                <a:solidFill>
                  <a:srgbClr val="71828A"/>
                </a:solidFill>
                <a:latin typeface="Microsoft YaHei" panose="020B0503020204020204" pitchFamily="34" charset="-122"/>
              </a:rPr>
              <a:t>0</a:t>
            </a:r>
            <a:endParaRPr lang="zh-CN" altLang="en-US" sz="600">
              <a:solidFill>
                <a:srgbClr val="71828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41" name="dept-tline">
            <a:extLst>
              <a:ext uri="{FF2B5EF4-FFF2-40B4-BE49-F238E27FC236}">
                <a16:creationId xmlns:a16="http://schemas.microsoft.com/office/drawing/2014/main" id="{2B34C63F-B9CC-2065-75AD-338A988F413D}"/>
              </a:ext>
            </a:extLst>
          </p:cNvPr>
          <p:cNvCxnSpPr/>
          <p:nvPr/>
        </p:nvCxnSpPr>
        <p:spPr>
          <a:xfrm>
            <a:off x="3683000" y="5283200"/>
            <a:ext cx="2273300" cy="0"/>
          </a:xfrm>
          <a:prstGeom prst="line">
            <a:avLst/>
          </a:prstGeom>
          <a:ln w="16510">
            <a:solidFill>
              <a:srgbClr val="B96E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dept-tlab">
            <a:extLst>
              <a:ext uri="{FF2B5EF4-FFF2-40B4-BE49-F238E27FC236}">
                <a16:creationId xmlns:a16="http://schemas.microsoft.com/office/drawing/2014/main" id="{0FB00B9F-0FFB-4115-27F2-0EC4ADAB5315}"/>
              </a:ext>
            </a:extLst>
          </p:cNvPr>
          <p:cNvSpPr txBox="1"/>
          <p:nvPr/>
        </p:nvSpPr>
        <p:spPr>
          <a:xfrm>
            <a:off x="5676900" y="5156200"/>
            <a:ext cx="2540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600" b="1">
                <a:solidFill>
                  <a:srgbClr val="A55F55"/>
                </a:solidFill>
                <a:latin typeface="Microsoft YaHei" panose="020B0503020204020204" pitchFamily="34" charset="-122"/>
              </a:rPr>
              <a:t>3.0</a:t>
            </a:r>
            <a:endParaRPr lang="zh-CN" altLang="en-US" sz="600" b="1">
              <a:solidFill>
                <a:srgbClr val="A55F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43" name="dept-aline">
            <a:extLst>
              <a:ext uri="{FF2B5EF4-FFF2-40B4-BE49-F238E27FC236}">
                <a16:creationId xmlns:a16="http://schemas.microsoft.com/office/drawing/2014/main" id="{6297936C-5B86-11DA-6925-B6199F596053}"/>
              </a:ext>
            </a:extLst>
          </p:cNvPr>
          <p:cNvCxnSpPr/>
          <p:nvPr/>
        </p:nvCxnSpPr>
        <p:spPr>
          <a:xfrm>
            <a:off x="3683000" y="5333492"/>
            <a:ext cx="2273300" cy="0"/>
          </a:xfrm>
          <a:prstGeom prst="line">
            <a:avLst/>
          </a:prstGeom>
          <a:ln w="16510">
            <a:solidFill>
              <a:srgbClr val="1683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dept-alab">
            <a:extLst>
              <a:ext uri="{FF2B5EF4-FFF2-40B4-BE49-F238E27FC236}">
                <a16:creationId xmlns:a16="http://schemas.microsoft.com/office/drawing/2014/main" id="{1A218CD5-AE96-A0BD-6A35-FCAA61BB3425}"/>
              </a:ext>
            </a:extLst>
          </p:cNvPr>
          <p:cNvSpPr txBox="1"/>
          <p:nvPr/>
        </p:nvSpPr>
        <p:spPr>
          <a:xfrm>
            <a:off x="3708400" y="5346192"/>
            <a:ext cx="3048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600" b="1">
                <a:solidFill>
                  <a:srgbClr val="14766F"/>
                </a:solidFill>
                <a:latin typeface="Microsoft YaHei" panose="020B0503020204020204" pitchFamily="34" charset="-122"/>
              </a:rPr>
              <a:t>2.82</a:t>
            </a:r>
            <a:endParaRPr lang="zh-CN" altLang="en-US" sz="600" b="1">
              <a:solidFill>
                <a:srgbClr val="147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5" name="bar0">
            <a:extLst>
              <a:ext uri="{FF2B5EF4-FFF2-40B4-BE49-F238E27FC236}">
                <a16:creationId xmlns:a16="http://schemas.microsoft.com/office/drawing/2014/main" id="{9A1B7112-BA6E-4751-DBB6-B559CD43874D}"/>
              </a:ext>
            </a:extLst>
          </p:cNvPr>
          <p:cNvSpPr/>
          <p:nvPr/>
        </p:nvSpPr>
        <p:spPr>
          <a:xfrm>
            <a:off x="3966633" y="5389372"/>
            <a:ext cx="190500" cy="732028"/>
          </a:xfrm>
          <a:prstGeom prst="rect">
            <a:avLst/>
          </a:prstGeom>
          <a:solidFill>
            <a:srgbClr val="C5956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bar0-v">
            <a:extLst>
              <a:ext uri="{FF2B5EF4-FFF2-40B4-BE49-F238E27FC236}">
                <a16:creationId xmlns:a16="http://schemas.microsoft.com/office/drawing/2014/main" id="{7C1F5217-EFFC-7DA3-703F-57B2E6EF8CF5}"/>
              </a:ext>
            </a:extLst>
          </p:cNvPr>
          <p:cNvSpPr txBox="1"/>
          <p:nvPr/>
        </p:nvSpPr>
        <p:spPr>
          <a:xfrm>
            <a:off x="3890433" y="5249672"/>
            <a:ext cx="342900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700" b="1">
                <a:solidFill>
                  <a:srgbClr val="173650"/>
                </a:solidFill>
                <a:latin typeface="Microsoft YaHei" panose="020B0503020204020204" pitchFamily="34" charset="-122"/>
              </a:rPr>
              <a:t>2.62</a:t>
            </a:r>
            <a:endParaRPr lang="zh-CN" altLang="en-US" sz="700" b="1">
              <a:solidFill>
                <a:srgbClr val="1736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7" name="bar0-l">
            <a:extLst>
              <a:ext uri="{FF2B5EF4-FFF2-40B4-BE49-F238E27FC236}">
                <a16:creationId xmlns:a16="http://schemas.microsoft.com/office/drawing/2014/main" id="{6F3F573D-E89B-15C3-C057-078528EC5F8B}"/>
              </a:ext>
            </a:extLst>
          </p:cNvPr>
          <p:cNvSpPr txBox="1"/>
          <p:nvPr/>
        </p:nvSpPr>
        <p:spPr>
          <a:xfrm>
            <a:off x="3814233" y="6134100"/>
            <a:ext cx="4953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运控测试组</a:t>
            </a:r>
          </a:p>
        </p:txBody>
      </p:sp>
      <p:sp>
        <p:nvSpPr>
          <p:cNvPr id="248" name="bar1">
            <a:extLst>
              <a:ext uri="{FF2B5EF4-FFF2-40B4-BE49-F238E27FC236}">
                <a16:creationId xmlns:a16="http://schemas.microsoft.com/office/drawing/2014/main" id="{18AE60AA-3F87-FE7C-10F0-05EDA8543A4E}"/>
              </a:ext>
            </a:extLst>
          </p:cNvPr>
          <p:cNvSpPr/>
          <p:nvPr/>
        </p:nvSpPr>
        <p:spPr>
          <a:xfrm>
            <a:off x="4724400" y="5232908"/>
            <a:ext cx="190500" cy="888492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bar1-v">
            <a:extLst>
              <a:ext uri="{FF2B5EF4-FFF2-40B4-BE49-F238E27FC236}">
                <a16:creationId xmlns:a16="http://schemas.microsoft.com/office/drawing/2014/main" id="{2355A9F3-930B-060C-A552-48163FEA2E12}"/>
              </a:ext>
            </a:extLst>
          </p:cNvPr>
          <p:cNvSpPr txBox="1"/>
          <p:nvPr/>
        </p:nvSpPr>
        <p:spPr>
          <a:xfrm>
            <a:off x="4648200" y="5093208"/>
            <a:ext cx="342900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700" b="1">
                <a:solidFill>
                  <a:srgbClr val="173650"/>
                </a:solidFill>
                <a:latin typeface="Microsoft YaHei" panose="020B0503020204020204" pitchFamily="34" charset="-122"/>
              </a:rPr>
              <a:t>3.18</a:t>
            </a:r>
            <a:endParaRPr lang="zh-CN" altLang="en-US" sz="700" b="1">
              <a:solidFill>
                <a:srgbClr val="1736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0" name="bar1-l">
            <a:extLst>
              <a:ext uri="{FF2B5EF4-FFF2-40B4-BE49-F238E27FC236}">
                <a16:creationId xmlns:a16="http://schemas.microsoft.com/office/drawing/2014/main" id="{F761BCB7-176B-A2D7-CFBE-11678655E7C1}"/>
              </a:ext>
            </a:extLst>
          </p:cNvPr>
          <p:cNvSpPr txBox="1"/>
          <p:nvPr/>
        </p:nvSpPr>
        <p:spPr>
          <a:xfrm>
            <a:off x="4572000" y="6134100"/>
            <a:ext cx="4953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伺服测试组</a:t>
            </a:r>
          </a:p>
        </p:txBody>
      </p:sp>
      <p:sp>
        <p:nvSpPr>
          <p:cNvPr id="251" name="bar2">
            <a:extLst>
              <a:ext uri="{FF2B5EF4-FFF2-40B4-BE49-F238E27FC236}">
                <a16:creationId xmlns:a16="http://schemas.microsoft.com/office/drawing/2014/main" id="{EC760EC7-5672-3D64-E671-2CB24954E55F}"/>
              </a:ext>
            </a:extLst>
          </p:cNvPr>
          <p:cNvSpPr/>
          <p:nvPr/>
        </p:nvSpPr>
        <p:spPr>
          <a:xfrm>
            <a:off x="5482167" y="5378196"/>
            <a:ext cx="190500" cy="743204"/>
          </a:xfrm>
          <a:prstGeom prst="rect">
            <a:avLst/>
          </a:prstGeom>
          <a:solidFill>
            <a:srgbClr val="8298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bar2-v">
            <a:extLst>
              <a:ext uri="{FF2B5EF4-FFF2-40B4-BE49-F238E27FC236}">
                <a16:creationId xmlns:a16="http://schemas.microsoft.com/office/drawing/2014/main" id="{1B756775-22E5-5F0E-4924-2C62445EEFB4}"/>
              </a:ext>
            </a:extLst>
          </p:cNvPr>
          <p:cNvSpPr txBox="1"/>
          <p:nvPr/>
        </p:nvSpPr>
        <p:spPr>
          <a:xfrm>
            <a:off x="5405967" y="5238496"/>
            <a:ext cx="342900" cy="13337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700" b="1">
                <a:solidFill>
                  <a:srgbClr val="173650"/>
                </a:solidFill>
                <a:latin typeface="Microsoft YaHei" panose="020B0503020204020204" pitchFamily="34" charset="-122"/>
              </a:rPr>
              <a:t>2.66</a:t>
            </a:r>
            <a:endParaRPr lang="zh-CN" altLang="en-US" sz="700" b="1">
              <a:solidFill>
                <a:srgbClr val="1736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3" name="bar2-l">
            <a:extLst>
              <a:ext uri="{FF2B5EF4-FFF2-40B4-BE49-F238E27FC236}">
                <a16:creationId xmlns:a16="http://schemas.microsoft.com/office/drawing/2014/main" id="{DA700D9C-56AB-1BCB-23B5-0AE958379960}"/>
              </a:ext>
            </a:extLst>
          </p:cNvPr>
          <p:cNvSpPr txBox="1"/>
          <p:nvPr/>
        </p:nvSpPr>
        <p:spPr>
          <a:xfrm>
            <a:off x="5329767" y="6134100"/>
            <a:ext cx="4953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变频测试组</a:t>
            </a:r>
          </a:p>
        </p:txBody>
      </p:sp>
      <p:sp>
        <p:nvSpPr>
          <p:cNvPr id="254" name="dept-an">
            <a:extLst>
              <a:ext uri="{FF2B5EF4-FFF2-40B4-BE49-F238E27FC236}">
                <a16:creationId xmlns:a16="http://schemas.microsoft.com/office/drawing/2014/main" id="{45E7995A-CE39-287D-9E7E-6EEF5A01930F}"/>
              </a:ext>
            </a:extLst>
          </p:cNvPr>
          <p:cNvSpPr txBox="1"/>
          <p:nvPr/>
        </p:nvSpPr>
        <p:spPr>
          <a:xfrm>
            <a:off x="3505200" y="6332220"/>
            <a:ext cx="25273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现状分析：科组建设差距清晰可见，可定位同部门标杆。</a:t>
            </a:r>
          </a:p>
        </p:txBody>
      </p:sp>
      <p:sp>
        <p:nvSpPr>
          <p:cNvPr id="255" name="biz-leg1">
            <a:extLst>
              <a:ext uri="{FF2B5EF4-FFF2-40B4-BE49-F238E27FC236}">
                <a16:creationId xmlns:a16="http://schemas.microsoft.com/office/drawing/2014/main" id="{FA561A3C-2617-D9EF-3790-7839CA129991}"/>
              </a:ext>
            </a:extLst>
          </p:cNvPr>
          <p:cNvSpPr txBox="1"/>
          <p:nvPr/>
        </p:nvSpPr>
        <p:spPr>
          <a:xfrm>
            <a:off x="7655560" y="4851400"/>
            <a:ext cx="5588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伺服产品</a:t>
            </a:r>
          </a:p>
        </p:txBody>
      </p:sp>
      <p:sp>
        <p:nvSpPr>
          <p:cNvPr id="256" name="biz-dot1">
            <a:extLst>
              <a:ext uri="{FF2B5EF4-FFF2-40B4-BE49-F238E27FC236}">
                <a16:creationId xmlns:a16="http://schemas.microsoft.com/office/drawing/2014/main" id="{BA94FF44-F4C8-4B6A-946C-E39CCB49B7AD}"/>
              </a:ext>
            </a:extLst>
          </p:cNvPr>
          <p:cNvSpPr/>
          <p:nvPr/>
        </p:nvSpPr>
        <p:spPr>
          <a:xfrm>
            <a:off x="7528560" y="4889500"/>
            <a:ext cx="76200" cy="7620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biz-leg2">
            <a:extLst>
              <a:ext uri="{FF2B5EF4-FFF2-40B4-BE49-F238E27FC236}">
                <a16:creationId xmlns:a16="http://schemas.microsoft.com/office/drawing/2014/main" id="{226D372A-7088-9610-27D4-14D57F6653E9}"/>
              </a:ext>
            </a:extLst>
          </p:cNvPr>
          <p:cNvSpPr txBox="1"/>
          <p:nvPr/>
        </p:nvSpPr>
        <p:spPr>
          <a:xfrm>
            <a:off x="8265160" y="4851400"/>
            <a:ext cx="6350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同类业务均值</a:t>
            </a:r>
          </a:p>
        </p:txBody>
      </p:sp>
      <p:sp>
        <p:nvSpPr>
          <p:cNvPr id="258" name="biz-dot2">
            <a:extLst>
              <a:ext uri="{FF2B5EF4-FFF2-40B4-BE49-F238E27FC236}">
                <a16:creationId xmlns:a16="http://schemas.microsoft.com/office/drawing/2014/main" id="{7F661281-CA85-5F49-8C5F-412E327A1894}"/>
              </a:ext>
            </a:extLst>
          </p:cNvPr>
          <p:cNvSpPr/>
          <p:nvPr/>
        </p:nvSpPr>
        <p:spPr>
          <a:xfrm>
            <a:off x="8138160" y="4889500"/>
            <a:ext cx="76200" cy="76200"/>
          </a:xfrm>
          <a:prstGeom prst="rect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pr0-n">
            <a:extLst>
              <a:ext uri="{FF2B5EF4-FFF2-40B4-BE49-F238E27FC236}">
                <a16:creationId xmlns:a16="http://schemas.microsoft.com/office/drawing/2014/main" id="{1AAF4245-D56B-D851-EF09-A4F3D64CE228}"/>
              </a:ext>
            </a:extLst>
          </p:cNvPr>
          <p:cNvSpPr txBox="1"/>
          <p:nvPr/>
        </p:nvSpPr>
        <p:spPr>
          <a:xfrm>
            <a:off x="6195060" y="5062542"/>
            <a:ext cx="3556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软件</a:t>
            </a:r>
          </a:p>
        </p:txBody>
      </p:sp>
      <p:sp>
        <p:nvSpPr>
          <p:cNvPr id="260" name="pr0-bg">
            <a:extLst>
              <a:ext uri="{FF2B5EF4-FFF2-40B4-BE49-F238E27FC236}">
                <a16:creationId xmlns:a16="http://schemas.microsoft.com/office/drawing/2014/main" id="{E5F1F0ED-7D6B-C17D-0DD1-F7B9AD44F085}"/>
              </a:ext>
            </a:extLst>
          </p:cNvPr>
          <p:cNvSpPr/>
          <p:nvPr/>
        </p:nvSpPr>
        <p:spPr>
          <a:xfrm>
            <a:off x="6576060" y="5041900"/>
            <a:ext cx="2273300" cy="127000"/>
          </a:xfrm>
          <a:prstGeom prst="rect">
            <a:avLst/>
          </a:prstGeom>
          <a:solidFill>
            <a:srgbClr val="E2E7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pr0-a">
            <a:extLst>
              <a:ext uri="{FF2B5EF4-FFF2-40B4-BE49-F238E27FC236}">
                <a16:creationId xmlns:a16="http://schemas.microsoft.com/office/drawing/2014/main" id="{B7F46C79-8D4E-2AA4-AAC5-E219F84CA381}"/>
              </a:ext>
            </a:extLst>
          </p:cNvPr>
          <p:cNvSpPr/>
          <p:nvPr/>
        </p:nvSpPr>
        <p:spPr>
          <a:xfrm>
            <a:off x="6576060" y="5054600"/>
            <a:ext cx="1534478" cy="5080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r0-b">
            <a:extLst>
              <a:ext uri="{FF2B5EF4-FFF2-40B4-BE49-F238E27FC236}">
                <a16:creationId xmlns:a16="http://schemas.microsoft.com/office/drawing/2014/main" id="{19FD69A2-BD7E-5482-5691-CBED417A822C}"/>
              </a:ext>
            </a:extLst>
          </p:cNvPr>
          <p:cNvSpPr/>
          <p:nvPr/>
        </p:nvSpPr>
        <p:spPr>
          <a:xfrm>
            <a:off x="6576060" y="5118100"/>
            <a:ext cx="1648142" cy="50800"/>
          </a:xfrm>
          <a:prstGeom prst="rect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3" name="pr0-t">
            <a:extLst>
              <a:ext uri="{FF2B5EF4-FFF2-40B4-BE49-F238E27FC236}">
                <a16:creationId xmlns:a16="http://schemas.microsoft.com/office/drawing/2014/main" id="{5F457915-BB4D-9639-8177-498EDB19FEA1}"/>
              </a:ext>
            </a:extLst>
          </p:cNvPr>
          <p:cNvCxnSpPr/>
          <p:nvPr/>
        </p:nvCxnSpPr>
        <p:spPr>
          <a:xfrm>
            <a:off x="8281035" y="5041900"/>
            <a:ext cx="0" cy="127000"/>
          </a:xfrm>
          <a:prstGeom prst="line">
            <a:avLst/>
          </a:prstGeom>
          <a:ln w="8890">
            <a:solidFill>
              <a:srgbClr val="B96E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pr1-n">
            <a:extLst>
              <a:ext uri="{FF2B5EF4-FFF2-40B4-BE49-F238E27FC236}">
                <a16:creationId xmlns:a16="http://schemas.microsoft.com/office/drawing/2014/main" id="{807F5A3B-EF9D-7463-4EB7-A58C40764237}"/>
              </a:ext>
            </a:extLst>
          </p:cNvPr>
          <p:cNvSpPr txBox="1"/>
          <p:nvPr/>
        </p:nvSpPr>
        <p:spPr>
          <a:xfrm>
            <a:off x="6195060" y="5221292"/>
            <a:ext cx="3556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硬件</a:t>
            </a:r>
          </a:p>
        </p:txBody>
      </p:sp>
      <p:sp>
        <p:nvSpPr>
          <p:cNvPr id="265" name="pr1-bg">
            <a:extLst>
              <a:ext uri="{FF2B5EF4-FFF2-40B4-BE49-F238E27FC236}">
                <a16:creationId xmlns:a16="http://schemas.microsoft.com/office/drawing/2014/main" id="{475FC126-D2B4-0FD3-7CFB-1AF25DAAD905}"/>
              </a:ext>
            </a:extLst>
          </p:cNvPr>
          <p:cNvSpPr/>
          <p:nvPr/>
        </p:nvSpPr>
        <p:spPr>
          <a:xfrm>
            <a:off x="6576060" y="5200650"/>
            <a:ext cx="2273300" cy="127000"/>
          </a:xfrm>
          <a:prstGeom prst="rect">
            <a:avLst/>
          </a:prstGeom>
          <a:solidFill>
            <a:srgbClr val="E2E7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r1-a">
            <a:extLst>
              <a:ext uri="{FF2B5EF4-FFF2-40B4-BE49-F238E27FC236}">
                <a16:creationId xmlns:a16="http://schemas.microsoft.com/office/drawing/2014/main" id="{AD5285A6-68D4-64F0-C003-8B381B2ACE77}"/>
              </a:ext>
            </a:extLst>
          </p:cNvPr>
          <p:cNvSpPr/>
          <p:nvPr/>
        </p:nvSpPr>
        <p:spPr>
          <a:xfrm>
            <a:off x="6576060" y="5213350"/>
            <a:ext cx="1818640" cy="5080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r1-b">
            <a:extLst>
              <a:ext uri="{FF2B5EF4-FFF2-40B4-BE49-F238E27FC236}">
                <a16:creationId xmlns:a16="http://schemas.microsoft.com/office/drawing/2014/main" id="{222634D4-BE7B-38C9-1C04-EC41614A579D}"/>
              </a:ext>
            </a:extLst>
          </p:cNvPr>
          <p:cNvSpPr/>
          <p:nvPr/>
        </p:nvSpPr>
        <p:spPr>
          <a:xfrm>
            <a:off x="6576060" y="5276850"/>
            <a:ext cx="1591310" cy="50800"/>
          </a:xfrm>
          <a:prstGeom prst="rect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8" name="pr1-t">
            <a:extLst>
              <a:ext uri="{FF2B5EF4-FFF2-40B4-BE49-F238E27FC236}">
                <a16:creationId xmlns:a16="http://schemas.microsoft.com/office/drawing/2014/main" id="{D3F88949-1070-7AFF-7970-67F4C29B9422}"/>
              </a:ext>
            </a:extLst>
          </p:cNvPr>
          <p:cNvCxnSpPr/>
          <p:nvPr/>
        </p:nvCxnSpPr>
        <p:spPr>
          <a:xfrm>
            <a:off x="8281035" y="5200650"/>
            <a:ext cx="0" cy="127000"/>
          </a:xfrm>
          <a:prstGeom prst="line">
            <a:avLst/>
          </a:prstGeom>
          <a:ln w="8890">
            <a:solidFill>
              <a:srgbClr val="B96E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pr2-n">
            <a:extLst>
              <a:ext uri="{FF2B5EF4-FFF2-40B4-BE49-F238E27FC236}">
                <a16:creationId xmlns:a16="http://schemas.microsoft.com/office/drawing/2014/main" id="{5B11C9B9-51EB-FD6E-AF74-DDD54B13054F}"/>
              </a:ext>
            </a:extLst>
          </p:cNvPr>
          <p:cNvSpPr txBox="1"/>
          <p:nvPr/>
        </p:nvSpPr>
        <p:spPr>
          <a:xfrm>
            <a:off x="6195060" y="5380042"/>
            <a:ext cx="3556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机械</a:t>
            </a:r>
          </a:p>
        </p:txBody>
      </p:sp>
      <p:sp>
        <p:nvSpPr>
          <p:cNvPr id="270" name="pr2-bg">
            <a:extLst>
              <a:ext uri="{FF2B5EF4-FFF2-40B4-BE49-F238E27FC236}">
                <a16:creationId xmlns:a16="http://schemas.microsoft.com/office/drawing/2014/main" id="{FE06B475-A674-3A90-20AF-B700622B7FF2}"/>
              </a:ext>
            </a:extLst>
          </p:cNvPr>
          <p:cNvSpPr/>
          <p:nvPr/>
        </p:nvSpPr>
        <p:spPr>
          <a:xfrm>
            <a:off x="6576060" y="5359400"/>
            <a:ext cx="2273300" cy="127000"/>
          </a:xfrm>
          <a:prstGeom prst="rect">
            <a:avLst/>
          </a:prstGeom>
          <a:solidFill>
            <a:srgbClr val="E2E7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pr2-a">
            <a:extLst>
              <a:ext uri="{FF2B5EF4-FFF2-40B4-BE49-F238E27FC236}">
                <a16:creationId xmlns:a16="http://schemas.microsoft.com/office/drawing/2014/main" id="{0745AABB-9311-7149-E5EE-FCDBABDEB1A1}"/>
              </a:ext>
            </a:extLst>
          </p:cNvPr>
          <p:cNvSpPr/>
          <p:nvPr/>
        </p:nvSpPr>
        <p:spPr>
          <a:xfrm>
            <a:off x="6576060" y="5372100"/>
            <a:ext cx="1363980" cy="5080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pr2-b">
            <a:extLst>
              <a:ext uri="{FF2B5EF4-FFF2-40B4-BE49-F238E27FC236}">
                <a16:creationId xmlns:a16="http://schemas.microsoft.com/office/drawing/2014/main" id="{8EC4D87F-744A-81A5-37E3-4D79CC3B2865}"/>
              </a:ext>
            </a:extLst>
          </p:cNvPr>
          <p:cNvSpPr/>
          <p:nvPr/>
        </p:nvSpPr>
        <p:spPr>
          <a:xfrm>
            <a:off x="6576060" y="5435600"/>
            <a:ext cx="1534478" cy="50800"/>
          </a:xfrm>
          <a:prstGeom prst="rect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3" name="pr2-t">
            <a:extLst>
              <a:ext uri="{FF2B5EF4-FFF2-40B4-BE49-F238E27FC236}">
                <a16:creationId xmlns:a16="http://schemas.microsoft.com/office/drawing/2014/main" id="{CA340A48-708C-C605-60AA-6403385ADF92}"/>
              </a:ext>
            </a:extLst>
          </p:cNvPr>
          <p:cNvCxnSpPr/>
          <p:nvPr/>
        </p:nvCxnSpPr>
        <p:spPr>
          <a:xfrm>
            <a:off x="8281035" y="5359400"/>
            <a:ext cx="0" cy="127000"/>
          </a:xfrm>
          <a:prstGeom prst="line">
            <a:avLst/>
          </a:prstGeom>
          <a:ln w="8890">
            <a:solidFill>
              <a:srgbClr val="B96E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pr3-n">
            <a:extLst>
              <a:ext uri="{FF2B5EF4-FFF2-40B4-BE49-F238E27FC236}">
                <a16:creationId xmlns:a16="http://schemas.microsoft.com/office/drawing/2014/main" id="{50DB9480-65BB-9CBF-9C90-63FBF7CDBAD2}"/>
              </a:ext>
            </a:extLst>
          </p:cNvPr>
          <p:cNvSpPr txBox="1"/>
          <p:nvPr/>
        </p:nvSpPr>
        <p:spPr>
          <a:xfrm>
            <a:off x="6195060" y="5538792"/>
            <a:ext cx="3556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zh-CN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EMC</a:t>
            </a:r>
            <a:endParaRPr lang="zh-CN" altLang="en-US" sz="600" b="1">
              <a:solidFill>
                <a:srgbClr val="405B6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5" name="pr3-bg">
            <a:extLst>
              <a:ext uri="{FF2B5EF4-FFF2-40B4-BE49-F238E27FC236}">
                <a16:creationId xmlns:a16="http://schemas.microsoft.com/office/drawing/2014/main" id="{74E87ACF-59B9-AB54-BE77-81B65427E2EC}"/>
              </a:ext>
            </a:extLst>
          </p:cNvPr>
          <p:cNvSpPr/>
          <p:nvPr/>
        </p:nvSpPr>
        <p:spPr>
          <a:xfrm>
            <a:off x="6576060" y="5518150"/>
            <a:ext cx="2273300" cy="127000"/>
          </a:xfrm>
          <a:prstGeom prst="rect">
            <a:avLst/>
          </a:prstGeom>
          <a:solidFill>
            <a:srgbClr val="E2E7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pr3-a">
            <a:extLst>
              <a:ext uri="{FF2B5EF4-FFF2-40B4-BE49-F238E27FC236}">
                <a16:creationId xmlns:a16="http://schemas.microsoft.com/office/drawing/2014/main" id="{CF679C18-6F40-C03B-D630-F773206BC43D}"/>
              </a:ext>
            </a:extLst>
          </p:cNvPr>
          <p:cNvSpPr/>
          <p:nvPr/>
        </p:nvSpPr>
        <p:spPr>
          <a:xfrm>
            <a:off x="6576060" y="5530850"/>
            <a:ext cx="1761808" cy="5080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7" name="pr3-b">
            <a:extLst>
              <a:ext uri="{FF2B5EF4-FFF2-40B4-BE49-F238E27FC236}">
                <a16:creationId xmlns:a16="http://schemas.microsoft.com/office/drawing/2014/main" id="{ECF268AB-A2F6-0AD5-5DA1-88B6F6C1312C}"/>
              </a:ext>
            </a:extLst>
          </p:cNvPr>
          <p:cNvSpPr/>
          <p:nvPr/>
        </p:nvSpPr>
        <p:spPr>
          <a:xfrm>
            <a:off x="6576060" y="5594350"/>
            <a:ext cx="1648142" cy="50800"/>
          </a:xfrm>
          <a:prstGeom prst="rect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8" name="pr3-t">
            <a:extLst>
              <a:ext uri="{FF2B5EF4-FFF2-40B4-BE49-F238E27FC236}">
                <a16:creationId xmlns:a16="http://schemas.microsoft.com/office/drawing/2014/main" id="{73F08C33-62A7-B704-0D5C-320C9FD409D9}"/>
              </a:ext>
            </a:extLst>
          </p:cNvPr>
          <p:cNvCxnSpPr/>
          <p:nvPr/>
        </p:nvCxnSpPr>
        <p:spPr>
          <a:xfrm>
            <a:off x="8281035" y="5518150"/>
            <a:ext cx="0" cy="127000"/>
          </a:xfrm>
          <a:prstGeom prst="line">
            <a:avLst/>
          </a:prstGeom>
          <a:ln w="8890">
            <a:solidFill>
              <a:srgbClr val="B96E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pr4-n">
            <a:extLst>
              <a:ext uri="{FF2B5EF4-FFF2-40B4-BE49-F238E27FC236}">
                <a16:creationId xmlns:a16="http://schemas.microsoft.com/office/drawing/2014/main" id="{7F6671B3-2686-C63B-0BF8-4AABFAB73719}"/>
              </a:ext>
            </a:extLst>
          </p:cNvPr>
          <p:cNvSpPr txBox="1"/>
          <p:nvPr/>
        </p:nvSpPr>
        <p:spPr>
          <a:xfrm>
            <a:off x="6195060" y="5697542"/>
            <a:ext cx="3556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合规</a:t>
            </a:r>
          </a:p>
        </p:txBody>
      </p:sp>
      <p:sp>
        <p:nvSpPr>
          <p:cNvPr id="280" name="pr4-bg">
            <a:extLst>
              <a:ext uri="{FF2B5EF4-FFF2-40B4-BE49-F238E27FC236}">
                <a16:creationId xmlns:a16="http://schemas.microsoft.com/office/drawing/2014/main" id="{F615D44E-5DA1-7475-E9EF-9195EE22E607}"/>
              </a:ext>
            </a:extLst>
          </p:cNvPr>
          <p:cNvSpPr/>
          <p:nvPr/>
        </p:nvSpPr>
        <p:spPr>
          <a:xfrm>
            <a:off x="6576060" y="5676900"/>
            <a:ext cx="2273300" cy="127000"/>
          </a:xfrm>
          <a:prstGeom prst="rect">
            <a:avLst/>
          </a:prstGeom>
          <a:solidFill>
            <a:srgbClr val="E2E7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pr4-a">
            <a:extLst>
              <a:ext uri="{FF2B5EF4-FFF2-40B4-BE49-F238E27FC236}">
                <a16:creationId xmlns:a16="http://schemas.microsoft.com/office/drawing/2014/main" id="{B944C24E-559B-8219-71DD-13395F3FD876}"/>
              </a:ext>
            </a:extLst>
          </p:cNvPr>
          <p:cNvSpPr/>
          <p:nvPr/>
        </p:nvSpPr>
        <p:spPr>
          <a:xfrm>
            <a:off x="6576060" y="5689600"/>
            <a:ext cx="1591310" cy="5080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pr4-b">
            <a:extLst>
              <a:ext uri="{FF2B5EF4-FFF2-40B4-BE49-F238E27FC236}">
                <a16:creationId xmlns:a16="http://schemas.microsoft.com/office/drawing/2014/main" id="{6ADD8458-4AE5-1B83-17FC-A2F7C1D3405C}"/>
              </a:ext>
            </a:extLst>
          </p:cNvPr>
          <p:cNvSpPr/>
          <p:nvPr/>
        </p:nvSpPr>
        <p:spPr>
          <a:xfrm>
            <a:off x="6576060" y="5753100"/>
            <a:ext cx="1591310" cy="50800"/>
          </a:xfrm>
          <a:prstGeom prst="rect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3" name="pr4-t">
            <a:extLst>
              <a:ext uri="{FF2B5EF4-FFF2-40B4-BE49-F238E27FC236}">
                <a16:creationId xmlns:a16="http://schemas.microsoft.com/office/drawing/2014/main" id="{3256099C-7A74-1239-488A-63234D7FDBE0}"/>
              </a:ext>
            </a:extLst>
          </p:cNvPr>
          <p:cNvCxnSpPr/>
          <p:nvPr/>
        </p:nvCxnSpPr>
        <p:spPr>
          <a:xfrm>
            <a:off x="8281035" y="5676900"/>
            <a:ext cx="0" cy="127000"/>
          </a:xfrm>
          <a:prstGeom prst="line">
            <a:avLst/>
          </a:prstGeom>
          <a:ln w="8890">
            <a:solidFill>
              <a:srgbClr val="B96E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pr5-n">
            <a:extLst>
              <a:ext uri="{FF2B5EF4-FFF2-40B4-BE49-F238E27FC236}">
                <a16:creationId xmlns:a16="http://schemas.microsoft.com/office/drawing/2014/main" id="{AE31974D-B5AE-27A5-E4B2-648D7B14CC74}"/>
              </a:ext>
            </a:extLst>
          </p:cNvPr>
          <p:cNvSpPr txBox="1"/>
          <p:nvPr/>
        </p:nvSpPr>
        <p:spPr>
          <a:xfrm>
            <a:off x="6195060" y="5902458"/>
            <a:ext cx="3556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 b="1">
                <a:solidFill>
                  <a:srgbClr val="405B67"/>
                </a:solidFill>
                <a:latin typeface="Microsoft YaHei" panose="020B0503020204020204" pitchFamily="34" charset="-122"/>
              </a:rPr>
              <a:t>可靠性</a:t>
            </a:r>
          </a:p>
        </p:txBody>
      </p:sp>
      <p:sp>
        <p:nvSpPr>
          <p:cNvPr id="285" name="pr5-bg">
            <a:extLst>
              <a:ext uri="{FF2B5EF4-FFF2-40B4-BE49-F238E27FC236}">
                <a16:creationId xmlns:a16="http://schemas.microsoft.com/office/drawing/2014/main" id="{845A73A1-8ACA-F424-2B0D-2D6C579C4F4B}"/>
              </a:ext>
            </a:extLst>
          </p:cNvPr>
          <p:cNvSpPr/>
          <p:nvPr/>
        </p:nvSpPr>
        <p:spPr>
          <a:xfrm>
            <a:off x="6576060" y="5835650"/>
            <a:ext cx="2273300" cy="127000"/>
          </a:xfrm>
          <a:prstGeom prst="rect">
            <a:avLst/>
          </a:prstGeom>
          <a:solidFill>
            <a:srgbClr val="E2E7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" name="pr5-a">
            <a:extLst>
              <a:ext uri="{FF2B5EF4-FFF2-40B4-BE49-F238E27FC236}">
                <a16:creationId xmlns:a16="http://schemas.microsoft.com/office/drawing/2014/main" id="{7F18ACFF-2578-96A8-D6A9-F71CD8FCE6FE}"/>
              </a:ext>
            </a:extLst>
          </p:cNvPr>
          <p:cNvSpPr/>
          <p:nvPr/>
        </p:nvSpPr>
        <p:spPr>
          <a:xfrm>
            <a:off x="6576060" y="5848350"/>
            <a:ext cx="1420812" cy="5080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pr5-b">
            <a:extLst>
              <a:ext uri="{FF2B5EF4-FFF2-40B4-BE49-F238E27FC236}">
                <a16:creationId xmlns:a16="http://schemas.microsoft.com/office/drawing/2014/main" id="{07E13D15-9831-B2FA-380F-F3B70E0BA1BF}"/>
              </a:ext>
            </a:extLst>
          </p:cNvPr>
          <p:cNvSpPr/>
          <p:nvPr/>
        </p:nvSpPr>
        <p:spPr>
          <a:xfrm>
            <a:off x="6576060" y="5911850"/>
            <a:ext cx="1534478" cy="50800"/>
          </a:xfrm>
          <a:prstGeom prst="rect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8" name="pr5-t">
            <a:extLst>
              <a:ext uri="{FF2B5EF4-FFF2-40B4-BE49-F238E27FC236}">
                <a16:creationId xmlns:a16="http://schemas.microsoft.com/office/drawing/2014/main" id="{E301F7B7-B35C-4390-3FBC-967CEF78E797}"/>
              </a:ext>
            </a:extLst>
          </p:cNvPr>
          <p:cNvCxnSpPr/>
          <p:nvPr/>
        </p:nvCxnSpPr>
        <p:spPr>
          <a:xfrm>
            <a:off x="8281035" y="5835650"/>
            <a:ext cx="0" cy="127000"/>
          </a:xfrm>
          <a:prstGeom prst="line">
            <a:avLst/>
          </a:prstGeom>
          <a:ln w="8890">
            <a:solidFill>
              <a:srgbClr val="B96E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biz-an">
            <a:extLst>
              <a:ext uri="{FF2B5EF4-FFF2-40B4-BE49-F238E27FC236}">
                <a16:creationId xmlns:a16="http://schemas.microsoft.com/office/drawing/2014/main" id="{CFF501BE-B2B7-E40E-9FAE-43F27B5D49CC}"/>
              </a:ext>
            </a:extLst>
          </p:cNvPr>
          <p:cNvSpPr txBox="1"/>
          <p:nvPr/>
        </p:nvSpPr>
        <p:spPr>
          <a:xfrm>
            <a:off x="6195060" y="6332220"/>
            <a:ext cx="26797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现状分析：硬件、</a:t>
            </a:r>
            <a:r>
              <a:rPr lang="en-US" altLang="zh-CN" sz="600">
                <a:solidFill>
                  <a:srgbClr val="657881"/>
                </a:solidFill>
                <a:latin typeface="Microsoft YaHei" panose="020B0503020204020204" pitchFamily="34" charset="-122"/>
              </a:rPr>
              <a:t>EMC </a:t>
            </a:r>
            <a:r>
              <a:rPr lang="zh-CN" altLang="en-US" sz="600">
                <a:solidFill>
                  <a:srgbClr val="657881"/>
                </a:solidFill>
                <a:latin typeface="Microsoft YaHei" panose="020B0503020204020204" pitchFamily="34" charset="-122"/>
              </a:rPr>
              <a:t>已形成优势；机械与可靠性低于均值。</a:t>
            </a:r>
          </a:p>
        </p:txBody>
      </p:sp>
      <p:cxnSp>
        <p:nvCxnSpPr>
          <p:cNvPr id="290" name="tr-base">
            <a:extLst>
              <a:ext uri="{FF2B5EF4-FFF2-40B4-BE49-F238E27FC236}">
                <a16:creationId xmlns:a16="http://schemas.microsoft.com/office/drawing/2014/main" id="{BF065E0D-15EE-65DD-2B62-A6344577DA24}"/>
              </a:ext>
            </a:extLst>
          </p:cNvPr>
          <p:cNvCxnSpPr/>
          <p:nvPr/>
        </p:nvCxnSpPr>
        <p:spPr>
          <a:xfrm>
            <a:off x="9240520" y="5492750"/>
            <a:ext cx="1790700" cy="0"/>
          </a:xfrm>
          <a:prstGeom prst="line">
            <a:avLst/>
          </a:prstGeom>
          <a:ln w="10160">
            <a:solidFill>
              <a:srgbClr val="CB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tr-tgt">
            <a:extLst>
              <a:ext uri="{FF2B5EF4-FFF2-40B4-BE49-F238E27FC236}">
                <a16:creationId xmlns:a16="http://schemas.microsoft.com/office/drawing/2014/main" id="{C9140EE9-3901-1C1C-9D07-60DD85D43800}"/>
              </a:ext>
            </a:extLst>
          </p:cNvPr>
          <p:cNvCxnSpPr/>
          <p:nvPr/>
        </p:nvCxnSpPr>
        <p:spPr>
          <a:xfrm>
            <a:off x="9240520" y="5003800"/>
            <a:ext cx="1790700" cy="0"/>
          </a:xfrm>
          <a:prstGeom prst="line">
            <a:avLst/>
          </a:prstGeom>
          <a:ln w="12700">
            <a:solidFill>
              <a:srgbClr val="B96E6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r-30">
            <a:extLst>
              <a:ext uri="{FF2B5EF4-FFF2-40B4-BE49-F238E27FC236}">
                <a16:creationId xmlns:a16="http://schemas.microsoft.com/office/drawing/2014/main" id="{EC9777DD-30D9-2B60-C13A-81871AE173B0}"/>
              </a:ext>
            </a:extLst>
          </p:cNvPr>
          <p:cNvSpPr txBox="1"/>
          <p:nvPr/>
        </p:nvSpPr>
        <p:spPr>
          <a:xfrm>
            <a:off x="9037320" y="4953000"/>
            <a:ext cx="2032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600">
                <a:solidFill>
                  <a:srgbClr val="61747E"/>
                </a:solidFill>
                <a:latin typeface="Microsoft YaHei" panose="020B0503020204020204" pitchFamily="34" charset="-122"/>
              </a:rPr>
              <a:t>3.0</a:t>
            </a:r>
            <a:endParaRPr lang="zh-CN" altLang="en-US" sz="600">
              <a:solidFill>
                <a:srgbClr val="6174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3" name="tr-24">
            <a:extLst>
              <a:ext uri="{FF2B5EF4-FFF2-40B4-BE49-F238E27FC236}">
                <a16:creationId xmlns:a16="http://schemas.microsoft.com/office/drawing/2014/main" id="{3E9609C4-E067-0482-5E42-E1410CA1BD11}"/>
              </a:ext>
            </a:extLst>
          </p:cNvPr>
          <p:cNvSpPr txBox="1"/>
          <p:nvPr/>
        </p:nvSpPr>
        <p:spPr>
          <a:xfrm>
            <a:off x="9037320" y="5469128"/>
            <a:ext cx="2032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600">
                <a:solidFill>
                  <a:srgbClr val="61747E"/>
                </a:solidFill>
                <a:latin typeface="Microsoft YaHei" panose="020B0503020204020204" pitchFamily="34" charset="-122"/>
              </a:rPr>
              <a:t>2.4</a:t>
            </a:r>
            <a:endParaRPr lang="zh-CN" altLang="en-US" sz="600">
              <a:solidFill>
                <a:srgbClr val="61747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94" name="tr-team-l0">
            <a:extLst>
              <a:ext uri="{FF2B5EF4-FFF2-40B4-BE49-F238E27FC236}">
                <a16:creationId xmlns:a16="http://schemas.microsoft.com/office/drawing/2014/main" id="{37F84E47-06B0-241D-77D1-1D751B3E5CC9}"/>
              </a:ext>
            </a:extLst>
          </p:cNvPr>
          <p:cNvCxnSpPr/>
          <p:nvPr/>
        </p:nvCxnSpPr>
        <p:spPr>
          <a:xfrm flipV="1">
            <a:off x="9359688" y="5281839"/>
            <a:ext cx="515126" cy="98425"/>
          </a:xfrm>
          <a:prstGeom prst="line">
            <a:avLst/>
          </a:prstGeom>
          <a:ln w="19050">
            <a:solidFill>
              <a:srgbClr val="1683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tr-team-l1">
            <a:extLst>
              <a:ext uri="{FF2B5EF4-FFF2-40B4-BE49-F238E27FC236}">
                <a16:creationId xmlns:a16="http://schemas.microsoft.com/office/drawing/2014/main" id="{69656CD7-98C0-8DAB-FCB7-45E3235E04AA}"/>
              </a:ext>
            </a:extLst>
          </p:cNvPr>
          <p:cNvCxnSpPr/>
          <p:nvPr/>
        </p:nvCxnSpPr>
        <p:spPr>
          <a:xfrm flipV="1">
            <a:off x="9874814" y="5162323"/>
            <a:ext cx="515126" cy="119516"/>
          </a:xfrm>
          <a:prstGeom prst="line">
            <a:avLst/>
          </a:prstGeom>
          <a:ln w="19050">
            <a:solidFill>
              <a:srgbClr val="1683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tr-team-l2">
            <a:extLst>
              <a:ext uri="{FF2B5EF4-FFF2-40B4-BE49-F238E27FC236}">
                <a16:creationId xmlns:a16="http://schemas.microsoft.com/office/drawing/2014/main" id="{520611AF-C349-1E31-6553-5D84EF590249}"/>
              </a:ext>
            </a:extLst>
          </p:cNvPr>
          <p:cNvCxnSpPr/>
          <p:nvPr/>
        </p:nvCxnSpPr>
        <p:spPr>
          <a:xfrm flipV="1">
            <a:off x="10389940" y="5007655"/>
            <a:ext cx="515127" cy="154668"/>
          </a:xfrm>
          <a:prstGeom prst="line">
            <a:avLst/>
          </a:prstGeom>
          <a:ln w="19050">
            <a:solidFill>
              <a:srgbClr val="1683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r-team-p0">
            <a:extLst>
              <a:ext uri="{FF2B5EF4-FFF2-40B4-BE49-F238E27FC236}">
                <a16:creationId xmlns:a16="http://schemas.microsoft.com/office/drawing/2014/main" id="{DD0969D6-FBE8-3AD6-0A14-940E146B188B}"/>
              </a:ext>
            </a:extLst>
          </p:cNvPr>
          <p:cNvSpPr/>
          <p:nvPr/>
        </p:nvSpPr>
        <p:spPr>
          <a:xfrm>
            <a:off x="9336829" y="5357404"/>
            <a:ext cx="45719" cy="45720"/>
          </a:xfrm>
          <a:prstGeom prst="ellipse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tr-team-p3">
            <a:extLst>
              <a:ext uri="{FF2B5EF4-FFF2-40B4-BE49-F238E27FC236}">
                <a16:creationId xmlns:a16="http://schemas.microsoft.com/office/drawing/2014/main" id="{82BEC6C0-E5D5-8BAA-206E-E33F92D27296}"/>
              </a:ext>
            </a:extLst>
          </p:cNvPr>
          <p:cNvSpPr/>
          <p:nvPr/>
        </p:nvSpPr>
        <p:spPr>
          <a:xfrm>
            <a:off x="10882206" y="4984795"/>
            <a:ext cx="45720" cy="45720"/>
          </a:xfrm>
          <a:prstGeom prst="ellipse">
            <a:avLst/>
          </a:prstGeom>
          <a:solidFill>
            <a:srgbClr val="1683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9" name="tr-dept-l0">
            <a:extLst>
              <a:ext uri="{FF2B5EF4-FFF2-40B4-BE49-F238E27FC236}">
                <a16:creationId xmlns:a16="http://schemas.microsoft.com/office/drawing/2014/main" id="{31391134-CB45-F288-CBE8-A826BADECB8A}"/>
              </a:ext>
            </a:extLst>
          </p:cNvPr>
          <p:cNvCxnSpPr/>
          <p:nvPr/>
        </p:nvCxnSpPr>
        <p:spPr>
          <a:xfrm flipV="1">
            <a:off x="9359688" y="5225597"/>
            <a:ext cx="515126" cy="84364"/>
          </a:xfrm>
          <a:prstGeom prst="line">
            <a:avLst/>
          </a:prstGeom>
          <a:ln w="19050">
            <a:solidFill>
              <a:srgbClr val="8298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tr-dept-l1">
            <a:extLst>
              <a:ext uri="{FF2B5EF4-FFF2-40B4-BE49-F238E27FC236}">
                <a16:creationId xmlns:a16="http://schemas.microsoft.com/office/drawing/2014/main" id="{E32051F3-264F-683E-C42E-80F3EBD3854A}"/>
              </a:ext>
            </a:extLst>
          </p:cNvPr>
          <p:cNvCxnSpPr/>
          <p:nvPr/>
        </p:nvCxnSpPr>
        <p:spPr>
          <a:xfrm flipV="1">
            <a:off x="9874814" y="5120141"/>
            <a:ext cx="515126" cy="105456"/>
          </a:xfrm>
          <a:prstGeom prst="line">
            <a:avLst/>
          </a:prstGeom>
          <a:ln w="19050">
            <a:solidFill>
              <a:srgbClr val="8298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tr-dept-l2">
            <a:extLst>
              <a:ext uri="{FF2B5EF4-FFF2-40B4-BE49-F238E27FC236}">
                <a16:creationId xmlns:a16="http://schemas.microsoft.com/office/drawing/2014/main" id="{79EE9F0E-D654-AFB2-D201-68BD8922C896}"/>
              </a:ext>
            </a:extLst>
          </p:cNvPr>
          <p:cNvCxnSpPr/>
          <p:nvPr/>
        </p:nvCxnSpPr>
        <p:spPr>
          <a:xfrm flipV="1">
            <a:off x="10389940" y="4972503"/>
            <a:ext cx="515127" cy="147638"/>
          </a:xfrm>
          <a:prstGeom prst="line">
            <a:avLst/>
          </a:prstGeom>
          <a:ln w="19050">
            <a:solidFill>
              <a:srgbClr val="8298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tr-dept-p0">
            <a:extLst>
              <a:ext uri="{FF2B5EF4-FFF2-40B4-BE49-F238E27FC236}">
                <a16:creationId xmlns:a16="http://schemas.microsoft.com/office/drawing/2014/main" id="{D291E448-2191-7E3A-3CD7-65F8AEE90F5B}"/>
              </a:ext>
            </a:extLst>
          </p:cNvPr>
          <p:cNvSpPr/>
          <p:nvPr/>
        </p:nvSpPr>
        <p:spPr>
          <a:xfrm>
            <a:off x="9336829" y="5287101"/>
            <a:ext cx="45719" cy="45720"/>
          </a:xfrm>
          <a:prstGeom prst="ellipse">
            <a:avLst/>
          </a:prstGeom>
          <a:solidFill>
            <a:srgbClr val="8298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tr-dept-p3">
            <a:extLst>
              <a:ext uri="{FF2B5EF4-FFF2-40B4-BE49-F238E27FC236}">
                <a16:creationId xmlns:a16="http://schemas.microsoft.com/office/drawing/2014/main" id="{A1462791-9869-15B8-49FC-5A9BC185C657}"/>
              </a:ext>
            </a:extLst>
          </p:cNvPr>
          <p:cNvSpPr/>
          <p:nvPr/>
        </p:nvSpPr>
        <p:spPr>
          <a:xfrm>
            <a:off x="10882206" y="4949644"/>
            <a:ext cx="45720" cy="45720"/>
          </a:xfrm>
          <a:prstGeom prst="ellipse">
            <a:avLst/>
          </a:prstGeom>
          <a:solidFill>
            <a:srgbClr val="8298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4" name="tr-biz-l0">
            <a:extLst>
              <a:ext uri="{FF2B5EF4-FFF2-40B4-BE49-F238E27FC236}">
                <a16:creationId xmlns:a16="http://schemas.microsoft.com/office/drawing/2014/main" id="{9ADE8CD9-7376-BB25-1F31-0217506FD8A8}"/>
              </a:ext>
            </a:extLst>
          </p:cNvPr>
          <p:cNvCxnSpPr/>
          <p:nvPr/>
        </p:nvCxnSpPr>
        <p:spPr>
          <a:xfrm flipV="1">
            <a:off x="9359688" y="5253718"/>
            <a:ext cx="515126" cy="84364"/>
          </a:xfrm>
          <a:prstGeom prst="line">
            <a:avLst/>
          </a:prstGeom>
          <a:ln w="19050">
            <a:solidFill>
              <a:srgbClr val="B49A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tr-biz-l1">
            <a:extLst>
              <a:ext uri="{FF2B5EF4-FFF2-40B4-BE49-F238E27FC236}">
                <a16:creationId xmlns:a16="http://schemas.microsoft.com/office/drawing/2014/main" id="{CFB5BD4B-6089-3C92-1003-ECABBD83D329}"/>
              </a:ext>
            </a:extLst>
          </p:cNvPr>
          <p:cNvCxnSpPr/>
          <p:nvPr/>
        </p:nvCxnSpPr>
        <p:spPr>
          <a:xfrm flipV="1">
            <a:off x="9874814" y="5141232"/>
            <a:ext cx="515126" cy="112486"/>
          </a:xfrm>
          <a:prstGeom prst="line">
            <a:avLst/>
          </a:prstGeom>
          <a:ln w="19050">
            <a:solidFill>
              <a:srgbClr val="B49A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tr-biz-l2">
            <a:extLst>
              <a:ext uri="{FF2B5EF4-FFF2-40B4-BE49-F238E27FC236}">
                <a16:creationId xmlns:a16="http://schemas.microsoft.com/office/drawing/2014/main" id="{F37A5FAF-B54E-2FBB-0DBB-7A6799D62E02}"/>
              </a:ext>
            </a:extLst>
          </p:cNvPr>
          <p:cNvCxnSpPr/>
          <p:nvPr/>
        </p:nvCxnSpPr>
        <p:spPr>
          <a:xfrm flipV="1">
            <a:off x="10389940" y="5028747"/>
            <a:ext cx="515127" cy="112485"/>
          </a:xfrm>
          <a:prstGeom prst="line">
            <a:avLst/>
          </a:prstGeom>
          <a:ln w="19050">
            <a:solidFill>
              <a:srgbClr val="B49A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tr-biz-p0">
            <a:extLst>
              <a:ext uri="{FF2B5EF4-FFF2-40B4-BE49-F238E27FC236}">
                <a16:creationId xmlns:a16="http://schemas.microsoft.com/office/drawing/2014/main" id="{856B0F9C-CAF9-65FC-E924-8F082C88B8EE}"/>
              </a:ext>
            </a:extLst>
          </p:cNvPr>
          <p:cNvSpPr/>
          <p:nvPr/>
        </p:nvSpPr>
        <p:spPr>
          <a:xfrm>
            <a:off x="9336829" y="5315222"/>
            <a:ext cx="45719" cy="45720"/>
          </a:xfrm>
          <a:prstGeom prst="ellipse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tr-biz-p3">
            <a:extLst>
              <a:ext uri="{FF2B5EF4-FFF2-40B4-BE49-F238E27FC236}">
                <a16:creationId xmlns:a16="http://schemas.microsoft.com/office/drawing/2014/main" id="{29274DBD-729B-4310-6AA0-9FA4B3A1DFA8}"/>
              </a:ext>
            </a:extLst>
          </p:cNvPr>
          <p:cNvSpPr/>
          <p:nvPr/>
        </p:nvSpPr>
        <p:spPr>
          <a:xfrm>
            <a:off x="10882206" y="5005886"/>
            <a:ext cx="45720" cy="45720"/>
          </a:xfrm>
          <a:prstGeom prst="ellipse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9" name="tr-m0">
            <a:extLst>
              <a:ext uri="{FF2B5EF4-FFF2-40B4-BE49-F238E27FC236}">
                <a16:creationId xmlns:a16="http://schemas.microsoft.com/office/drawing/2014/main" id="{4F9AF384-FC51-0270-7257-101B9E1E1F37}"/>
              </a:ext>
            </a:extLst>
          </p:cNvPr>
          <p:cNvSpPr txBox="1"/>
          <p:nvPr/>
        </p:nvSpPr>
        <p:spPr>
          <a:xfrm>
            <a:off x="9232688" y="5664200"/>
            <a:ext cx="2794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600">
                <a:solidFill>
                  <a:srgbClr val="61747E"/>
                </a:solidFill>
                <a:latin typeface="Microsoft YaHei" panose="020B0503020204020204" pitchFamily="34" charset="-122"/>
              </a:rPr>
              <a:t>9</a:t>
            </a:r>
            <a:r>
              <a:rPr lang="zh-CN" altLang="en-US" sz="600">
                <a:solidFill>
                  <a:srgbClr val="61747E"/>
                </a:solidFill>
                <a:latin typeface="Microsoft YaHei" panose="020B0503020204020204" pitchFamily="34" charset="-122"/>
              </a:rPr>
              <a:t>月</a:t>
            </a:r>
          </a:p>
        </p:txBody>
      </p:sp>
      <p:sp>
        <p:nvSpPr>
          <p:cNvPr id="310" name="tr-m1">
            <a:extLst>
              <a:ext uri="{FF2B5EF4-FFF2-40B4-BE49-F238E27FC236}">
                <a16:creationId xmlns:a16="http://schemas.microsoft.com/office/drawing/2014/main" id="{99FA3150-4EE7-AE07-7830-E219B8CF12A7}"/>
              </a:ext>
            </a:extLst>
          </p:cNvPr>
          <p:cNvSpPr txBox="1"/>
          <p:nvPr/>
        </p:nvSpPr>
        <p:spPr>
          <a:xfrm>
            <a:off x="9747814" y="5664200"/>
            <a:ext cx="2794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600">
                <a:solidFill>
                  <a:srgbClr val="61747E"/>
                </a:solidFill>
                <a:latin typeface="Microsoft YaHei" panose="020B0503020204020204" pitchFamily="34" charset="-122"/>
              </a:rPr>
              <a:t>10</a:t>
            </a:r>
            <a:r>
              <a:rPr lang="zh-CN" altLang="en-US" sz="600">
                <a:solidFill>
                  <a:srgbClr val="61747E"/>
                </a:solidFill>
                <a:latin typeface="Microsoft YaHei" panose="020B0503020204020204" pitchFamily="34" charset="-122"/>
              </a:rPr>
              <a:t>月</a:t>
            </a:r>
          </a:p>
        </p:txBody>
      </p:sp>
      <p:sp>
        <p:nvSpPr>
          <p:cNvPr id="311" name="tr-m2">
            <a:extLst>
              <a:ext uri="{FF2B5EF4-FFF2-40B4-BE49-F238E27FC236}">
                <a16:creationId xmlns:a16="http://schemas.microsoft.com/office/drawing/2014/main" id="{C556CEB6-953E-AAC0-991C-26AF8AE59F10}"/>
              </a:ext>
            </a:extLst>
          </p:cNvPr>
          <p:cNvSpPr txBox="1"/>
          <p:nvPr/>
        </p:nvSpPr>
        <p:spPr>
          <a:xfrm>
            <a:off x="10262940" y="5664200"/>
            <a:ext cx="2794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600">
                <a:solidFill>
                  <a:srgbClr val="61747E"/>
                </a:solidFill>
                <a:latin typeface="Microsoft YaHei" panose="020B0503020204020204" pitchFamily="34" charset="-122"/>
              </a:rPr>
              <a:t>11</a:t>
            </a:r>
            <a:r>
              <a:rPr lang="zh-CN" altLang="en-US" sz="600">
                <a:solidFill>
                  <a:srgbClr val="61747E"/>
                </a:solidFill>
                <a:latin typeface="Microsoft YaHei" panose="020B0503020204020204" pitchFamily="34" charset="-122"/>
              </a:rPr>
              <a:t>月</a:t>
            </a:r>
          </a:p>
        </p:txBody>
      </p:sp>
      <p:sp>
        <p:nvSpPr>
          <p:cNvPr id="312" name="tr-m3">
            <a:extLst>
              <a:ext uri="{FF2B5EF4-FFF2-40B4-BE49-F238E27FC236}">
                <a16:creationId xmlns:a16="http://schemas.microsoft.com/office/drawing/2014/main" id="{9F7BA85E-7383-1CC4-975E-2E12618EB9E0}"/>
              </a:ext>
            </a:extLst>
          </p:cNvPr>
          <p:cNvSpPr txBox="1"/>
          <p:nvPr/>
        </p:nvSpPr>
        <p:spPr>
          <a:xfrm>
            <a:off x="10778067" y="5664200"/>
            <a:ext cx="2794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600">
                <a:solidFill>
                  <a:srgbClr val="61747E"/>
                </a:solidFill>
                <a:latin typeface="Microsoft YaHei" panose="020B0503020204020204" pitchFamily="34" charset="-122"/>
              </a:rPr>
              <a:t>12</a:t>
            </a:r>
            <a:r>
              <a:rPr lang="zh-CN" altLang="en-US" sz="600">
                <a:solidFill>
                  <a:srgbClr val="61747E"/>
                </a:solidFill>
                <a:latin typeface="Microsoft YaHei" panose="020B0503020204020204" pitchFamily="34" charset="-122"/>
              </a:rPr>
              <a:t>月</a:t>
            </a:r>
          </a:p>
        </p:txBody>
      </p:sp>
      <p:sp>
        <p:nvSpPr>
          <p:cNvPr id="313" name="tr-lab1">
            <a:extLst>
              <a:ext uri="{FF2B5EF4-FFF2-40B4-BE49-F238E27FC236}">
                <a16:creationId xmlns:a16="http://schemas.microsoft.com/office/drawing/2014/main" id="{AA5B182B-22ED-27A9-2340-3C07D5F2651C}"/>
              </a:ext>
            </a:extLst>
          </p:cNvPr>
          <p:cNvSpPr txBox="1"/>
          <p:nvPr/>
        </p:nvSpPr>
        <p:spPr>
          <a:xfrm>
            <a:off x="11094720" y="4902200"/>
            <a:ext cx="6096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16837A"/>
                </a:solidFill>
                <a:latin typeface="Microsoft YaHei" panose="020B0503020204020204" pitchFamily="34" charset="-122"/>
              </a:rPr>
              <a:t>科组 </a:t>
            </a:r>
            <a:r>
              <a:rPr lang="en-US" altLang="zh-CN" sz="600" b="1">
                <a:solidFill>
                  <a:srgbClr val="16837A"/>
                </a:solidFill>
                <a:latin typeface="Microsoft YaHei" panose="020B0503020204020204" pitchFamily="34" charset="-122"/>
              </a:rPr>
              <a:t>3.12</a:t>
            </a:r>
            <a:endParaRPr lang="zh-CN" altLang="en-US" sz="600" b="1">
              <a:solidFill>
                <a:srgbClr val="16837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4" name="tr-lab2">
            <a:extLst>
              <a:ext uri="{FF2B5EF4-FFF2-40B4-BE49-F238E27FC236}">
                <a16:creationId xmlns:a16="http://schemas.microsoft.com/office/drawing/2014/main" id="{70B54946-A495-3CC1-E546-828E0DFAFE0F}"/>
              </a:ext>
            </a:extLst>
          </p:cNvPr>
          <p:cNvSpPr txBox="1"/>
          <p:nvPr/>
        </p:nvSpPr>
        <p:spPr>
          <a:xfrm>
            <a:off x="11094720" y="5067300"/>
            <a:ext cx="6096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8298A3"/>
                </a:solidFill>
                <a:latin typeface="Microsoft YaHei" panose="020B0503020204020204" pitchFamily="34" charset="-122"/>
              </a:rPr>
              <a:t>部门 </a:t>
            </a:r>
            <a:r>
              <a:rPr lang="en-US" altLang="zh-CN" sz="600" b="1">
                <a:solidFill>
                  <a:srgbClr val="8298A3"/>
                </a:solidFill>
                <a:latin typeface="Microsoft YaHei" panose="020B0503020204020204" pitchFamily="34" charset="-122"/>
              </a:rPr>
              <a:t>3.18</a:t>
            </a:r>
            <a:endParaRPr lang="zh-CN" altLang="en-US" sz="600" b="1">
              <a:solidFill>
                <a:srgbClr val="8298A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5" name="tr-lab3">
            <a:extLst>
              <a:ext uri="{FF2B5EF4-FFF2-40B4-BE49-F238E27FC236}">
                <a16:creationId xmlns:a16="http://schemas.microsoft.com/office/drawing/2014/main" id="{9E213408-CEDC-6207-B300-C99E6966424D}"/>
              </a:ext>
            </a:extLst>
          </p:cNvPr>
          <p:cNvSpPr txBox="1"/>
          <p:nvPr/>
        </p:nvSpPr>
        <p:spPr>
          <a:xfrm>
            <a:off x="11094720" y="5232400"/>
            <a:ext cx="6096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 b="1">
                <a:solidFill>
                  <a:srgbClr val="9B7840"/>
                </a:solidFill>
                <a:latin typeface="Microsoft YaHei" panose="020B0503020204020204" pitchFamily="34" charset="-122"/>
              </a:rPr>
              <a:t>业务 </a:t>
            </a:r>
            <a:r>
              <a:rPr lang="en-US" altLang="zh-CN" sz="600" b="1">
                <a:solidFill>
                  <a:srgbClr val="9B7840"/>
                </a:solidFill>
                <a:latin typeface="Microsoft YaHei" panose="020B0503020204020204" pitchFamily="34" charset="-122"/>
              </a:rPr>
              <a:t>3.08</a:t>
            </a:r>
            <a:endParaRPr lang="zh-CN" altLang="en-US" sz="600" b="1">
              <a:solidFill>
                <a:srgbClr val="9B784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6" name="adv0">
            <a:extLst>
              <a:ext uri="{FF2B5EF4-FFF2-40B4-BE49-F238E27FC236}">
                <a16:creationId xmlns:a16="http://schemas.microsoft.com/office/drawing/2014/main" id="{5A2C6ECF-902E-2826-61B7-3CA27DB27FEC}"/>
              </a:ext>
            </a:extLst>
          </p:cNvPr>
          <p:cNvSpPr/>
          <p:nvPr/>
        </p:nvSpPr>
        <p:spPr>
          <a:xfrm>
            <a:off x="9037320" y="5791200"/>
            <a:ext cx="2628900" cy="165100"/>
          </a:xfrm>
          <a:prstGeom prst="rect">
            <a:avLst/>
          </a:prstGeom>
          <a:solidFill>
            <a:srgbClr val="E8F1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adv0-b">
            <a:extLst>
              <a:ext uri="{FF2B5EF4-FFF2-40B4-BE49-F238E27FC236}">
                <a16:creationId xmlns:a16="http://schemas.microsoft.com/office/drawing/2014/main" id="{F80EC100-A6C6-4A6F-F0AF-4E927AC8425F}"/>
              </a:ext>
            </a:extLst>
          </p:cNvPr>
          <p:cNvSpPr/>
          <p:nvPr/>
        </p:nvSpPr>
        <p:spPr>
          <a:xfrm>
            <a:off x="9037320" y="5791200"/>
            <a:ext cx="25400" cy="165100"/>
          </a:xfrm>
          <a:prstGeom prst="rect">
            <a:avLst/>
          </a:prstGeom>
          <a:solidFill>
            <a:srgbClr val="6F9D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adv0-t">
            <a:extLst>
              <a:ext uri="{FF2B5EF4-FFF2-40B4-BE49-F238E27FC236}">
                <a16:creationId xmlns:a16="http://schemas.microsoft.com/office/drawing/2014/main" id="{6314FC26-071D-FDE4-8EA1-F2CB25FBE511}"/>
              </a:ext>
            </a:extLst>
          </p:cNvPr>
          <p:cNvSpPr txBox="1"/>
          <p:nvPr/>
        </p:nvSpPr>
        <p:spPr>
          <a:xfrm>
            <a:off x="9088120" y="5824542"/>
            <a:ext cx="25527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>
                <a:solidFill>
                  <a:srgbClr val="536B76"/>
                </a:solidFill>
                <a:latin typeface="Microsoft YaHei" panose="020B0503020204020204" pitchFamily="34" charset="-122"/>
              </a:rPr>
              <a:t>科组：自动化低于部门均值，参考伺服测试组基线；</a:t>
            </a:r>
            <a:r>
              <a:rPr lang="en-US" altLang="zh-CN" sz="600">
                <a:solidFill>
                  <a:srgbClr val="536B76"/>
                </a:solidFill>
                <a:latin typeface="Microsoft YaHei" panose="020B0503020204020204" pitchFamily="34" charset="-122"/>
              </a:rPr>
              <a:t>10</a:t>
            </a:r>
            <a:r>
              <a:rPr lang="zh-CN" altLang="en-US" sz="600">
                <a:solidFill>
                  <a:srgbClr val="536B76"/>
                </a:solidFill>
                <a:latin typeface="Microsoft YaHei" panose="020B0503020204020204" pitchFamily="34" charset="-122"/>
              </a:rPr>
              <a:t>月交付。</a:t>
            </a:r>
          </a:p>
        </p:txBody>
      </p:sp>
      <p:sp>
        <p:nvSpPr>
          <p:cNvPr id="319" name="adv1">
            <a:extLst>
              <a:ext uri="{FF2B5EF4-FFF2-40B4-BE49-F238E27FC236}">
                <a16:creationId xmlns:a16="http://schemas.microsoft.com/office/drawing/2014/main" id="{B48A5BEB-F18A-D625-1290-5F62472237EC}"/>
              </a:ext>
            </a:extLst>
          </p:cNvPr>
          <p:cNvSpPr/>
          <p:nvPr/>
        </p:nvSpPr>
        <p:spPr>
          <a:xfrm>
            <a:off x="9037320" y="5969000"/>
            <a:ext cx="2628900" cy="165100"/>
          </a:xfrm>
          <a:prstGeom prst="rect">
            <a:avLst/>
          </a:prstGeom>
          <a:solidFill>
            <a:srgbClr val="EDF1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adv1-b">
            <a:extLst>
              <a:ext uri="{FF2B5EF4-FFF2-40B4-BE49-F238E27FC236}">
                <a16:creationId xmlns:a16="http://schemas.microsoft.com/office/drawing/2014/main" id="{C3842EB3-C4B6-85D9-33F6-96CDAD2FCDD1}"/>
              </a:ext>
            </a:extLst>
          </p:cNvPr>
          <p:cNvSpPr/>
          <p:nvPr/>
        </p:nvSpPr>
        <p:spPr>
          <a:xfrm>
            <a:off x="9037320" y="5969000"/>
            <a:ext cx="25400" cy="165100"/>
          </a:xfrm>
          <a:prstGeom prst="rect">
            <a:avLst/>
          </a:prstGeom>
          <a:solidFill>
            <a:srgbClr val="8298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adv1-t">
            <a:extLst>
              <a:ext uri="{FF2B5EF4-FFF2-40B4-BE49-F238E27FC236}">
                <a16:creationId xmlns:a16="http://schemas.microsoft.com/office/drawing/2014/main" id="{8690A5C4-26A4-03F7-5824-A1D8B8BC37F8}"/>
              </a:ext>
            </a:extLst>
          </p:cNvPr>
          <p:cNvSpPr txBox="1"/>
          <p:nvPr/>
        </p:nvSpPr>
        <p:spPr>
          <a:xfrm>
            <a:off x="9088120" y="6002342"/>
            <a:ext cx="25527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>
                <a:solidFill>
                  <a:srgbClr val="536B76"/>
                </a:solidFill>
                <a:latin typeface="Microsoft YaHei" panose="020B0503020204020204" pitchFamily="34" charset="-122"/>
              </a:rPr>
              <a:t>部门：</a:t>
            </a:r>
            <a:r>
              <a:rPr lang="en-US" altLang="zh-CN" sz="600">
                <a:solidFill>
                  <a:srgbClr val="536B76"/>
                </a:solidFill>
                <a:latin typeface="Microsoft YaHei" panose="020B0503020204020204" pitchFamily="34" charset="-122"/>
              </a:rPr>
              <a:t>11</a:t>
            </a:r>
            <a:r>
              <a:rPr lang="zh-CN" altLang="en-US" sz="600">
                <a:solidFill>
                  <a:srgbClr val="536B76"/>
                </a:solidFill>
                <a:latin typeface="Microsoft YaHei" panose="020B0503020204020204" pitchFamily="34" charset="-122"/>
              </a:rPr>
              <a:t>月完成方案复审与共性能力验收。</a:t>
            </a:r>
          </a:p>
        </p:txBody>
      </p:sp>
      <p:sp>
        <p:nvSpPr>
          <p:cNvPr id="322" name="adv2">
            <a:extLst>
              <a:ext uri="{FF2B5EF4-FFF2-40B4-BE49-F238E27FC236}">
                <a16:creationId xmlns:a16="http://schemas.microsoft.com/office/drawing/2014/main" id="{A4FBDBE8-7216-8734-AC71-39F4E3E877CE}"/>
              </a:ext>
            </a:extLst>
          </p:cNvPr>
          <p:cNvSpPr/>
          <p:nvPr/>
        </p:nvSpPr>
        <p:spPr>
          <a:xfrm>
            <a:off x="9037320" y="6146800"/>
            <a:ext cx="2628900" cy="165100"/>
          </a:xfrm>
          <a:prstGeom prst="rect">
            <a:avLst/>
          </a:prstGeom>
          <a:solidFill>
            <a:srgbClr val="F3EDE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adv2-b">
            <a:extLst>
              <a:ext uri="{FF2B5EF4-FFF2-40B4-BE49-F238E27FC236}">
                <a16:creationId xmlns:a16="http://schemas.microsoft.com/office/drawing/2014/main" id="{E9DFE723-678E-0F4F-C231-9EA6FC405DCE}"/>
              </a:ext>
            </a:extLst>
          </p:cNvPr>
          <p:cNvSpPr/>
          <p:nvPr/>
        </p:nvSpPr>
        <p:spPr>
          <a:xfrm>
            <a:off x="9037320" y="6146800"/>
            <a:ext cx="25400" cy="165100"/>
          </a:xfrm>
          <a:prstGeom prst="rect">
            <a:avLst/>
          </a:prstGeom>
          <a:solidFill>
            <a:srgbClr val="B49A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adv2-t">
            <a:extLst>
              <a:ext uri="{FF2B5EF4-FFF2-40B4-BE49-F238E27FC236}">
                <a16:creationId xmlns:a16="http://schemas.microsoft.com/office/drawing/2014/main" id="{86B0A63C-7C17-BB09-AC22-F2254AF6D87E}"/>
              </a:ext>
            </a:extLst>
          </p:cNvPr>
          <p:cNvSpPr txBox="1"/>
          <p:nvPr/>
        </p:nvSpPr>
        <p:spPr>
          <a:xfrm>
            <a:off x="9088120" y="6180142"/>
            <a:ext cx="2552700" cy="11798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zh-CN" altLang="en-US" sz="600">
                <a:solidFill>
                  <a:srgbClr val="536B76"/>
                </a:solidFill>
                <a:latin typeface="Microsoft YaHei" panose="020B0503020204020204" pitchFamily="34" charset="-122"/>
              </a:rPr>
              <a:t>业务：</a:t>
            </a:r>
            <a:r>
              <a:rPr lang="en-US" altLang="zh-CN" sz="600">
                <a:solidFill>
                  <a:srgbClr val="536B76"/>
                </a:solidFill>
                <a:latin typeface="Microsoft YaHei" panose="020B0503020204020204" pitchFamily="34" charset="-122"/>
              </a:rPr>
              <a:t>12</a:t>
            </a:r>
            <a:r>
              <a:rPr lang="zh-CN" altLang="en-US" sz="600">
                <a:solidFill>
                  <a:srgbClr val="536B76"/>
                </a:solidFill>
                <a:latin typeface="Microsoft YaHei" panose="020B0503020204020204" pitchFamily="34" charset="-122"/>
              </a:rPr>
              <a:t>月补齐机械</a:t>
            </a:r>
            <a:r>
              <a:rPr lang="en-US" altLang="zh-CN" sz="600">
                <a:solidFill>
                  <a:srgbClr val="536B76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600">
                <a:solidFill>
                  <a:srgbClr val="536B76"/>
                </a:solidFill>
                <a:latin typeface="Microsoft YaHei" panose="020B0503020204020204" pitchFamily="34" charset="-122"/>
              </a:rPr>
              <a:t>可靠性能力，预计得分 </a:t>
            </a:r>
            <a:r>
              <a:rPr lang="en-US" altLang="zh-CN" sz="600">
                <a:solidFill>
                  <a:srgbClr val="536B76"/>
                </a:solidFill>
                <a:latin typeface="Microsoft YaHei" panose="020B0503020204020204" pitchFamily="34" charset="-122"/>
              </a:rPr>
              <a:t>3.08</a:t>
            </a:r>
            <a:r>
              <a:rPr lang="zh-CN" altLang="en-US" sz="600">
                <a:solidFill>
                  <a:srgbClr val="536B76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25" name="risk">
            <a:extLst>
              <a:ext uri="{FF2B5EF4-FFF2-40B4-BE49-F238E27FC236}">
                <a16:creationId xmlns:a16="http://schemas.microsoft.com/office/drawing/2014/main" id="{FCBA619D-01F0-C35F-E9EB-5AB7BACFEF21}"/>
              </a:ext>
            </a:extLst>
          </p:cNvPr>
          <p:cNvSpPr txBox="1"/>
          <p:nvPr/>
        </p:nvSpPr>
        <p:spPr>
          <a:xfrm>
            <a:off x="9037320" y="6357620"/>
            <a:ext cx="26289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600">
                <a:solidFill>
                  <a:srgbClr val="71828A"/>
                </a:solidFill>
                <a:latin typeface="Microsoft YaHei" panose="020B0503020204020204" pitchFamily="34" charset="-122"/>
              </a:rPr>
              <a:t>年度目标达成风险评估：当前存在两项短板；按交付计划推进，</a:t>
            </a:r>
            <a:r>
              <a:rPr lang="en-US" altLang="zh-CN" sz="600">
                <a:solidFill>
                  <a:srgbClr val="71828A"/>
                </a:solidFill>
                <a:latin typeface="Microsoft YaHei" panose="020B0503020204020204" pitchFamily="34" charset="-122"/>
              </a:rPr>
              <a:t>12</a:t>
            </a:r>
            <a:r>
              <a:rPr lang="zh-CN" altLang="en-US" sz="600">
                <a:solidFill>
                  <a:srgbClr val="71828A"/>
                </a:solidFill>
                <a:latin typeface="Microsoft YaHei" panose="020B0503020204020204" pitchFamily="34" charset="-122"/>
              </a:rPr>
              <a:t>月可达 </a:t>
            </a:r>
            <a:r>
              <a:rPr lang="en-US" altLang="zh-CN" sz="600">
                <a:solidFill>
                  <a:srgbClr val="71828A"/>
                </a:solidFill>
                <a:latin typeface="Microsoft YaHei" panose="020B0503020204020204" pitchFamily="34" charset="-122"/>
              </a:rPr>
              <a:t>3.0+</a:t>
            </a:r>
            <a:r>
              <a:rPr lang="zh-CN" altLang="en-US" sz="600">
                <a:solidFill>
                  <a:srgbClr val="71828A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38304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自定义</PresentationFormat>
  <Paragraphs>142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qy d</dc:creator>
  <cp:lastModifiedBy>qy d</cp:lastModifiedBy>
  <cp:revision>1</cp:revision>
  <dcterms:created xsi:type="dcterms:W3CDTF">2026-09-03T10:05:12Z</dcterms:created>
  <dcterms:modified xsi:type="dcterms:W3CDTF">2026-09-03T10:05:12Z</dcterms:modified>
</cp:coreProperties>
</file>