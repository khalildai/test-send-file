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02" y="4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791FAC-8453-7C06-BF4E-D05612D56C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8881C7-97F8-9E6D-D237-BB8FC7573B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E3C0C6-0F06-AD7A-BBB4-5194B2B8D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214493D-0C12-2A5B-AA85-2F6220A98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1F1FAB-BA03-AA9A-7FDA-EAF952ED4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3175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18010E-2160-A6C0-F3FB-0467DD55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0E5BB9-9EFC-53B1-D6DA-AA07A30E4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DC85BF8-CE7B-A24A-39D1-9D94088E6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74315E-5263-8995-AEAC-CF867977E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8EA9DA-08AD-7B6A-5FB3-6BCBCE5D0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292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861456-12AA-084D-A426-605FF9868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E8B0E57-1D63-493E-0588-5D328FE86D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95EFEA-AA27-6A1C-02E3-1222E983D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F8BAD5-A7A0-4C21-0494-40A5C4260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7A8D7DE-0785-604A-2A61-83B43C4CA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4587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DBBD86-1E76-C129-AA51-6DDD94BF4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2B0A10-8BB3-6CA7-70BB-88447D81E7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64F7BA-C6F2-8217-3F5A-2C93D22E32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A838FB-3A03-2EBE-F54C-E2707C828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BD7EA70-CA03-0EC8-B9E8-9999E0C7E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CAC6D7E-5504-56C1-04FA-70E754F48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1963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A62440-FAD8-10E3-D443-ACE2913F7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3F4DBF-1540-19C5-30D6-64D1A4192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BBAC86C-921B-70DB-0383-7A5ECCD8F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C51C7E8-01B6-238F-6564-FB2AFA4F75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BFC3A5E-3E4D-DAE0-037A-1E519F17FE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31C4D91-25E1-62DA-3B1B-B2203814C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E078547-413F-311C-98D5-256A878C4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2E93B46-4273-0B47-358B-73FAB4640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812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97D160-25FB-7F47-994D-1CDA0ADF8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90AE719-BA7E-07E8-8C6C-D3A455B4A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2ACD3B0-732E-8566-06DC-2099C8944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FE455CA-9122-8A45-057D-21666606B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3405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6ABED67-D7FE-F25F-407A-30708FA36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E3D4ADD-FEB2-D086-7826-AE7ACD49C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42497D9-8036-3D84-A0E4-081EA9825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5970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006E36-1302-6EFA-7F89-4A5877079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0E76F8-B8A7-ED00-D5F4-E82A509938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1C97324-EFA9-F205-3E08-17463E1810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9E9B9F-FB3D-C782-1C01-E476A81A1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0A3203-61B7-611E-34CE-13744B188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8422F5-9DF9-68EA-E408-7BCE24C31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21527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49F405-82BD-B473-63CB-21D34290E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3363FBA-B5EF-E674-8B55-A4B5F57C8E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1AD5D2B-786B-52E1-0766-DCADEFB407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BC08C75-94BD-3D10-B164-166878F5D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CC8DAA7-90F6-372D-04E9-2002530FC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80D5B6-83FB-0E52-5F4A-650C0DE68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3442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FF87DE-32A8-0FAD-DEF5-D47C4BA9E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0130303-8B8C-5936-3AAB-664866AF9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293A89-8998-DFB0-D6ED-FE7D5816F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D8453C-CF16-17A4-AAB7-97AC933BA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D08B2A-E7BE-3D69-83E6-FA0932846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8024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C8A5D0A-BDFC-9A5F-C9E3-5388C0DFF0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1E1B69-E40C-D08F-5F1B-63B086D851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C1A01D-2B92-7C10-47E0-B23E1F3E4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B1D790-1E3B-EAC7-066A-211925C3C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B4E375-25D6-55C9-3045-4905A6A2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2542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63280C-D351-835C-7CB3-3C57E3905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8582B50-0EB6-61D0-82B4-73F53B9449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FB7153-D745-B57C-9790-026004ED1E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E7F02-A011-48D5-9960-E75B2928CF9E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B62910-971B-97FA-B56A-28BABAD038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D3CF11-ADC2-F981-23DC-DFA73FB725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681510-9358-42F6-A372-452926C289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840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-left">
            <a:extLst>
              <a:ext uri="{FF2B5EF4-FFF2-40B4-BE49-F238E27FC236}">
                <a16:creationId xmlns:a16="http://schemas.microsoft.com/office/drawing/2014/main" id="{AA953CCA-B573-4FC7-C50D-427AE417484A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9796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BDE6C08-2929-BE0E-2AD5-8134B3A6154E}"/>
              </a:ext>
            </a:extLst>
          </p:cNvPr>
          <p:cNvSpPr txBox="1"/>
          <p:nvPr/>
        </p:nvSpPr>
        <p:spPr>
          <a:xfrm>
            <a:off x="472440" y="170502"/>
            <a:ext cx="10165080" cy="37959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2300" b="1">
                <a:solidFill>
                  <a:srgbClr val="173650"/>
                </a:solidFill>
                <a:latin typeface="Microsoft YaHei" panose="020B0503020204020204" pitchFamily="34" charset="-122"/>
              </a:rPr>
              <a:t>测试能力成熟度：从专项评分到持续能力经营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7717FA77-6E86-AE4E-BD9F-085640CEDA69}"/>
              </a:ext>
            </a:extLst>
          </p:cNvPr>
          <p:cNvSpPr txBox="1"/>
          <p:nvPr/>
        </p:nvSpPr>
        <p:spPr>
          <a:xfrm>
            <a:off x="472440" y="441960"/>
            <a:ext cx="1016508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900">
                <a:solidFill>
                  <a:srgbClr val="5C707A"/>
                </a:solidFill>
                <a:latin typeface="Microsoft YaHei" panose="020B0503020204020204" pitchFamily="34" charset="-122"/>
              </a:rPr>
              <a:t>统一能力供给与目标标尺，持续跟踪建设进度，让成熟度结果真正驱动业务升级</a:t>
            </a:r>
          </a:p>
        </p:txBody>
      </p:sp>
      <p:sp>
        <p:nvSpPr>
          <p:cNvPr id="5" name="edition">
            <a:extLst>
              <a:ext uri="{FF2B5EF4-FFF2-40B4-BE49-F238E27FC236}">
                <a16:creationId xmlns:a16="http://schemas.microsoft.com/office/drawing/2014/main" id="{B4D673B9-2C32-C766-6EB9-E59EC0BDE9B3}"/>
              </a:ext>
            </a:extLst>
          </p:cNvPr>
          <p:cNvSpPr txBox="1"/>
          <p:nvPr/>
        </p:nvSpPr>
        <p:spPr>
          <a:xfrm>
            <a:off x="10662920" y="200982"/>
            <a:ext cx="1117600" cy="194925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r"/>
            <a:r>
              <a:rPr lang="en-US" altLang="zh-CN" sz="1100" b="1">
                <a:solidFill>
                  <a:srgbClr val="16837A"/>
                </a:solidFill>
                <a:latin typeface="Microsoft YaHei" panose="020B0503020204020204" pitchFamily="34" charset="-122"/>
              </a:rPr>
              <a:t>2025 → 2026</a:t>
            </a:r>
            <a:endParaRPr lang="zh-CN" altLang="en-US" sz="1100" b="1">
              <a:solidFill>
                <a:srgbClr val="16837A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6" name="topline">
            <a:extLst>
              <a:ext uri="{FF2B5EF4-FFF2-40B4-BE49-F238E27FC236}">
                <a16:creationId xmlns:a16="http://schemas.microsoft.com/office/drawing/2014/main" id="{74ADCC95-DF7B-E8B4-7DD2-34CB17A8E684}"/>
              </a:ext>
            </a:extLst>
          </p:cNvPr>
          <p:cNvCxnSpPr/>
          <p:nvPr/>
        </p:nvCxnSpPr>
        <p:spPr>
          <a:xfrm>
            <a:off x="472440" y="670560"/>
            <a:ext cx="11308080" cy="0"/>
          </a:xfrm>
          <a:prstGeom prst="line">
            <a:avLst/>
          </a:prstGeom>
          <a:ln w="15875">
            <a:solidFill>
              <a:srgbClr val="D4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ra-old-bar">
            <a:extLst>
              <a:ext uri="{FF2B5EF4-FFF2-40B4-BE49-F238E27FC236}">
                <a16:creationId xmlns:a16="http://schemas.microsoft.com/office/drawing/2014/main" id="{102112EA-32F2-E3C3-BE15-5A831ED8A4EC}"/>
              </a:ext>
            </a:extLst>
          </p:cNvPr>
          <p:cNvSpPr/>
          <p:nvPr/>
        </p:nvSpPr>
        <p:spPr>
          <a:xfrm>
            <a:off x="472440" y="754380"/>
            <a:ext cx="45720" cy="365760"/>
          </a:xfrm>
          <a:prstGeom prst="rect">
            <a:avLst/>
          </a:prstGeom>
          <a:solidFill>
            <a:srgbClr val="8393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era-old">
            <a:extLst>
              <a:ext uri="{FF2B5EF4-FFF2-40B4-BE49-F238E27FC236}">
                <a16:creationId xmlns:a16="http://schemas.microsoft.com/office/drawing/2014/main" id="{BBD74402-AD52-4259-52F7-EC9FF00BC193}"/>
              </a:ext>
            </a:extLst>
          </p:cNvPr>
          <p:cNvSpPr/>
          <p:nvPr/>
        </p:nvSpPr>
        <p:spPr>
          <a:xfrm>
            <a:off x="518160" y="754380"/>
            <a:ext cx="5295900" cy="365760"/>
          </a:xfrm>
          <a:prstGeom prst="rect">
            <a:avLst/>
          </a:prstGeom>
          <a:solidFill>
            <a:srgbClr val="E5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era-old-y">
            <a:extLst>
              <a:ext uri="{FF2B5EF4-FFF2-40B4-BE49-F238E27FC236}">
                <a16:creationId xmlns:a16="http://schemas.microsoft.com/office/drawing/2014/main" id="{76B47149-AC0C-335E-097A-9C0CB8E89C49}"/>
              </a:ext>
            </a:extLst>
          </p:cNvPr>
          <p:cNvSpPr txBox="1"/>
          <p:nvPr/>
        </p:nvSpPr>
        <p:spPr>
          <a:xfrm>
            <a:off x="574040" y="787722"/>
            <a:ext cx="482600" cy="456535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en-US" altLang="zh-CN" sz="1400" b="1">
                <a:solidFill>
                  <a:srgbClr val="173650"/>
                </a:solidFill>
                <a:latin typeface="Microsoft YaHei" panose="020B0503020204020204" pitchFamily="34" charset="-122"/>
              </a:rPr>
              <a:t>2025</a:t>
            </a:r>
            <a:endParaRPr lang="zh-CN" altLang="en-US" sz="1400" b="1">
              <a:solidFill>
                <a:srgbClr val="17365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era-old-t">
            <a:extLst>
              <a:ext uri="{FF2B5EF4-FFF2-40B4-BE49-F238E27FC236}">
                <a16:creationId xmlns:a16="http://schemas.microsoft.com/office/drawing/2014/main" id="{9FD8EFA1-230B-51A9-FEC6-548AFD532C34}"/>
              </a:ext>
            </a:extLst>
          </p:cNvPr>
          <p:cNvSpPr txBox="1"/>
          <p:nvPr/>
        </p:nvSpPr>
        <p:spPr>
          <a:xfrm>
            <a:off x="1031240" y="805180"/>
            <a:ext cx="470662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000" b="1">
                <a:solidFill>
                  <a:srgbClr val="294858"/>
                </a:solidFill>
                <a:latin typeface="Microsoft YaHei" panose="020B0503020204020204" pitchFamily="34" charset="-122"/>
              </a:rPr>
              <a:t>专项评分</a:t>
            </a:r>
          </a:p>
        </p:txBody>
      </p:sp>
      <p:sp>
        <p:nvSpPr>
          <p:cNvPr id="11" name="era-old-s">
            <a:extLst>
              <a:ext uri="{FF2B5EF4-FFF2-40B4-BE49-F238E27FC236}">
                <a16:creationId xmlns:a16="http://schemas.microsoft.com/office/drawing/2014/main" id="{A87CE05A-8D77-4B07-04E8-6B3EE144AA50}"/>
              </a:ext>
            </a:extLst>
          </p:cNvPr>
          <p:cNvSpPr txBox="1"/>
          <p:nvPr/>
        </p:nvSpPr>
        <p:spPr>
          <a:xfrm>
            <a:off x="1031240" y="1033780"/>
            <a:ext cx="470662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科组自选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阶段运营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平均得分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2.5</a:t>
            </a:r>
            <a:endParaRPr lang="zh-CN" altLang="en-US" sz="600">
              <a:solidFill>
                <a:srgbClr val="6477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era-evolve">
            <a:extLst>
              <a:ext uri="{FF2B5EF4-FFF2-40B4-BE49-F238E27FC236}">
                <a16:creationId xmlns:a16="http://schemas.microsoft.com/office/drawing/2014/main" id="{ADECC3C3-DB84-91A0-9632-1FFF86EB17EA}"/>
              </a:ext>
            </a:extLst>
          </p:cNvPr>
          <p:cNvSpPr/>
          <p:nvPr/>
        </p:nvSpPr>
        <p:spPr>
          <a:xfrm>
            <a:off x="5814060" y="779780"/>
            <a:ext cx="624840" cy="314960"/>
          </a:xfrm>
          <a:prstGeom prst="chevron">
            <a:avLst/>
          </a:prstGeom>
          <a:solidFill>
            <a:srgbClr val="C99A5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127000" bIns="12700" rtlCol="0" anchor="ctr"/>
          <a:lstStyle/>
          <a:p>
            <a:pPr algn="ctr"/>
            <a:r>
              <a:rPr lang="zh-CN" altLang="en-US" sz="800" b="1">
                <a:solidFill>
                  <a:srgbClr val="FFFFFF"/>
                </a:solidFill>
                <a:latin typeface="Microsoft YaHei" panose="020B0503020204020204" pitchFamily="34" charset="-122"/>
              </a:rPr>
              <a:t>重构</a:t>
            </a:r>
          </a:p>
        </p:txBody>
      </p:sp>
      <p:sp>
        <p:nvSpPr>
          <p:cNvPr id="13" name="era-new">
            <a:extLst>
              <a:ext uri="{FF2B5EF4-FFF2-40B4-BE49-F238E27FC236}">
                <a16:creationId xmlns:a16="http://schemas.microsoft.com/office/drawing/2014/main" id="{6244300B-F8FC-F4A8-F972-4337E160CF24}"/>
              </a:ext>
            </a:extLst>
          </p:cNvPr>
          <p:cNvSpPr/>
          <p:nvPr/>
        </p:nvSpPr>
        <p:spPr>
          <a:xfrm>
            <a:off x="6438900" y="754380"/>
            <a:ext cx="5295900" cy="365760"/>
          </a:xfrm>
          <a:prstGeom prst="rect">
            <a:avLst/>
          </a:prstGeom>
          <a:solidFill>
            <a:srgbClr val="DCEF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era-new-bar">
            <a:extLst>
              <a:ext uri="{FF2B5EF4-FFF2-40B4-BE49-F238E27FC236}">
                <a16:creationId xmlns:a16="http://schemas.microsoft.com/office/drawing/2014/main" id="{725114B1-8BB4-D6EE-7665-1079B698B2D1}"/>
              </a:ext>
            </a:extLst>
          </p:cNvPr>
          <p:cNvSpPr/>
          <p:nvPr/>
        </p:nvSpPr>
        <p:spPr>
          <a:xfrm>
            <a:off x="11734800" y="754380"/>
            <a:ext cx="45720" cy="36576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era-new-y">
            <a:extLst>
              <a:ext uri="{FF2B5EF4-FFF2-40B4-BE49-F238E27FC236}">
                <a16:creationId xmlns:a16="http://schemas.microsoft.com/office/drawing/2014/main" id="{AA1D419E-ADED-274D-0A4B-0C5CB1C13F5D}"/>
              </a:ext>
            </a:extLst>
          </p:cNvPr>
          <p:cNvSpPr txBox="1"/>
          <p:nvPr/>
        </p:nvSpPr>
        <p:spPr>
          <a:xfrm>
            <a:off x="6540500" y="787722"/>
            <a:ext cx="482600" cy="456535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en-US" altLang="zh-CN" sz="1400" b="1">
                <a:solidFill>
                  <a:srgbClr val="173650"/>
                </a:solidFill>
                <a:latin typeface="Microsoft YaHei" panose="020B0503020204020204" pitchFamily="34" charset="-122"/>
              </a:rPr>
              <a:t>2026</a:t>
            </a:r>
            <a:endParaRPr lang="zh-CN" altLang="en-US" sz="1400" b="1">
              <a:solidFill>
                <a:srgbClr val="17365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era-new-t">
            <a:extLst>
              <a:ext uri="{FF2B5EF4-FFF2-40B4-BE49-F238E27FC236}">
                <a16:creationId xmlns:a16="http://schemas.microsoft.com/office/drawing/2014/main" id="{3201EF92-5899-4F11-7CB1-87A992E00DAE}"/>
              </a:ext>
            </a:extLst>
          </p:cNvPr>
          <p:cNvSpPr txBox="1"/>
          <p:nvPr/>
        </p:nvSpPr>
        <p:spPr>
          <a:xfrm>
            <a:off x="6997700" y="805180"/>
            <a:ext cx="470662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000" b="1">
                <a:solidFill>
                  <a:srgbClr val="294858"/>
                </a:solidFill>
                <a:latin typeface="Microsoft YaHei" panose="020B0503020204020204" pitchFamily="34" charset="-122"/>
              </a:rPr>
              <a:t>持续能力经营</a:t>
            </a:r>
          </a:p>
        </p:txBody>
      </p:sp>
      <p:sp>
        <p:nvSpPr>
          <p:cNvPr id="17" name="era-new-s">
            <a:extLst>
              <a:ext uri="{FF2B5EF4-FFF2-40B4-BE49-F238E27FC236}">
                <a16:creationId xmlns:a16="http://schemas.microsoft.com/office/drawing/2014/main" id="{27BC96DD-C01A-95FC-921C-7291158F72EC}"/>
              </a:ext>
            </a:extLst>
          </p:cNvPr>
          <p:cNvSpPr txBox="1"/>
          <p:nvPr/>
        </p:nvSpPr>
        <p:spPr>
          <a:xfrm>
            <a:off x="6997700" y="1033780"/>
            <a:ext cx="470662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统一供给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持续运营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各领域目标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>
              <a:solidFill>
                <a:srgbClr val="6477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special-bg">
            <a:extLst>
              <a:ext uri="{FF2B5EF4-FFF2-40B4-BE49-F238E27FC236}">
                <a16:creationId xmlns:a16="http://schemas.microsoft.com/office/drawing/2014/main" id="{94EF89C2-DDFB-B5D0-9403-E64AE811C5B4}"/>
              </a:ext>
            </a:extLst>
          </p:cNvPr>
          <p:cNvSpPr/>
          <p:nvPr/>
        </p:nvSpPr>
        <p:spPr>
          <a:xfrm>
            <a:off x="472440" y="1196340"/>
            <a:ext cx="11308080" cy="624840"/>
          </a:xfrm>
          <a:prstGeom prst="rect">
            <a:avLst/>
          </a:prstGeom>
          <a:solidFill>
            <a:srgbClr val="E4EEEE"/>
          </a:solidFill>
          <a:ln w="7620">
            <a:solidFill>
              <a:srgbClr val="C9D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special-div">
            <a:extLst>
              <a:ext uri="{FF2B5EF4-FFF2-40B4-BE49-F238E27FC236}">
                <a16:creationId xmlns:a16="http://schemas.microsoft.com/office/drawing/2014/main" id="{B69FB8F5-A2BE-34B4-E4CE-4987C119FD86}"/>
              </a:ext>
            </a:extLst>
          </p:cNvPr>
          <p:cNvSpPr/>
          <p:nvPr/>
        </p:nvSpPr>
        <p:spPr>
          <a:xfrm>
            <a:off x="2034540" y="1196340"/>
            <a:ext cx="7620" cy="624840"/>
          </a:xfrm>
          <a:prstGeom prst="rect">
            <a:avLst/>
          </a:prstGeom>
          <a:solidFill>
            <a:srgbClr val="C9D9D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special-title">
            <a:extLst>
              <a:ext uri="{FF2B5EF4-FFF2-40B4-BE49-F238E27FC236}">
                <a16:creationId xmlns:a16="http://schemas.microsoft.com/office/drawing/2014/main" id="{CD31CD14-7012-E1F8-FA2C-65DE6DD7BDE0}"/>
              </a:ext>
            </a:extLst>
          </p:cNvPr>
          <p:cNvSpPr txBox="1"/>
          <p:nvPr/>
        </p:nvSpPr>
        <p:spPr>
          <a:xfrm>
            <a:off x="548640" y="1272540"/>
            <a:ext cx="144780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200" b="1">
                <a:solidFill>
                  <a:srgbClr val="1F555A"/>
                </a:solidFill>
                <a:latin typeface="Microsoft YaHei" panose="020B0503020204020204" pitchFamily="34" charset="-122"/>
              </a:rPr>
              <a:t>专项价值</a:t>
            </a:r>
          </a:p>
        </p:txBody>
      </p:sp>
      <p:sp>
        <p:nvSpPr>
          <p:cNvPr id="21" name="special-desc">
            <a:extLst>
              <a:ext uri="{FF2B5EF4-FFF2-40B4-BE49-F238E27FC236}">
                <a16:creationId xmlns:a16="http://schemas.microsoft.com/office/drawing/2014/main" id="{F9CA1196-8D0C-97E4-016D-12C3EEDDB3D9}"/>
              </a:ext>
            </a:extLst>
          </p:cNvPr>
          <p:cNvSpPr txBox="1"/>
          <p:nvPr/>
        </p:nvSpPr>
        <p:spPr>
          <a:xfrm>
            <a:off x="548640" y="1526540"/>
            <a:ext cx="144780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5D747C"/>
                </a:solidFill>
                <a:latin typeface="Microsoft YaHei" panose="020B0503020204020204" pitchFamily="34" charset="-122"/>
              </a:rPr>
              <a:t>成熟度不止输出得分，更把差距转为能力交付、业务改进与资源决策。</a:t>
            </a:r>
          </a:p>
        </p:txBody>
      </p:sp>
      <p:sp>
        <p:nvSpPr>
          <p:cNvPr id="22" name="role1-bg">
            <a:extLst>
              <a:ext uri="{FF2B5EF4-FFF2-40B4-BE49-F238E27FC236}">
                <a16:creationId xmlns:a16="http://schemas.microsoft.com/office/drawing/2014/main" id="{8D53BDA9-C0AD-C83B-7A37-B52350C6F0AA}"/>
              </a:ext>
            </a:extLst>
          </p:cNvPr>
          <p:cNvSpPr/>
          <p:nvPr/>
        </p:nvSpPr>
        <p:spPr>
          <a:xfrm>
            <a:off x="2110740" y="1272540"/>
            <a:ext cx="3163993" cy="472440"/>
          </a:xfrm>
          <a:prstGeom prst="rect">
            <a:avLst/>
          </a:prstGeom>
          <a:solidFill>
            <a:srgbClr val="F7F9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role1-top">
            <a:extLst>
              <a:ext uri="{FF2B5EF4-FFF2-40B4-BE49-F238E27FC236}">
                <a16:creationId xmlns:a16="http://schemas.microsoft.com/office/drawing/2014/main" id="{0BDE81D5-62D8-E30B-15D5-41AD1A37147F}"/>
              </a:ext>
            </a:extLst>
          </p:cNvPr>
          <p:cNvSpPr/>
          <p:nvPr/>
        </p:nvSpPr>
        <p:spPr>
          <a:xfrm>
            <a:off x="2110740" y="1272540"/>
            <a:ext cx="3163993" cy="25400"/>
          </a:xfrm>
          <a:prstGeom prst="rect">
            <a:avLst/>
          </a:prstGeom>
          <a:solidFill>
            <a:srgbClr val="76A9A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ole1-ico1">
            <a:extLst>
              <a:ext uri="{FF2B5EF4-FFF2-40B4-BE49-F238E27FC236}">
                <a16:creationId xmlns:a16="http://schemas.microsoft.com/office/drawing/2014/main" id="{CD40254B-7913-F0C9-8389-12CF50F61286}"/>
              </a:ext>
            </a:extLst>
          </p:cNvPr>
          <p:cNvSpPr/>
          <p:nvPr/>
        </p:nvSpPr>
        <p:spPr>
          <a:xfrm>
            <a:off x="2161540" y="1399540"/>
            <a:ext cx="127000" cy="127000"/>
          </a:xfrm>
          <a:prstGeom prst="ellipse">
            <a:avLst/>
          </a:prstGeom>
          <a:noFill/>
          <a:ln w="1397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role1-ico2">
            <a:extLst>
              <a:ext uri="{FF2B5EF4-FFF2-40B4-BE49-F238E27FC236}">
                <a16:creationId xmlns:a16="http://schemas.microsoft.com/office/drawing/2014/main" id="{21848F88-4AB2-04BA-64CF-359F411253A6}"/>
              </a:ext>
            </a:extLst>
          </p:cNvPr>
          <p:cNvSpPr/>
          <p:nvPr/>
        </p:nvSpPr>
        <p:spPr>
          <a:xfrm>
            <a:off x="2263140" y="1424940"/>
            <a:ext cx="101600" cy="101600"/>
          </a:xfrm>
          <a:prstGeom prst="ellipse">
            <a:avLst/>
          </a:prstGeom>
          <a:noFill/>
          <a:ln w="1397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role1-ico3">
            <a:extLst>
              <a:ext uri="{FF2B5EF4-FFF2-40B4-BE49-F238E27FC236}">
                <a16:creationId xmlns:a16="http://schemas.microsoft.com/office/drawing/2014/main" id="{B11285F3-3975-C58A-9F1F-DBE43386BA0D}"/>
              </a:ext>
            </a:extLst>
          </p:cNvPr>
          <p:cNvSpPr/>
          <p:nvPr/>
        </p:nvSpPr>
        <p:spPr>
          <a:xfrm>
            <a:off x="2161540" y="1551940"/>
            <a:ext cx="203200" cy="101600"/>
          </a:xfrm>
          <a:prstGeom prst="roundRect">
            <a:avLst/>
          </a:prstGeom>
          <a:noFill/>
          <a:ln w="1397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role1-t">
            <a:extLst>
              <a:ext uri="{FF2B5EF4-FFF2-40B4-BE49-F238E27FC236}">
                <a16:creationId xmlns:a16="http://schemas.microsoft.com/office/drawing/2014/main" id="{25CA07A6-2F25-CE65-93E7-BC671E99D5C1}"/>
              </a:ext>
            </a:extLst>
          </p:cNvPr>
          <p:cNvSpPr txBox="1"/>
          <p:nvPr/>
        </p:nvSpPr>
        <p:spPr>
          <a:xfrm>
            <a:off x="2440940" y="1323340"/>
            <a:ext cx="2782993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700" b="1">
                <a:solidFill>
                  <a:srgbClr val="294858"/>
                </a:solidFill>
                <a:latin typeface="Microsoft YaHei" panose="020B0503020204020204" pitchFamily="34" charset="-122"/>
              </a:rPr>
              <a:t>科组 </a:t>
            </a:r>
            <a:r>
              <a:rPr lang="en-US" altLang="zh-CN" sz="700" b="1">
                <a:solidFill>
                  <a:srgbClr val="294858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700" b="1">
                <a:solidFill>
                  <a:srgbClr val="294858"/>
                </a:solidFill>
                <a:latin typeface="Microsoft YaHei" panose="020B0503020204020204" pitchFamily="34" charset="-122"/>
              </a:rPr>
              <a:t>部门</a:t>
            </a:r>
          </a:p>
        </p:txBody>
      </p:sp>
      <p:sp>
        <p:nvSpPr>
          <p:cNvPr id="28" name="role1-p">
            <a:extLst>
              <a:ext uri="{FF2B5EF4-FFF2-40B4-BE49-F238E27FC236}">
                <a16:creationId xmlns:a16="http://schemas.microsoft.com/office/drawing/2014/main" id="{A9F3EC31-ED2C-F4DE-8DF3-C77A0E436CA3}"/>
              </a:ext>
            </a:extLst>
          </p:cNvPr>
          <p:cNvSpPr txBox="1"/>
          <p:nvPr/>
        </p:nvSpPr>
        <p:spPr>
          <a:xfrm>
            <a:off x="2440940" y="1501140"/>
            <a:ext cx="2782993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看清建设差距，明确补齐项和落地计划。</a:t>
            </a:r>
          </a:p>
        </p:txBody>
      </p:sp>
      <p:sp>
        <p:nvSpPr>
          <p:cNvPr id="29" name="role2-bg">
            <a:extLst>
              <a:ext uri="{FF2B5EF4-FFF2-40B4-BE49-F238E27FC236}">
                <a16:creationId xmlns:a16="http://schemas.microsoft.com/office/drawing/2014/main" id="{788CB1E6-741D-E6E6-388B-D9E9072CE36B}"/>
              </a:ext>
            </a:extLst>
          </p:cNvPr>
          <p:cNvSpPr/>
          <p:nvPr/>
        </p:nvSpPr>
        <p:spPr>
          <a:xfrm>
            <a:off x="5350933" y="1272540"/>
            <a:ext cx="3163994" cy="472440"/>
          </a:xfrm>
          <a:prstGeom prst="rect">
            <a:avLst/>
          </a:prstGeom>
          <a:solidFill>
            <a:srgbClr val="F7F9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role2-top">
            <a:extLst>
              <a:ext uri="{FF2B5EF4-FFF2-40B4-BE49-F238E27FC236}">
                <a16:creationId xmlns:a16="http://schemas.microsoft.com/office/drawing/2014/main" id="{E677D587-21A5-7F06-F2B1-B634FB40F873}"/>
              </a:ext>
            </a:extLst>
          </p:cNvPr>
          <p:cNvSpPr/>
          <p:nvPr/>
        </p:nvSpPr>
        <p:spPr>
          <a:xfrm>
            <a:off x="5350933" y="1272540"/>
            <a:ext cx="3163994" cy="25400"/>
          </a:xfrm>
          <a:prstGeom prst="rect">
            <a:avLst/>
          </a:prstGeom>
          <a:solidFill>
            <a:srgbClr val="91A6A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role2-ico1">
            <a:extLst>
              <a:ext uri="{FF2B5EF4-FFF2-40B4-BE49-F238E27FC236}">
                <a16:creationId xmlns:a16="http://schemas.microsoft.com/office/drawing/2014/main" id="{ED228CE4-B916-45EA-9E1C-4C38ED7A8689}"/>
              </a:ext>
            </a:extLst>
          </p:cNvPr>
          <p:cNvSpPr/>
          <p:nvPr/>
        </p:nvSpPr>
        <p:spPr>
          <a:xfrm>
            <a:off x="5401733" y="1399540"/>
            <a:ext cx="127000" cy="127000"/>
          </a:xfrm>
          <a:prstGeom prst="ellipse">
            <a:avLst/>
          </a:prstGeom>
          <a:noFill/>
          <a:ln w="1397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le2-ico2">
            <a:extLst>
              <a:ext uri="{FF2B5EF4-FFF2-40B4-BE49-F238E27FC236}">
                <a16:creationId xmlns:a16="http://schemas.microsoft.com/office/drawing/2014/main" id="{AF595AF8-6E20-BFEA-5B66-E3A3967A7DA0}"/>
              </a:ext>
            </a:extLst>
          </p:cNvPr>
          <p:cNvSpPr/>
          <p:nvPr/>
        </p:nvSpPr>
        <p:spPr>
          <a:xfrm>
            <a:off x="5503333" y="1424940"/>
            <a:ext cx="101600" cy="101600"/>
          </a:xfrm>
          <a:prstGeom prst="ellipse">
            <a:avLst/>
          </a:prstGeom>
          <a:noFill/>
          <a:ln w="1397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role2-ico3">
            <a:extLst>
              <a:ext uri="{FF2B5EF4-FFF2-40B4-BE49-F238E27FC236}">
                <a16:creationId xmlns:a16="http://schemas.microsoft.com/office/drawing/2014/main" id="{C389D04F-881B-CCF0-05B0-F5FC19758C25}"/>
              </a:ext>
            </a:extLst>
          </p:cNvPr>
          <p:cNvSpPr/>
          <p:nvPr/>
        </p:nvSpPr>
        <p:spPr>
          <a:xfrm>
            <a:off x="5401733" y="1551940"/>
            <a:ext cx="203200" cy="101600"/>
          </a:xfrm>
          <a:prstGeom prst="roundRect">
            <a:avLst/>
          </a:prstGeom>
          <a:noFill/>
          <a:ln w="1397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role2-t">
            <a:extLst>
              <a:ext uri="{FF2B5EF4-FFF2-40B4-BE49-F238E27FC236}">
                <a16:creationId xmlns:a16="http://schemas.microsoft.com/office/drawing/2014/main" id="{AFB0C615-3B1D-B161-FAFC-8BA8139C71A2}"/>
              </a:ext>
            </a:extLst>
          </p:cNvPr>
          <p:cNvSpPr txBox="1"/>
          <p:nvPr/>
        </p:nvSpPr>
        <p:spPr>
          <a:xfrm>
            <a:off x="5681133" y="1323340"/>
            <a:ext cx="2782993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700" b="1">
                <a:solidFill>
                  <a:srgbClr val="294858"/>
                </a:solidFill>
                <a:latin typeface="Microsoft YaHei" panose="020B0503020204020204" pitchFamily="34" charset="-122"/>
              </a:rPr>
              <a:t>能力 </a:t>
            </a:r>
            <a:r>
              <a:rPr lang="en-US" altLang="zh-CN" sz="700" b="1">
                <a:solidFill>
                  <a:srgbClr val="294858"/>
                </a:solidFill>
                <a:latin typeface="Microsoft YaHei" panose="020B0503020204020204" pitchFamily="34" charset="-122"/>
              </a:rPr>
              <a:t>Owner</a:t>
            </a:r>
            <a:endParaRPr lang="zh-CN" altLang="en-US" sz="700" b="1">
              <a:solidFill>
                <a:srgbClr val="29485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5" name="role2-p">
            <a:extLst>
              <a:ext uri="{FF2B5EF4-FFF2-40B4-BE49-F238E27FC236}">
                <a16:creationId xmlns:a16="http://schemas.microsoft.com/office/drawing/2014/main" id="{15D63338-CD84-80F7-1D73-7E3ED2329F52}"/>
              </a:ext>
            </a:extLst>
          </p:cNvPr>
          <p:cNvSpPr txBox="1"/>
          <p:nvPr/>
        </p:nvSpPr>
        <p:spPr>
          <a:xfrm>
            <a:off x="5681133" y="1501140"/>
            <a:ext cx="2782993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审视交付进度，推动 </a:t>
            </a:r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SP/BP 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目标兑现。</a:t>
            </a:r>
          </a:p>
        </p:txBody>
      </p:sp>
      <p:sp>
        <p:nvSpPr>
          <p:cNvPr id="36" name="role3-bg">
            <a:extLst>
              <a:ext uri="{FF2B5EF4-FFF2-40B4-BE49-F238E27FC236}">
                <a16:creationId xmlns:a16="http://schemas.microsoft.com/office/drawing/2014/main" id="{DEB43275-45B8-E9FB-E4FF-32B5DA953D2E}"/>
              </a:ext>
            </a:extLst>
          </p:cNvPr>
          <p:cNvSpPr/>
          <p:nvPr/>
        </p:nvSpPr>
        <p:spPr>
          <a:xfrm>
            <a:off x="8591127" y="1272540"/>
            <a:ext cx="3163993" cy="472440"/>
          </a:xfrm>
          <a:prstGeom prst="rect">
            <a:avLst/>
          </a:prstGeom>
          <a:solidFill>
            <a:srgbClr val="F7F9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role3-top">
            <a:extLst>
              <a:ext uri="{FF2B5EF4-FFF2-40B4-BE49-F238E27FC236}">
                <a16:creationId xmlns:a16="http://schemas.microsoft.com/office/drawing/2014/main" id="{88D47A94-A004-5A4E-BE01-8A1523248D68}"/>
              </a:ext>
            </a:extLst>
          </p:cNvPr>
          <p:cNvSpPr/>
          <p:nvPr/>
        </p:nvSpPr>
        <p:spPr>
          <a:xfrm>
            <a:off x="8591127" y="1272540"/>
            <a:ext cx="3163993" cy="25400"/>
          </a:xfrm>
          <a:prstGeom prst="rect">
            <a:avLst/>
          </a:prstGeom>
          <a:solidFill>
            <a:srgbClr val="C2A16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role3-ico1">
            <a:extLst>
              <a:ext uri="{FF2B5EF4-FFF2-40B4-BE49-F238E27FC236}">
                <a16:creationId xmlns:a16="http://schemas.microsoft.com/office/drawing/2014/main" id="{CE491DE0-DC7D-29B5-375F-E5870D0BE1BC}"/>
              </a:ext>
            </a:extLst>
          </p:cNvPr>
          <p:cNvSpPr/>
          <p:nvPr/>
        </p:nvSpPr>
        <p:spPr>
          <a:xfrm>
            <a:off x="8641927" y="1399540"/>
            <a:ext cx="127000" cy="127000"/>
          </a:xfrm>
          <a:prstGeom prst="ellipse">
            <a:avLst/>
          </a:prstGeom>
          <a:noFill/>
          <a:ln w="1397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role3-ico2">
            <a:extLst>
              <a:ext uri="{FF2B5EF4-FFF2-40B4-BE49-F238E27FC236}">
                <a16:creationId xmlns:a16="http://schemas.microsoft.com/office/drawing/2014/main" id="{60F4235F-A35F-7756-399A-AA1C4CC23686}"/>
              </a:ext>
            </a:extLst>
          </p:cNvPr>
          <p:cNvSpPr/>
          <p:nvPr/>
        </p:nvSpPr>
        <p:spPr>
          <a:xfrm>
            <a:off x="8743527" y="1424940"/>
            <a:ext cx="101600" cy="101600"/>
          </a:xfrm>
          <a:prstGeom prst="ellipse">
            <a:avLst/>
          </a:prstGeom>
          <a:noFill/>
          <a:ln w="1397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role3-ico3">
            <a:extLst>
              <a:ext uri="{FF2B5EF4-FFF2-40B4-BE49-F238E27FC236}">
                <a16:creationId xmlns:a16="http://schemas.microsoft.com/office/drawing/2014/main" id="{C1372CA9-1297-75AB-6F1A-91A24C8A6032}"/>
              </a:ext>
            </a:extLst>
          </p:cNvPr>
          <p:cNvSpPr/>
          <p:nvPr/>
        </p:nvSpPr>
        <p:spPr>
          <a:xfrm>
            <a:off x="8641927" y="1551940"/>
            <a:ext cx="203200" cy="101600"/>
          </a:xfrm>
          <a:prstGeom prst="roundRect">
            <a:avLst/>
          </a:prstGeom>
          <a:noFill/>
          <a:ln w="1397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role3-t">
            <a:extLst>
              <a:ext uri="{FF2B5EF4-FFF2-40B4-BE49-F238E27FC236}">
                <a16:creationId xmlns:a16="http://schemas.microsoft.com/office/drawing/2014/main" id="{BA56FC48-24D4-B328-57F9-46C2184CD015}"/>
              </a:ext>
            </a:extLst>
          </p:cNvPr>
          <p:cNvSpPr txBox="1"/>
          <p:nvPr/>
        </p:nvSpPr>
        <p:spPr>
          <a:xfrm>
            <a:off x="8921327" y="1323340"/>
            <a:ext cx="2782993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700" b="1">
                <a:solidFill>
                  <a:srgbClr val="294858"/>
                </a:solidFill>
                <a:latin typeface="Microsoft YaHei" panose="020B0503020204020204" pitchFamily="34" charset="-122"/>
              </a:rPr>
              <a:t>测试管理者</a:t>
            </a:r>
          </a:p>
        </p:txBody>
      </p:sp>
      <p:sp>
        <p:nvSpPr>
          <p:cNvPr id="42" name="role3-p">
            <a:extLst>
              <a:ext uri="{FF2B5EF4-FFF2-40B4-BE49-F238E27FC236}">
                <a16:creationId xmlns:a16="http://schemas.microsoft.com/office/drawing/2014/main" id="{002358F2-DBD5-7896-F6C2-2810C60806FC}"/>
              </a:ext>
            </a:extLst>
          </p:cNvPr>
          <p:cNvSpPr txBox="1"/>
          <p:nvPr/>
        </p:nvSpPr>
        <p:spPr>
          <a:xfrm>
            <a:off x="8921327" y="1501140"/>
            <a:ext cx="2782993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掌握整体进度，支撑规划与资源选择。</a:t>
            </a:r>
          </a:p>
        </p:txBody>
      </p:sp>
      <p:sp>
        <p:nvSpPr>
          <p:cNvPr id="43" name="m-corner">
            <a:extLst>
              <a:ext uri="{FF2B5EF4-FFF2-40B4-BE49-F238E27FC236}">
                <a16:creationId xmlns:a16="http://schemas.microsoft.com/office/drawing/2014/main" id="{56E818A4-FC1F-0639-8FEB-604EBB32F713}"/>
              </a:ext>
            </a:extLst>
          </p:cNvPr>
          <p:cNvSpPr/>
          <p:nvPr/>
        </p:nvSpPr>
        <p:spPr>
          <a:xfrm>
            <a:off x="472440" y="1912620"/>
            <a:ext cx="899160" cy="220980"/>
          </a:xfrm>
          <a:prstGeom prst="rect">
            <a:avLst/>
          </a:prstGeom>
          <a:solidFill>
            <a:srgbClr val="D8DFE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m-head-old">
            <a:extLst>
              <a:ext uri="{FF2B5EF4-FFF2-40B4-BE49-F238E27FC236}">
                <a16:creationId xmlns:a16="http://schemas.microsoft.com/office/drawing/2014/main" id="{26B9C911-012F-EDC3-FFB5-E7AEB584C724}"/>
              </a:ext>
            </a:extLst>
          </p:cNvPr>
          <p:cNvSpPr/>
          <p:nvPr/>
        </p:nvSpPr>
        <p:spPr>
          <a:xfrm>
            <a:off x="1371600" y="1912620"/>
            <a:ext cx="4358640" cy="220980"/>
          </a:xfrm>
          <a:prstGeom prst="rect">
            <a:avLst/>
          </a:prstGeom>
          <a:solidFill>
            <a:srgbClr val="E1E5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m-head-old-t">
            <a:extLst>
              <a:ext uri="{FF2B5EF4-FFF2-40B4-BE49-F238E27FC236}">
                <a16:creationId xmlns:a16="http://schemas.microsoft.com/office/drawing/2014/main" id="{EE2FBA09-4E03-B03A-B41C-6E9ED7874812}"/>
              </a:ext>
            </a:extLst>
          </p:cNvPr>
          <p:cNvSpPr txBox="1"/>
          <p:nvPr/>
        </p:nvSpPr>
        <p:spPr>
          <a:xfrm>
            <a:off x="1371600" y="1945962"/>
            <a:ext cx="435864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en-US" altLang="zh-CN" sz="900" b="1">
                <a:solidFill>
                  <a:srgbClr val="405863"/>
                </a:solidFill>
                <a:latin typeface="Microsoft YaHei" panose="020B0503020204020204" pitchFamily="34" charset="-122"/>
              </a:rPr>
              <a:t>2025 · </a:t>
            </a:r>
            <a:r>
              <a:rPr lang="zh-CN" altLang="en-US" sz="900" b="1">
                <a:solidFill>
                  <a:srgbClr val="405863"/>
                </a:solidFill>
                <a:latin typeface="Microsoft YaHei" panose="020B0503020204020204" pitchFamily="34" charset="-122"/>
              </a:rPr>
              <a:t>专项评分</a:t>
            </a:r>
          </a:p>
        </p:txBody>
      </p:sp>
      <p:sp>
        <p:nvSpPr>
          <p:cNvPr id="46" name="m-head-new">
            <a:extLst>
              <a:ext uri="{FF2B5EF4-FFF2-40B4-BE49-F238E27FC236}">
                <a16:creationId xmlns:a16="http://schemas.microsoft.com/office/drawing/2014/main" id="{5EF9170B-D160-DDBD-58C9-64BDD43BBCE2}"/>
              </a:ext>
            </a:extLst>
          </p:cNvPr>
          <p:cNvSpPr/>
          <p:nvPr/>
        </p:nvSpPr>
        <p:spPr>
          <a:xfrm>
            <a:off x="5730240" y="1912620"/>
            <a:ext cx="6050280" cy="220980"/>
          </a:xfrm>
          <a:prstGeom prst="rect">
            <a:avLst/>
          </a:prstGeom>
          <a:solidFill>
            <a:srgbClr val="D8EBE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m-head-new-t">
            <a:extLst>
              <a:ext uri="{FF2B5EF4-FFF2-40B4-BE49-F238E27FC236}">
                <a16:creationId xmlns:a16="http://schemas.microsoft.com/office/drawing/2014/main" id="{D8BC4995-84DD-3E93-01D8-F6E8BA3A9176}"/>
              </a:ext>
            </a:extLst>
          </p:cNvPr>
          <p:cNvSpPr txBox="1"/>
          <p:nvPr/>
        </p:nvSpPr>
        <p:spPr>
          <a:xfrm>
            <a:off x="5730240" y="1945962"/>
            <a:ext cx="605028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en-US" altLang="zh-CN" sz="900" b="1">
                <a:solidFill>
                  <a:srgbClr val="176B65"/>
                </a:solidFill>
                <a:latin typeface="Microsoft YaHei" panose="020B0503020204020204" pitchFamily="34" charset="-122"/>
              </a:rPr>
              <a:t>2026 · </a:t>
            </a:r>
            <a:r>
              <a:rPr lang="zh-CN" altLang="en-US" sz="900" b="1">
                <a:solidFill>
                  <a:srgbClr val="176B65"/>
                </a:solidFill>
                <a:latin typeface="Microsoft YaHei" panose="020B0503020204020204" pitchFamily="34" charset="-122"/>
              </a:rPr>
              <a:t>持续能力经营</a:t>
            </a:r>
          </a:p>
        </p:txBody>
      </p:sp>
      <p:sp>
        <p:nvSpPr>
          <p:cNvPr id="48" name="lab-design-bg">
            <a:extLst>
              <a:ext uri="{FF2B5EF4-FFF2-40B4-BE49-F238E27FC236}">
                <a16:creationId xmlns:a16="http://schemas.microsoft.com/office/drawing/2014/main" id="{96C3E6BC-8E57-A1EF-8284-B1D45C4975A6}"/>
              </a:ext>
            </a:extLst>
          </p:cNvPr>
          <p:cNvSpPr/>
          <p:nvPr/>
        </p:nvSpPr>
        <p:spPr>
          <a:xfrm>
            <a:off x="472440" y="2133600"/>
            <a:ext cx="899160" cy="617220"/>
          </a:xfrm>
          <a:prstGeom prst="rect">
            <a:avLst/>
          </a:prstGeom>
          <a:solidFill>
            <a:srgbClr val="EDF0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lab-design-t">
            <a:extLst>
              <a:ext uri="{FF2B5EF4-FFF2-40B4-BE49-F238E27FC236}">
                <a16:creationId xmlns:a16="http://schemas.microsoft.com/office/drawing/2014/main" id="{05C777A7-3C6C-F9BB-0577-A7DCB1659641}"/>
              </a:ext>
            </a:extLst>
          </p:cNvPr>
          <p:cNvSpPr txBox="1"/>
          <p:nvPr/>
        </p:nvSpPr>
        <p:spPr>
          <a:xfrm>
            <a:off x="523240" y="2184400"/>
            <a:ext cx="79756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000" b="1">
                <a:solidFill>
                  <a:srgbClr val="173650"/>
                </a:solidFill>
                <a:latin typeface="Microsoft YaHei" panose="020B0503020204020204" pitchFamily="34" charset="-122"/>
              </a:rPr>
              <a:t>能力设计</a:t>
            </a:r>
          </a:p>
        </p:txBody>
      </p:sp>
      <p:sp>
        <p:nvSpPr>
          <p:cNvPr id="50" name="lab-design-s">
            <a:extLst>
              <a:ext uri="{FF2B5EF4-FFF2-40B4-BE49-F238E27FC236}">
                <a16:creationId xmlns:a16="http://schemas.microsoft.com/office/drawing/2014/main" id="{FC357CDF-B152-A6F7-539E-1D6DB27846B0}"/>
              </a:ext>
            </a:extLst>
          </p:cNvPr>
          <p:cNvSpPr txBox="1"/>
          <p:nvPr/>
        </p:nvSpPr>
        <p:spPr>
          <a:xfrm>
            <a:off x="523240" y="2387600"/>
            <a:ext cx="79756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供给、领域与目标</a:t>
            </a:r>
          </a:p>
        </p:txBody>
      </p:sp>
      <p:sp>
        <p:nvSpPr>
          <p:cNvPr id="51" name="lab-ops-bg">
            <a:extLst>
              <a:ext uri="{FF2B5EF4-FFF2-40B4-BE49-F238E27FC236}">
                <a16:creationId xmlns:a16="http://schemas.microsoft.com/office/drawing/2014/main" id="{B82C9559-7693-F01B-A09E-523CE996E69F}"/>
              </a:ext>
            </a:extLst>
          </p:cNvPr>
          <p:cNvSpPr/>
          <p:nvPr/>
        </p:nvSpPr>
        <p:spPr>
          <a:xfrm>
            <a:off x="472440" y="2750820"/>
            <a:ext cx="899160" cy="518160"/>
          </a:xfrm>
          <a:prstGeom prst="rect">
            <a:avLst/>
          </a:prstGeom>
          <a:solidFill>
            <a:srgbClr val="EDF0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lab-ops-t">
            <a:extLst>
              <a:ext uri="{FF2B5EF4-FFF2-40B4-BE49-F238E27FC236}">
                <a16:creationId xmlns:a16="http://schemas.microsoft.com/office/drawing/2014/main" id="{9B4517F3-03E4-8EDE-6D6C-AA3DB496CBFE}"/>
              </a:ext>
            </a:extLst>
          </p:cNvPr>
          <p:cNvSpPr txBox="1"/>
          <p:nvPr/>
        </p:nvSpPr>
        <p:spPr>
          <a:xfrm>
            <a:off x="523240" y="2801620"/>
            <a:ext cx="79756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000" b="1">
                <a:solidFill>
                  <a:srgbClr val="173650"/>
                </a:solidFill>
                <a:latin typeface="Microsoft YaHei" panose="020B0503020204020204" pitchFamily="34" charset="-122"/>
              </a:rPr>
              <a:t>监控运营</a:t>
            </a:r>
          </a:p>
        </p:txBody>
      </p:sp>
      <p:sp>
        <p:nvSpPr>
          <p:cNvPr id="53" name="lab-ops-s">
            <a:extLst>
              <a:ext uri="{FF2B5EF4-FFF2-40B4-BE49-F238E27FC236}">
                <a16:creationId xmlns:a16="http://schemas.microsoft.com/office/drawing/2014/main" id="{B80C71A5-C70E-3E3C-6C49-975366D50B69}"/>
              </a:ext>
            </a:extLst>
          </p:cNvPr>
          <p:cNvSpPr txBox="1"/>
          <p:nvPr/>
        </p:nvSpPr>
        <p:spPr>
          <a:xfrm>
            <a:off x="523240" y="3004820"/>
            <a:ext cx="79756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跟踪、验收与辅导</a:t>
            </a:r>
          </a:p>
        </p:txBody>
      </p:sp>
      <p:sp>
        <p:nvSpPr>
          <p:cNvPr id="54" name="lab-val-bg">
            <a:extLst>
              <a:ext uri="{FF2B5EF4-FFF2-40B4-BE49-F238E27FC236}">
                <a16:creationId xmlns:a16="http://schemas.microsoft.com/office/drawing/2014/main" id="{5283AB27-F77E-E548-C468-F199708EA7E8}"/>
              </a:ext>
            </a:extLst>
          </p:cNvPr>
          <p:cNvSpPr/>
          <p:nvPr/>
        </p:nvSpPr>
        <p:spPr>
          <a:xfrm>
            <a:off x="472440" y="3268980"/>
            <a:ext cx="899160" cy="960120"/>
          </a:xfrm>
          <a:prstGeom prst="rect">
            <a:avLst/>
          </a:prstGeom>
          <a:solidFill>
            <a:srgbClr val="EDF0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lab-val-t">
            <a:extLst>
              <a:ext uri="{FF2B5EF4-FFF2-40B4-BE49-F238E27FC236}">
                <a16:creationId xmlns:a16="http://schemas.microsoft.com/office/drawing/2014/main" id="{23A55B22-0E71-BDBF-FE01-173620A0B4DD}"/>
              </a:ext>
            </a:extLst>
          </p:cNvPr>
          <p:cNvSpPr txBox="1"/>
          <p:nvPr/>
        </p:nvSpPr>
        <p:spPr>
          <a:xfrm>
            <a:off x="523240" y="3319780"/>
            <a:ext cx="79756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000" b="1">
                <a:solidFill>
                  <a:srgbClr val="173650"/>
                </a:solidFill>
                <a:latin typeface="Microsoft YaHei" panose="020B0503020204020204" pitchFamily="34" charset="-122"/>
              </a:rPr>
              <a:t>价值兑现</a:t>
            </a:r>
          </a:p>
        </p:txBody>
      </p:sp>
      <p:sp>
        <p:nvSpPr>
          <p:cNvPr id="56" name="lab-val-s">
            <a:extLst>
              <a:ext uri="{FF2B5EF4-FFF2-40B4-BE49-F238E27FC236}">
                <a16:creationId xmlns:a16="http://schemas.microsoft.com/office/drawing/2014/main" id="{955CEBCA-46B1-E678-F68E-D544CFA59758}"/>
              </a:ext>
            </a:extLst>
          </p:cNvPr>
          <p:cNvSpPr txBox="1"/>
          <p:nvPr/>
        </p:nvSpPr>
        <p:spPr>
          <a:xfrm>
            <a:off x="523240" y="3522980"/>
            <a:ext cx="79756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能力建设与业务升级</a:t>
            </a:r>
          </a:p>
        </p:txBody>
      </p:sp>
      <p:sp>
        <p:nvSpPr>
          <p:cNvPr id="57" name="cell-d-old">
            <a:extLst>
              <a:ext uri="{FF2B5EF4-FFF2-40B4-BE49-F238E27FC236}">
                <a16:creationId xmlns:a16="http://schemas.microsoft.com/office/drawing/2014/main" id="{59E5D61E-7065-4DDD-B6FA-FE9D9E648B48}"/>
              </a:ext>
            </a:extLst>
          </p:cNvPr>
          <p:cNvSpPr/>
          <p:nvPr/>
        </p:nvSpPr>
        <p:spPr>
          <a:xfrm>
            <a:off x="1371600" y="2133600"/>
            <a:ext cx="4358640" cy="617220"/>
          </a:xfrm>
          <a:prstGeom prst="rect">
            <a:avLst/>
          </a:prstGeom>
          <a:solidFill>
            <a:srgbClr val="F1F3F3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mod-d0">
            <a:extLst>
              <a:ext uri="{FF2B5EF4-FFF2-40B4-BE49-F238E27FC236}">
                <a16:creationId xmlns:a16="http://schemas.microsoft.com/office/drawing/2014/main" id="{8B22A585-C029-38CD-B477-79780803E438}"/>
              </a:ext>
            </a:extLst>
          </p:cNvPr>
          <p:cNvSpPr/>
          <p:nvPr/>
        </p:nvSpPr>
        <p:spPr>
          <a:xfrm>
            <a:off x="1447800" y="226060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mod-d0-top">
            <a:extLst>
              <a:ext uri="{FF2B5EF4-FFF2-40B4-BE49-F238E27FC236}">
                <a16:creationId xmlns:a16="http://schemas.microsoft.com/office/drawing/2014/main" id="{9E962645-4B64-1877-7444-9C3D254A4353}"/>
              </a:ext>
            </a:extLst>
          </p:cNvPr>
          <p:cNvSpPr/>
          <p:nvPr/>
        </p:nvSpPr>
        <p:spPr>
          <a:xfrm>
            <a:off x="1447800" y="2260600"/>
            <a:ext cx="1359747" cy="25400"/>
          </a:xfrm>
          <a:prstGeom prst="rect">
            <a:avLst/>
          </a:prstGeom>
          <a:solidFill>
            <a:srgbClr val="B9796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mod-d0-t">
            <a:extLst>
              <a:ext uri="{FF2B5EF4-FFF2-40B4-BE49-F238E27FC236}">
                <a16:creationId xmlns:a16="http://schemas.microsoft.com/office/drawing/2014/main" id="{65C9590F-A1A6-DDFB-2E8B-BFE73FE8E908}"/>
              </a:ext>
            </a:extLst>
          </p:cNvPr>
          <p:cNvSpPr txBox="1"/>
          <p:nvPr/>
        </p:nvSpPr>
        <p:spPr>
          <a:xfrm>
            <a:off x="1447800" y="231140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科组自选范围</a:t>
            </a:r>
          </a:p>
        </p:txBody>
      </p:sp>
      <p:sp>
        <p:nvSpPr>
          <p:cNvPr id="61" name="mod-d0-s">
            <a:extLst>
              <a:ext uri="{FF2B5EF4-FFF2-40B4-BE49-F238E27FC236}">
                <a16:creationId xmlns:a16="http://schemas.microsoft.com/office/drawing/2014/main" id="{3A86D075-523E-30CC-2F39-F4103DF21121}"/>
              </a:ext>
            </a:extLst>
          </p:cNvPr>
          <p:cNvSpPr txBox="1"/>
          <p:nvPr/>
        </p:nvSpPr>
        <p:spPr>
          <a:xfrm>
            <a:off x="1447800" y="251460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各组自行圈定能力</a:t>
            </a:r>
          </a:p>
        </p:txBody>
      </p:sp>
      <p:sp>
        <p:nvSpPr>
          <p:cNvPr id="62" name="mod-d1">
            <a:extLst>
              <a:ext uri="{FF2B5EF4-FFF2-40B4-BE49-F238E27FC236}">
                <a16:creationId xmlns:a16="http://schemas.microsoft.com/office/drawing/2014/main" id="{A58BEC3B-B876-A644-F710-167CAEE0BC74}"/>
              </a:ext>
            </a:extLst>
          </p:cNvPr>
          <p:cNvSpPr/>
          <p:nvPr/>
        </p:nvSpPr>
        <p:spPr>
          <a:xfrm>
            <a:off x="2871047" y="226060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mod-d1-top">
            <a:extLst>
              <a:ext uri="{FF2B5EF4-FFF2-40B4-BE49-F238E27FC236}">
                <a16:creationId xmlns:a16="http://schemas.microsoft.com/office/drawing/2014/main" id="{4FF15BC2-452D-63D7-869B-16F0E2DA9510}"/>
              </a:ext>
            </a:extLst>
          </p:cNvPr>
          <p:cNvSpPr/>
          <p:nvPr/>
        </p:nvSpPr>
        <p:spPr>
          <a:xfrm>
            <a:off x="2871047" y="2260600"/>
            <a:ext cx="1359747" cy="25400"/>
          </a:xfrm>
          <a:prstGeom prst="rect">
            <a:avLst/>
          </a:prstGeom>
          <a:solidFill>
            <a:srgbClr val="89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mod-d1-t">
            <a:extLst>
              <a:ext uri="{FF2B5EF4-FFF2-40B4-BE49-F238E27FC236}">
                <a16:creationId xmlns:a16="http://schemas.microsoft.com/office/drawing/2014/main" id="{E8621B56-558D-CD58-DBE3-36DEB20CEC77}"/>
              </a:ext>
            </a:extLst>
          </p:cNvPr>
          <p:cNvSpPr txBox="1"/>
          <p:nvPr/>
        </p:nvSpPr>
        <p:spPr>
          <a:xfrm>
            <a:off x="2871047" y="231140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目标自行选取</a:t>
            </a:r>
          </a:p>
        </p:txBody>
      </p:sp>
      <p:sp>
        <p:nvSpPr>
          <p:cNvPr id="65" name="mod-d1-s">
            <a:extLst>
              <a:ext uri="{FF2B5EF4-FFF2-40B4-BE49-F238E27FC236}">
                <a16:creationId xmlns:a16="http://schemas.microsoft.com/office/drawing/2014/main" id="{E5A9F137-4352-E150-E7C0-FD560D0E2A88}"/>
              </a:ext>
            </a:extLst>
          </p:cNvPr>
          <p:cNvSpPr txBox="1"/>
          <p:nvPr/>
        </p:nvSpPr>
        <p:spPr>
          <a:xfrm>
            <a:off x="2871047" y="251460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建设口径不一致</a:t>
            </a:r>
          </a:p>
        </p:txBody>
      </p:sp>
      <p:sp>
        <p:nvSpPr>
          <p:cNvPr id="66" name="mod-d2">
            <a:extLst>
              <a:ext uri="{FF2B5EF4-FFF2-40B4-BE49-F238E27FC236}">
                <a16:creationId xmlns:a16="http://schemas.microsoft.com/office/drawing/2014/main" id="{183AA230-7DDF-A745-0DFD-0BCEBC1D2703}"/>
              </a:ext>
            </a:extLst>
          </p:cNvPr>
          <p:cNvSpPr/>
          <p:nvPr/>
        </p:nvSpPr>
        <p:spPr>
          <a:xfrm>
            <a:off x="4294293" y="226060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mod-d2-top">
            <a:extLst>
              <a:ext uri="{FF2B5EF4-FFF2-40B4-BE49-F238E27FC236}">
                <a16:creationId xmlns:a16="http://schemas.microsoft.com/office/drawing/2014/main" id="{40B57518-675F-A215-FB97-CE79E92C6CD9}"/>
              </a:ext>
            </a:extLst>
          </p:cNvPr>
          <p:cNvSpPr/>
          <p:nvPr/>
        </p:nvSpPr>
        <p:spPr>
          <a:xfrm>
            <a:off x="4294293" y="2260600"/>
            <a:ext cx="1359747" cy="25400"/>
          </a:xfrm>
          <a:prstGeom prst="rect">
            <a:avLst/>
          </a:prstGeom>
          <a:solidFill>
            <a:srgbClr val="B89A6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mod-d2-t">
            <a:extLst>
              <a:ext uri="{FF2B5EF4-FFF2-40B4-BE49-F238E27FC236}">
                <a16:creationId xmlns:a16="http://schemas.microsoft.com/office/drawing/2014/main" id="{A91337A4-621E-7EDB-9CA6-05C591FEF68B}"/>
              </a:ext>
            </a:extLst>
          </p:cNvPr>
          <p:cNvSpPr txBox="1"/>
          <p:nvPr/>
        </p:nvSpPr>
        <p:spPr>
          <a:xfrm>
            <a:off x="4294293" y="231140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结果无法对比</a:t>
            </a:r>
          </a:p>
        </p:txBody>
      </p:sp>
      <p:sp>
        <p:nvSpPr>
          <p:cNvPr id="69" name="mod-d2-s">
            <a:extLst>
              <a:ext uri="{FF2B5EF4-FFF2-40B4-BE49-F238E27FC236}">
                <a16:creationId xmlns:a16="http://schemas.microsoft.com/office/drawing/2014/main" id="{F41942C3-AAB2-2C15-0303-EBFE8637F897}"/>
              </a:ext>
            </a:extLst>
          </p:cNvPr>
          <p:cNvSpPr txBox="1"/>
          <p:nvPr/>
        </p:nvSpPr>
        <p:spPr>
          <a:xfrm>
            <a:off x="4294293" y="251460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跨组织得分失去参照</a:t>
            </a:r>
          </a:p>
        </p:txBody>
      </p:sp>
      <p:sp>
        <p:nvSpPr>
          <p:cNvPr id="70" name="cell-d-new">
            <a:extLst>
              <a:ext uri="{FF2B5EF4-FFF2-40B4-BE49-F238E27FC236}">
                <a16:creationId xmlns:a16="http://schemas.microsoft.com/office/drawing/2014/main" id="{05F75EE7-B8F5-AB76-0716-FA2E0EAEF230}"/>
              </a:ext>
            </a:extLst>
          </p:cNvPr>
          <p:cNvSpPr/>
          <p:nvPr/>
        </p:nvSpPr>
        <p:spPr>
          <a:xfrm>
            <a:off x="5730240" y="2133600"/>
            <a:ext cx="6050280" cy="617220"/>
          </a:xfrm>
          <a:prstGeom prst="rect">
            <a:avLst/>
          </a:prstGeom>
          <a:solidFill>
            <a:srgbClr val="FFFFFF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owner-flow">
            <a:extLst>
              <a:ext uri="{FF2B5EF4-FFF2-40B4-BE49-F238E27FC236}">
                <a16:creationId xmlns:a16="http://schemas.microsoft.com/office/drawing/2014/main" id="{2C7D0388-6A9B-140E-17C7-749539C742BD}"/>
              </a:ext>
            </a:extLst>
          </p:cNvPr>
          <p:cNvSpPr/>
          <p:nvPr/>
        </p:nvSpPr>
        <p:spPr>
          <a:xfrm>
            <a:off x="5781040" y="2235200"/>
            <a:ext cx="1796128" cy="464820"/>
          </a:xfrm>
          <a:prstGeom prst="rect">
            <a:avLst/>
          </a:prstGeom>
          <a:solidFill>
            <a:srgbClr val="E7F1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owner-flow-top">
            <a:extLst>
              <a:ext uri="{FF2B5EF4-FFF2-40B4-BE49-F238E27FC236}">
                <a16:creationId xmlns:a16="http://schemas.microsoft.com/office/drawing/2014/main" id="{7E249A9A-2721-DBAD-E3AA-76B832817F5D}"/>
              </a:ext>
            </a:extLst>
          </p:cNvPr>
          <p:cNvSpPr/>
          <p:nvPr/>
        </p:nvSpPr>
        <p:spPr>
          <a:xfrm>
            <a:off x="5781040" y="2235200"/>
            <a:ext cx="1796128" cy="254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owner-ico">
            <a:extLst>
              <a:ext uri="{FF2B5EF4-FFF2-40B4-BE49-F238E27FC236}">
                <a16:creationId xmlns:a16="http://schemas.microsoft.com/office/drawing/2014/main" id="{EA3C7D47-D7F5-FF43-1E4C-93804A0F909F}"/>
              </a:ext>
            </a:extLst>
          </p:cNvPr>
          <p:cNvSpPr/>
          <p:nvPr/>
        </p:nvSpPr>
        <p:spPr>
          <a:xfrm>
            <a:off x="5882640" y="2336800"/>
            <a:ext cx="177800" cy="177800"/>
          </a:xfrm>
          <a:prstGeom prst="ellipse">
            <a:avLst/>
          </a:prstGeom>
          <a:noFill/>
          <a:ln w="13970" cap="flat" cmpd="sng" algn="ctr">
            <a:solidFill>
              <a:srgbClr val="16837A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owner-src">
            <a:extLst>
              <a:ext uri="{FF2B5EF4-FFF2-40B4-BE49-F238E27FC236}">
                <a16:creationId xmlns:a16="http://schemas.microsoft.com/office/drawing/2014/main" id="{13DBC751-D84A-FE57-22EC-38AE65B6B0FE}"/>
              </a:ext>
            </a:extLst>
          </p:cNvPr>
          <p:cNvSpPr txBox="1"/>
          <p:nvPr/>
        </p:nvSpPr>
        <p:spPr>
          <a:xfrm>
            <a:off x="5781040" y="2540000"/>
            <a:ext cx="508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能力 </a:t>
            </a:r>
            <a:r>
              <a:rPr lang="en-US" altLang="zh-CN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Owner</a:t>
            </a:r>
            <a:endParaRPr lang="zh-CN" altLang="en-US" sz="600" b="1">
              <a:solidFill>
                <a:srgbClr val="176B6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5" name="owner-dist">
            <a:extLst>
              <a:ext uri="{FF2B5EF4-FFF2-40B4-BE49-F238E27FC236}">
                <a16:creationId xmlns:a16="http://schemas.microsoft.com/office/drawing/2014/main" id="{58697DF0-56FA-30A1-7727-F4258E50655F}"/>
              </a:ext>
            </a:extLst>
          </p:cNvPr>
          <p:cNvSpPr txBox="1"/>
          <p:nvPr/>
        </p:nvSpPr>
        <p:spPr>
          <a:xfrm>
            <a:off x="6289040" y="2260600"/>
            <a:ext cx="12373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统一设计评估维度能力</a:t>
            </a:r>
          </a:p>
        </p:txBody>
      </p:sp>
      <p:sp>
        <p:nvSpPr>
          <p:cNvPr id="76" name="dim0">
            <a:extLst>
              <a:ext uri="{FF2B5EF4-FFF2-40B4-BE49-F238E27FC236}">
                <a16:creationId xmlns:a16="http://schemas.microsoft.com/office/drawing/2014/main" id="{D5159A47-1842-8919-47EC-99233B44E8D5}"/>
              </a:ext>
            </a:extLst>
          </p:cNvPr>
          <p:cNvSpPr/>
          <p:nvPr/>
        </p:nvSpPr>
        <p:spPr>
          <a:xfrm>
            <a:off x="6314440" y="2438400"/>
            <a:ext cx="218256" cy="127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dim0-b">
            <a:extLst>
              <a:ext uri="{FF2B5EF4-FFF2-40B4-BE49-F238E27FC236}">
                <a16:creationId xmlns:a16="http://schemas.microsoft.com/office/drawing/2014/main" id="{3307316C-F88C-49F9-276E-20F37680D210}"/>
              </a:ext>
            </a:extLst>
          </p:cNvPr>
          <p:cNvSpPr/>
          <p:nvPr/>
        </p:nvSpPr>
        <p:spPr>
          <a:xfrm>
            <a:off x="6314440" y="2540000"/>
            <a:ext cx="218256" cy="1524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dim0-t">
            <a:extLst>
              <a:ext uri="{FF2B5EF4-FFF2-40B4-BE49-F238E27FC236}">
                <a16:creationId xmlns:a16="http://schemas.microsoft.com/office/drawing/2014/main" id="{D8CC17A2-54F7-51FB-D6B3-86C0C3B14DCA}"/>
              </a:ext>
            </a:extLst>
          </p:cNvPr>
          <p:cNvSpPr txBox="1"/>
          <p:nvPr/>
        </p:nvSpPr>
        <p:spPr>
          <a:xfrm>
            <a:off x="6314440" y="2505208"/>
            <a:ext cx="218256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设计</a:t>
            </a:r>
          </a:p>
        </p:txBody>
      </p:sp>
      <p:sp>
        <p:nvSpPr>
          <p:cNvPr id="79" name="dim1">
            <a:extLst>
              <a:ext uri="{FF2B5EF4-FFF2-40B4-BE49-F238E27FC236}">
                <a16:creationId xmlns:a16="http://schemas.microsoft.com/office/drawing/2014/main" id="{E5BECD7F-214A-B5E0-087F-A211C97D2C7E}"/>
              </a:ext>
            </a:extLst>
          </p:cNvPr>
          <p:cNvSpPr/>
          <p:nvPr/>
        </p:nvSpPr>
        <p:spPr>
          <a:xfrm>
            <a:off x="6551746" y="2438400"/>
            <a:ext cx="218255" cy="127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dim1-b">
            <a:extLst>
              <a:ext uri="{FF2B5EF4-FFF2-40B4-BE49-F238E27FC236}">
                <a16:creationId xmlns:a16="http://schemas.microsoft.com/office/drawing/2014/main" id="{3291B98B-F7F6-095C-9786-F716BDF1289A}"/>
              </a:ext>
            </a:extLst>
          </p:cNvPr>
          <p:cNvSpPr/>
          <p:nvPr/>
        </p:nvSpPr>
        <p:spPr>
          <a:xfrm>
            <a:off x="6551746" y="2540000"/>
            <a:ext cx="218255" cy="1524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dim1-t">
            <a:extLst>
              <a:ext uri="{FF2B5EF4-FFF2-40B4-BE49-F238E27FC236}">
                <a16:creationId xmlns:a16="http://schemas.microsoft.com/office/drawing/2014/main" id="{F6610DF7-0393-3F24-F66E-546AEB3A90C2}"/>
              </a:ext>
            </a:extLst>
          </p:cNvPr>
          <p:cNvSpPr txBox="1"/>
          <p:nvPr/>
        </p:nvSpPr>
        <p:spPr>
          <a:xfrm>
            <a:off x="6551746" y="2505208"/>
            <a:ext cx="218256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方案</a:t>
            </a:r>
          </a:p>
        </p:txBody>
      </p:sp>
      <p:sp>
        <p:nvSpPr>
          <p:cNvPr id="82" name="dim2">
            <a:extLst>
              <a:ext uri="{FF2B5EF4-FFF2-40B4-BE49-F238E27FC236}">
                <a16:creationId xmlns:a16="http://schemas.microsoft.com/office/drawing/2014/main" id="{496FCB3A-DC72-5DD7-B80C-347E9029E842}"/>
              </a:ext>
            </a:extLst>
          </p:cNvPr>
          <p:cNvSpPr/>
          <p:nvPr/>
        </p:nvSpPr>
        <p:spPr>
          <a:xfrm>
            <a:off x="6789051" y="2438400"/>
            <a:ext cx="218256" cy="127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dim2-b">
            <a:extLst>
              <a:ext uri="{FF2B5EF4-FFF2-40B4-BE49-F238E27FC236}">
                <a16:creationId xmlns:a16="http://schemas.microsoft.com/office/drawing/2014/main" id="{0B7B973D-AF58-42B4-2F17-45DF7AC13D18}"/>
              </a:ext>
            </a:extLst>
          </p:cNvPr>
          <p:cNvSpPr/>
          <p:nvPr/>
        </p:nvSpPr>
        <p:spPr>
          <a:xfrm>
            <a:off x="6789051" y="2540000"/>
            <a:ext cx="218256" cy="1524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dim2-t">
            <a:extLst>
              <a:ext uri="{FF2B5EF4-FFF2-40B4-BE49-F238E27FC236}">
                <a16:creationId xmlns:a16="http://schemas.microsoft.com/office/drawing/2014/main" id="{5FA0AAEB-9FE2-0287-3E1A-9351AF9238AA}"/>
              </a:ext>
            </a:extLst>
          </p:cNvPr>
          <p:cNvSpPr txBox="1"/>
          <p:nvPr/>
        </p:nvSpPr>
        <p:spPr>
          <a:xfrm>
            <a:off x="6789051" y="2505208"/>
            <a:ext cx="218256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用例</a:t>
            </a:r>
          </a:p>
        </p:txBody>
      </p:sp>
      <p:sp>
        <p:nvSpPr>
          <p:cNvPr id="85" name="dim3">
            <a:extLst>
              <a:ext uri="{FF2B5EF4-FFF2-40B4-BE49-F238E27FC236}">
                <a16:creationId xmlns:a16="http://schemas.microsoft.com/office/drawing/2014/main" id="{0FAB9B3B-3601-4653-2977-35DA96128808}"/>
              </a:ext>
            </a:extLst>
          </p:cNvPr>
          <p:cNvSpPr/>
          <p:nvPr/>
        </p:nvSpPr>
        <p:spPr>
          <a:xfrm>
            <a:off x="7026356" y="2438400"/>
            <a:ext cx="218256" cy="127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dim3-b">
            <a:extLst>
              <a:ext uri="{FF2B5EF4-FFF2-40B4-BE49-F238E27FC236}">
                <a16:creationId xmlns:a16="http://schemas.microsoft.com/office/drawing/2014/main" id="{F14CC298-C932-4B4F-5E86-EB113969A21F}"/>
              </a:ext>
            </a:extLst>
          </p:cNvPr>
          <p:cNvSpPr/>
          <p:nvPr/>
        </p:nvSpPr>
        <p:spPr>
          <a:xfrm>
            <a:off x="7026356" y="2540000"/>
            <a:ext cx="218256" cy="1524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dim3-t">
            <a:extLst>
              <a:ext uri="{FF2B5EF4-FFF2-40B4-BE49-F238E27FC236}">
                <a16:creationId xmlns:a16="http://schemas.microsoft.com/office/drawing/2014/main" id="{FEDCAA3E-FAE0-A0DF-BC22-8B593404B530}"/>
              </a:ext>
            </a:extLst>
          </p:cNvPr>
          <p:cNvSpPr txBox="1"/>
          <p:nvPr/>
        </p:nvSpPr>
        <p:spPr>
          <a:xfrm>
            <a:off x="7026356" y="2505208"/>
            <a:ext cx="218256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执行</a:t>
            </a:r>
          </a:p>
        </p:txBody>
      </p:sp>
      <p:sp>
        <p:nvSpPr>
          <p:cNvPr id="88" name="dim4">
            <a:extLst>
              <a:ext uri="{FF2B5EF4-FFF2-40B4-BE49-F238E27FC236}">
                <a16:creationId xmlns:a16="http://schemas.microsoft.com/office/drawing/2014/main" id="{8E6D35D6-E52E-39BC-1B86-5F98D4D08620}"/>
              </a:ext>
            </a:extLst>
          </p:cNvPr>
          <p:cNvSpPr/>
          <p:nvPr/>
        </p:nvSpPr>
        <p:spPr>
          <a:xfrm>
            <a:off x="7263662" y="2438400"/>
            <a:ext cx="218256" cy="127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dim4-b">
            <a:extLst>
              <a:ext uri="{FF2B5EF4-FFF2-40B4-BE49-F238E27FC236}">
                <a16:creationId xmlns:a16="http://schemas.microsoft.com/office/drawing/2014/main" id="{1DAE6D73-472F-2705-2DA7-F9FA51972C68}"/>
              </a:ext>
            </a:extLst>
          </p:cNvPr>
          <p:cNvSpPr/>
          <p:nvPr/>
        </p:nvSpPr>
        <p:spPr>
          <a:xfrm>
            <a:off x="7263662" y="2540000"/>
            <a:ext cx="218256" cy="1524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dim4-t">
            <a:extLst>
              <a:ext uri="{FF2B5EF4-FFF2-40B4-BE49-F238E27FC236}">
                <a16:creationId xmlns:a16="http://schemas.microsoft.com/office/drawing/2014/main" id="{B4B4DF21-A158-61B0-C386-619259D71B25}"/>
              </a:ext>
            </a:extLst>
          </p:cNvPr>
          <p:cNvSpPr txBox="1"/>
          <p:nvPr/>
        </p:nvSpPr>
        <p:spPr>
          <a:xfrm>
            <a:off x="7263662" y="2505208"/>
            <a:ext cx="218256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自动化</a:t>
            </a:r>
          </a:p>
        </p:txBody>
      </p:sp>
      <p:sp>
        <p:nvSpPr>
          <p:cNvPr id="91" name="owner-teams">
            <a:extLst>
              <a:ext uri="{FF2B5EF4-FFF2-40B4-BE49-F238E27FC236}">
                <a16:creationId xmlns:a16="http://schemas.microsoft.com/office/drawing/2014/main" id="{BC1AA61F-B375-2697-95B4-DA4F6C7D1F4F}"/>
              </a:ext>
            </a:extLst>
          </p:cNvPr>
          <p:cNvSpPr txBox="1"/>
          <p:nvPr/>
        </p:nvSpPr>
        <p:spPr>
          <a:xfrm>
            <a:off x="6289040" y="2616200"/>
            <a:ext cx="12373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↓ 统一分发至各涉域科组</a:t>
            </a:r>
          </a:p>
        </p:txBody>
      </p:sp>
      <p:sp>
        <p:nvSpPr>
          <p:cNvPr id="92" name="domains-bg">
            <a:extLst>
              <a:ext uri="{FF2B5EF4-FFF2-40B4-BE49-F238E27FC236}">
                <a16:creationId xmlns:a16="http://schemas.microsoft.com/office/drawing/2014/main" id="{0C55F258-4DF6-E65A-C289-2F1E545BCD45}"/>
              </a:ext>
            </a:extLst>
          </p:cNvPr>
          <p:cNvSpPr/>
          <p:nvPr/>
        </p:nvSpPr>
        <p:spPr>
          <a:xfrm>
            <a:off x="7627968" y="2235200"/>
            <a:ext cx="1923502" cy="464820"/>
          </a:xfrm>
          <a:prstGeom prst="rect">
            <a:avLst/>
          </a:prstGeom>
          <a:solidFill>
            <a:srgbClr val="EEF3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domains-top">
            <a:extLst>
              <a:ext uri="{FF2B5EF4-FFF2-40B4-BE49-F238E27FC236}">
                <a16:creationId xmlns:a16="http://schemas.microsoft.com/office/drawing/2014/main" id="{0887AA89-DBE7-BE7C-D8D2-0EEA5C4F0173}"/>
              </a:ext>
            </a:extLst>
          </p:cNvPr>
          <p:cNvSpPr/>
          <p:nvPr/>
        </p:nvSpPr>
        <p:spPr>
          <a:xfrm>
            <a:off x="7627968" y="2235200"/>
            <a:ext cx="1923502" cy="2540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domains-cap">
            <a:extLst>
              <a:ext uri="{FF2B5EF4-FFF2-40B4-BE49-F238E27FC236}">
                <a16:creationId xmlns:a16="http://schemas.microsoft.com/office/drawing/2014/main" id="{72C203C7-F992-E97D-01E2-ADE978D9D754}"/>
              </a:ext>
            </a:extLst>
          </p:cNvPr>
          <p:cNvSpPr txBox="1"/>
          <p:nvPr/>
        </p:nvSpPr>
        <p:spPr>
          <a:xfrm>
            <a:off x="7627968" y="2260600"/>
            <a:ext cx="1923502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新增六大领域 </a:t>
            </a:r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同域统一口径</a:t>
            </a:r>
          </a:p>
        </p:txBody>
      </p:sp>
      <p:sp>
        <p:nvSpPr>
          <p:cNvPr id="95" name="dom0">
            <a:extLst>
              <a:ext uri="{FF2B5EF4-FFF2-40B4-BE49-F238E27FC236}">
                <a16:creationId xmlns:a16="http://schemas.microsoft.com/office/drawing/2014/main" id="{92DD0DFA-3FE2-2745-6E87-82A3FB368237}"/>
              </a:ext>
            </a:extLst>
          </p:cNvPr>
          <p:cNvSpPr/>
          <p:nvPr/>
        </p:nvSpPr>
        <p:spPr>
          <a:xfrm>
            <a:off x="7678768" y="2438400"/>
            <a:ext cx="278250" cy="228600"/>
          </a:xfrm>
          <a:prstGeom prst="rect">
            <a:avLst/>
          </a:prstGeom>
          <a:solidFill>
            <a:srgbClr val="D8EBE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dom0-t">
            <a:extLst>
              <a:ext uri="{FF2B5EF4-FFF2-40B4-BE49-F238E27FC236}">
                <a16:creationId xmlns:a16="http://schemas.microsoft.com/office/drawing/2014/main" id="{B0C7463D-35F9-992F-37B5-81F7C7B8CF02}"/>
              </a:ext>
            </a:extLst>
          </p:cNvPr>
          <p:cNvSpPr txBox="1"/>
          <p:nvPr/>
        </p:nvSpPr>
        <p:spPr>
          <a:xfrm>
            <a:off x="7678768" y="2517908"/>
            <a:ext cx="2782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软件</a:t>
            </a:r>
          </a:p>
        </p:txBody>
      </p:sp>
      <p:sp>
        <p:nvSpPr>
          <p:cNvPr id="97" name="dom1">
            <a:extLst>
              <a:ext uri="{FF2B5EF4-FFF2-40B4-BE49-F238E27FC236}">
                <a16:creationId xmlns:a16="http://schemas.microsoft.com/office/drawing/2014/main" id="{24D75180-2927-9774-834A-B9120A07B31D}"/>
              </a:ext>
            </a:extLst>
          </p:cNvPr>
          <p:cNvSpPr/>
          <p:nvPr/>
        </p:nvSpPr>
        <p:spPr>
          <a:xfrm>
            <a:off x="7982418" y="2438400"/>
            <a:ext cx="278251" cy="228600"/>
          </a:xfrm>
          <a:prstGeom prst="rect">
            <a:avLst/>
          </a:prstGeom>
          <a:solidFill>
            <a:srgbClr val="E7E3E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dom1-t">
            <a:extLst>
              <a:ext uri="{FF2B5EF4-FFF2-40B4-BE49-F238E27FC236}">
                <a16:creationId xmlns:a16="http://schemas.microsoft.com/office/drawing/2014/main" id="{16D956DE-F75A-68EB-7F1B-BEF2AFFAFA3E}"/>
              </a:ext>
            </a:extLst>
          </p:cNvPr>
          <p:cNvSpPr txBox="1"/>
          <p:nvPr/>
        </p:nvSpPr>
        <p:spPr>
          <a:xfrm>
            <a:off x="7982418" y="2517908"/>
            <a:ext cx="2782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硬件</a:t>
            </a:r>
          </a:p>
        </p:txBody>
      </p:sp>
      <p:sp>
        <p:nvSpPr>
          <p:cNvPr id="99" name="dom2">
            <a:extLst>
              <a:ext uri="{FF2B5EF4-FFF2-40B4-BE49-F238E27FC236}">
                <a16:creationId xmlns:a16="http://schemas.microsoft.com/office/drawing/2014/main" id="{FA64D992-7DF7-2213-8570-DDCFF4862D07}"/>
              </a:ext>
            </a:extLst>
          </p:cNvPr>
          <p:cNvSpPr/>
          <p:nvPr/>
        </p:nvSpPr>
        <p:spPr>
          <a:xfrm>
            <a:off x="8286069" y="2438400"/>
            <a:ext cx="278250" cy="228600"/>
          </a:xfrm>
          <a:prstGeom prst="rect">
            <a:avLst/>
          </a:prstGeom>
          <a:solidFill>
            <a:srgbClr val="EFE5D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dom2-t">
            <a:extLst>
              <a:ext uri="{FF2B5EF4-FFF2-40B4-BE49-F238E27FC236}">
                <a16:creationId xmlns:a16="http://schemas.microsoft.com/office/drawing/2014/main" id="{B04F1ACC-CBB0-809F-FC70-D6ACDEC496D5}"/>
              </a:ext>
            </a:extLst>
          </p:cNvPr>
          <p:cNvSpPr txBox="1"/>
          <p:nvPr/>
        </p:nvSpPr>
        <p:spPr>
          <a:xfrm>
            <a:off x="8286069" y="2517908"/>
            <a:ext cx="2782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机械</a:t>
            </a:r>
          </a:p>
        </p:txBody>
      </p:sp>
      <p:sp>
        <p:nvSpPr>
          <p:cNvPr id="101" name="dom3">
            <a:extLst>
              <a:ext uri="{FF2B5EF4-FFF2-40B4-BE49-F238E27FC236}">
                <a16:creationId xmlns:a16="http://schemas.microsoft.com/office/drawing/2014/main" id="{D66A2F73-FA66-E8C1-4543-1407D5D333CD}"/>
              </a:ext>
            </a:extLst>
          </p:cNvPr>
          <p:cNvSpPr/>
          <p:nvPr/>
        </p:nvSpPr>
        <p:spPr>
          <a:xfrm>
            <a:off x="8589718" y="2438400"/>
            <a:ext cx="278251" cy="228600"/>
          </a:xfrm>
          <a:prstGeom prst="rect">
            <a:avLst/>
          </a:prstGeom>
          <a:solidFill>
            <a:srgbClr val="DCE7E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dom3-t">
            <a:extLst>
              <a:ext uri="{FF2B5EF4-FFF2-40B4-BE49-F238E27FC236}">
                <a16:creationId xmlns:a16="http://schemas.microsoft.com/office/drawing/2014/main" id="{3BE68E15-D4EC-B534-7FAD-085217F3F732}"/>
              </a:ext>
            </a:extLst>
          </p:cNvPr>
          <p:cNvSpPr txBox="1"/>
          <p:nvPr/>
        </p:nvSpPr>
        <p:spPr>
          <a:xfrm>
            <a:off x="8589718" y="2564074"/>
            <a:ext cx="2782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en-US" altLang="zh-CN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EMC</a:t>
            </a:r>
            <a:endParaRPr lang="zh-CN" altLang="en-US" sz="600" b="1">
              <a:solidFill>
                <a:srgbClr val="31535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3" name="dom4">
            <a:extLst>
              <a:ext uri="{FF2B5EF4-FFF2-40B4-BE49-F238E27FC236}">
                <a16:creationId xmlns:a16="http://schemas.microsoft.com/office/drawing/2014/main" id="{1CA60B10-575C-2913-A13D-AA126805D2B7}"/>
              </a:ext>
            </a:extLst>
          </p:cNvPr>
          <p:cNvSpPr/>
          <p:nvPr/>
        </p:nvSpPr>
        <p:spPr>
          <a:xfrm>
            <a:off x="8893369" y="2438400"/>
            <a:ext cx="278250" cy="228600"/>
          </a:xfrm>
          <a:prstGeom prst="rect">
            <a:avLst/>
          </a:prstGeom>
          <a:solidFill>
            <a:srgbClr val="ECDF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dom4-t">
            <a:extLst>
              <a:ext uri="{FF2B5EF4-FFF2-40B4-BE49-F238E27FC236}">
                <a16:creationId xmlns:a16="http://schemas.microsoft.com/office/drawing/2014/main" id="{B02D89C8-73B3-7AB1-7E90-27325EA149ED}"/>
              </a:ext>
            </a:extLst>
          </p:cNvPr>
          <p:cNvSpPr txBox="1"/>
          <p:nvPr/>
        </p:nvSpPr>
        <p:spPr>
          <a:xfrm>
            <a:off x="8893369" y="2517908"/>
            <a:ext cx="2782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合规</a:t>
            </a:r>
          </a:p>
        </p:txBody>
      </p:sp>
      <p:sp>
        <p:nvSpPr>
          <p:cNvPr id="105" name="dom5">
            <a:extLst>
              <a:ext uri="{FF2B5EF4-FFF2-40B4-BE49-F238E27FC236}">
                <a16:creationId xmlns:a16="http://schemas.microsoft.com/office/drawing/2014/main" id="{0CEEF79F-429E-8322-AF08-4FF1470FEE40}"/>
              </a:ext>
            </a:extLst>
          </p:cNvPr>
          <p:cNvSpPr/>
          <p:nvPr/>
        </p:nvSpPr>
        <p:spPr>
          <a:xfrm>
            <a:off x="9197019" y="2438400"/>
            <a:ext cx="278251" cy="228600"/>
          </a:xfrm>
          <a:prstGeom prst="rect">
            <a:avLst/>
          </a:prstGeom>
          <a:solidFill>
            <a:srgbClr val="E2EB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dom5-t">
            <a:extLst>
              <a:ext uri="{FF2B5EF4-FFF2-40B4-BE49-F238E27FC236}">
                <a16:creationId xmlns:a16="http://schemas.microsoft.com/office/drawing/2014/main" id="{15EF267C-0BDE-7BD4-FE12-987DF0F9D593}"/>
              </a:ext>
            </a:extLst>
          </p:cNvPr>
          <p:cNvSpPr txBox="1"/>
          <p:nvPr/>
        </p:nvSpPr>
        <p:spPr>
          <a:xfrm>
            <a:off x="9197019" y="2517908"/>
            <a:ext cx="27825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可靠性</a:t>
            </a:r>
          </a:p>
        </p:txBody>
      </p:sp>
      <p:sp>
        <p:nvSpPr>
          <p:cNvPr id="107" name="target-flow">
            <a:extLst>
              <a:ext uri="{FF2B5EF4-FFF2-40B4-BE49-F238E27FC236}">
                <a16:creationId xmlns:a16="http://schemas.microsoft.com/office/drawing/2014/main" id="{4F3E055B-6866-5DFC-20A0-81B79E21E2C0}"/>
              </a:ext>
            </a:extLst>
          </p:cNvPr>
          <p:cNvSpPr/>
          <p:nvPr/>
        </p:nvSpPr>
        <p:spPr>
          <a:xfrm>
            <a:off x="9602270" y="2235200"/>
            <a:ext cx="2127450" cy="464820"/>
          </a:xfrm>
          <a:prstGeom prst="rect">
            <a:avLst/>
          </a:prstGeom>
          <a:solidFill>
            <a:srgbClr val="F2EEE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target-top">
            <a:extLst>
              <a:ext uri="{FF2B5EF4-FFF2-40B4-BE49-F238E27FC236}">
                <a16:creationId xmlns:a16="http://schemas.microsoft.com/office/drawing/2014/main" id="{7890101C-DD26-06BB-6B5E-6F8E298AAE00}"/>
              </a:ext>
            </a:extLst>
          </p:cNvPr>
          <p:cNvSpPr/>
          <p:nvPr/>
        </p:nvSpPr>
        <p:spPr>
          <a:xfrm>
            <a:off x="9602270" y="2235200"/>
            <a:ext cx="2127450" cy="254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target-cap">
            <a:extLst>
              <a:ext uri="{FF2B5EF4-FFF2-40B4-BE49-F238E27FC236}">
                <a16:creationId xmlns:a16="http://schemas.microsoft.com/office/drawing/2014/main" id="{9BFB7219-589B-C2E5-942B-3C595401CCD9}"/>
              </a:ext>
            </a:extLst>
          </p:cNvPr>
          <p:cNvSpPr txBox="1"/>
          <p:nvPr/>
        </p:nvSpPr>
        <p:spPr>
          <a:xfrm>
            <a:off x="9602270" y="2247900"/>
            <a:ext cx="21274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应用范围不同 </a:t>
            </a:r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同一能力目标一致</a:t>
            </a:r>
          </a:p>
        </p:txBody>
      </p:sp>
      <p:sp>
        <p:nvSpPr>
          <p:cNvPr id="110" name="scene1">
            <a:extLst>
              <a:ext uri="{FF2B5EF4-FFF2-40B4-BE49-F238E27FC236}">
                <a16:creationId xmlns:a16="http://schemas.microsoft.com/office/drawing/2014/main" id="{B54FF08D-4740-3C34-ADF0-3AB6C78FE02C}"/>
              </a:ext>
            </a:extLst>
          </p:cNvPr>
          <p:cNvSpPr/>
          <p:nvPr/>
        </p:nvSpPr>
        <p:spPr>
          <a:xfrm>
            <a:off x="9640370" y="2413000"/>
            <a:ext cx="1000225" cy="279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scene1-tbar">
            <a:extLst>
              <a:ext uri="{FF2B5EF4-FFF2-40B4-BE49-F238E27FC236}">
                <a16:creationId xmlns:a16="http://schemas.microsoft.com/office/drawing/2014/main" id="{F4289CAD-8416-862F-A052-FA0952F7AC7D}"/>
              </a:ext>
            </a:extLst>
          </p:cNvPr>
          <p:cNvSpPr/>
          <p:nvPr/>
        </p:nvSpPr>
        <p:spPr>
          <a:xfrm>
            <a:off x="9640370" y="2413000"/>
            <a:ext cx="1000225" cy="1524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scene1-t">
            <a:extLst>
              <a:ext uri="{FF2B5EF4-FFF2-40B4-BE49-F238E27FC236}">
                <a16:creationId xmlns:a16="http://schemas.microsoft.com/office/drawing/2014/main" id="{FF9EEF51-0BA6-C2A4-E611-16E3DF6E21E2}"/>
              </a:ext>
            </a:extLst>
          </p:cNvPr>
          <p:cNvSpPr txBox="1"/>
          <p:nvPr/>
        </p:nvSpPr>
        <p:spPr>
          <a:xfrm>
            <a:off x="9640370" y="2413000"/>
            <a:ext cx="1000225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294858"/>
                </a:solidFill>
                <a:latin typeface="Microsoft YaHei" panose="020B0503020204020204" pitchFamily="34" charset="-122"/>
              </a:rPr>
              <a:t>目标：试点</a:t>
            </a:r>
          </a:p>
        </p:txBody>
      </p:sp>
      <p:sp>
        <p:nvSpPr>
          <p:cNvPr id="113" name="scene1-g">
            <a:extLst>
              <a:ext uri="{FF2B5EF4-FFF2-40B4-BE49-F238E27FC236}">
                <a16:creationId xmlns:a16="http://schemas.microsoft.com/office/drawing/2014/main" id="{F9AA5CDE-8CB4-2FEB-CC1B-449FF7EBA29E}"/>
              </a:ext>
            </a:extLst>
          </p:cNvPr>
          <p:cNvSpPr txBox="1"/>
          <p:nvPr/>
        </p:nvSpPr>
        <p:spPr>
          <a:xfrm>
            <a:off x="9640370" y="2540000"/>
            <a:ext cx="1000225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各科组 </a:t>
            </a:r>
            <a:r>
              <a:rPr lang="en-US" altLang="zh-CN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3.0 · </a:t>
            </a:r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部分项目</a:t>
            </a:r>
          </a:p>
        </p:txBody>
      </p:sp>
      <p:sp>
        <p:nvSpPr>
          <p:cNvPr id="114" name="scene2">
            <a:extLst>
              <a:ext uri="{FF2B5EF4-FFF2-40B4-BE49-F238E27FC236}">
                <a16:creationId xmlns:a16="http://schemas.microsoft.com/office/drawing/2014/main" id="{684240F0-9586-FD0F-FBC7-3393CE59A088}"/>
              </a:ext>
            </a:extLst>
          </p:cNvPr>
          <p:cNvSpPr/>
          <p:nvPr/>
        </p:nvSpPr>
        <p:spPr>
          <a:xfrm>
            <a:off x="10678695" y="2413000"/>
            <a:ext cx="1000225" cy="279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scene2-tbar">
            <a:extLst>
              <a:ext uri="{FF2B5EF4-FFF2-40B4-BE49-F238E27FC236}">
                <a16:creationId xmlns:a16="http://schemas.microsoft.com/office/drawing/2014/main" id="{2123811F-02FC-99A1-4995-7B106396F308}"/>
              </a:ext>
            </a:extLst>
          </p:cNvPr>
          <p:cNvSpPr/>
          <p:nvPr/>
        </p:nvSpPr>
        <p:spPr>
          <a:xfrm>
            <a:off x="10678695" y="2413000"/>
            <a:ext cx="1000225" cy="1524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scene2-t">
            <a:extLst>
              <a:ext uri="{FF2B5EF4-FFF2-40B4-BE49-F238E27FC236}">
                <a16:creationId xmlns:a16="http://schemas.microsoft.com/office/drawing/2014/main" id="{06B66936-48A1-B6D4-F743-AE31B302DC1C}"/>
              </a:ext>
            </a:extLst>
          </p:cNvPr>
          <p:cNvSpPr txBox="1"/>
          <p:nvPr/>
        </p:nvSpPr>
        <p:spPr>
          <a:xfrm>
            <a:off x="10678695" y="2413000"/>
            <a:ext cx="1000225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294858"/>
                </a:solidFill>
                <a:latin typeface="Microsoft YaHei" panose="020B0503020204020204" pitchFamily="34" charset="-122"/>
              </a:rPr>
              <a:t>目标：全面落地</a:t>
            </a:r>
          </a:p>
        </p:txBody>
      </p:sp>
      <p:sp>
        <p:nvSpPr>
          <p:cNvPr id="117" name="scene2-g">
            <a:extLst>
              <a:ext uri="{FF2B5EF4-FFF2-40B4-BE49-F238E27FC236}">
                <a16:creationId xmlns:a16="http://schemas.microsoft.com/office/drawing/2014/main" id="{3964103E-2B0D-41A3-B375-AAA9FFBCCE14}"/>
              </a:ext>
            </a:extLst>
          </p:cNvPr>
          <p:cNvSpPr txBox="1"/>
          <p:nvPr/>
        </p:nvSpPr>
        <p:spPr>
          <a:xfrm>
            <a:off x="10678695" y="2540000"/>
            <a:ext cx="1000225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各科组 </a:t>
            </a:r>
            <a:r>
              <a:rPr lang="en-US" altLang="zh-CN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3.0 · </a:t>
            </a:r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所有项目</a:t>
            </a:r>
          </a:p>
        </p:txBody>
      </p:sp>
      <p:sp>
        <p:nvSpPr>
          <p:cNvPr id="118" name="p1m0">
            <a:extLst>
              <a:ext uri="{FF2B5EF4-FFF2-40B4-BE49-F238E27FC236}">
                <a16:creationId xmlns:a16="http://schemas.microsoft.com/office/drawing/2014/main" id="{4D9ACC2C-1ABC-7BBB-8E66-AB5B583B0DEB}"/>
              </a:ext>
            </a:extLst>
          </p:cNvPr>
          <p:cNvSpPr/>
          <p:nvPr/>
        </p:nvSpPr>
        <p:spPr>
          <a:xfrm>
            <a:off x="9703870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p2m0">
            <a:extLst>
              <a:ext uri="{FF2B5EF4-FFF2-40B4-BE49-F238E27FC236}">
                <a16:creationId xmlns:a16="http://schemas.microsoft.com/office/drawing/2014/main" id="{9A544296-98F3-A484-1B5E-49AE360CCB9A}"/>
              </a:ext>
            </a:extLst>
          </p:cNvPr>
          <p:cNvSpPr/>
          <p:nvPr/>
        </p:nvSpPr>
        <p:spPr>
          <a:xfrm>
            <a:off x="10704095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p1m1">
            <a:extLst>
              <a:ext uri="{FF2B5EF4-FFF2-40B4-BE49-F238E27FC236}">
                <a16:creationId xmlns:a16="http://schemas.microsoft.com/office/drawing/2014/main" id="{F055A7F0-BB2D-5C1F-AABE-97B817151BE8}"/>
              </a:ext>
            </a:extLst>
          </p:cNvPr>
          <p:cNvSpPr/>
          <p:nvPr/>
        </p:nvSpPr>
        <p:spPr>
          <a:xfrm>
            <a:off x="9805470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p2m1">
            <a:extLst>
              <a:ext uri="{FF2B5EF4-FFF2-40B4-BE49-F238E27FC236}">
                <a16:creationId xmlns:a16="http://schemas.microsoft.com/office/drawing/2014/main" id="{A70C1A9C-A56A-4A9A-74B6-FEC8F5D67590}"/>
              </a:ext>
            </a:extLst>
          </p:cNvPr>
          <p:cNvSpPr/>
          <p:nvPr/>
        </p:nvSpPr>
        <p:spPr>
          <a:xfrm>
            <a:off x="10805695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p1m2">
            <a:extLst>
              <a:ext uri="{FF2B5EF4-FFF2-40B4-BE49-F238E27FC236}">
                <a16:creationId xmlns:a16="http://schemas.microsoft.com/office/drawing/2014/main" id="{D0FDC77E-0F75-B65D-3AC8-71682078FB78}"/>
              </a:ext>
            </a:extLst>
          </p:cNvPr>
          <p:cNvSpPr/>
          <p:nvPr/>
        </p:nvSpPr>
        <p:spPr>
          <a:xfrm>
            <a:off x="9907070" y="2667000"/>
            <a:ext cx="76200" cy="38100"/>
          </a:xfrm>
          <a:prstGeom prst="rect">
            <a:avLst/>
          </a:prstGeom>
          <a:solidFill>
            <a:srgbClr val="D5DCD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p2m2">
            <a:extLst>
              <a:ext uri="{FF2B5EF4-FFF2-40B4-BE49-F238E27FC236}">
                <a16:creationId xmlns:a16="http://schemas.microsoft.com/office/drawing/2014/main" id="{4AD1AF9D-C334-EE1B-E912-B25A6B360B25}"/>
              </a:ext>
            </a:extLst>
          </p:cNvPr>
          <p:cNvSpPr/>
          <p:nvPr/>
        </p:nvSpPr>
        <p:spPr>
          <a:xfrm>
            <a:off x="10907295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p1m3">
            <a:extLst>
              <a:ext uri="{FF2B5EF4-FFF2-40B4-BE49-F238E27FC236}">
                <a16:creationId xmlns:a16="http://schemas.microsoft.com/office/drawing/2014/main" id="{7993E3C4-75FD-EB1A-8CCC-0278CCD844D4}"/>
              </a:ext>
            </a:extLst>
          </p:cNvPr>
          <p:cNvSpPr/>
          <p:nvPr/>
        </p:nvSpPr>
        <p:spPr>
          <a:xfrm>
            <a:off x="10008670" y="2667000"/>
            <a:ext cx="76200" cy="38100"/>
          </a:xfrm>
          <a:prstGeom prst="rect">
            <a:avLst/>
          </a:prstGeom>
          <a:solidFill>
            <a:srgbClr val="D5DCD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p2m3">
            <a:extLst>
              <a:ext uri="{FF2B5EF4-FFF2-40B4-BE49-F238E27FC236}">
                <a16:creationId xmlns:a16="http://schemas.microsoft.com/office/drawing/2014/main" id="{DB9FB7DB-54FB-A508-5760-7B1BA9B89334}"/>
              </a:ext>
            </a:extLst>
          </p:cNvPr>
          <p:cNvSpPr/>
          <p:nvPr/>
        </p:nvSpPr>
        <p:spPr>
          <a:xfrm>
            <a:off x="11008895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cell-o-old">
            <a:extLst>
              <a:ext uri="{FF2B5EF4-FFF2-40B4-BE49-F238E27FC236}">
                <a16:creationId xmlns:a16="http://schemas.microsoft.com/office/drawing/2014/main" id="{D54B9E57-8CEF-7360-EC1E-09CA1CA8F935}"/>
              </a:ext>
            </a:extLst>
          </p:cNvPr>
          <p:cNvSpPr/>
          <p:nvPr/>
        </p:nvSpPr>
        <p:spPr>
          <a:xfrm>
            <a:off x="1371600" y="2750820"/>
            <a:ext cx="4358640" cy="518160"/>
          </a:xfrm>
          <a:prstGeom prst="rect">
            <a:avLst/>
          </a:prstGeom>
          <a:solidFill>
            <a:srgbClr val="F1F3F3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op-old0">
            <a:extLst>
              <a:ext uri="{FF2B5EF4-FFF2-40B4-BE49-F238E27FC236}">
                <a16:creationId xmlns:a16="http://schemas.microsoft.com/office/drawing/2014/main" id="{665A818A-5C95-6003-D8FA-8797D8B80D87}"/>
              </a:ext>
            </a:extLst>
          </p:cNvPr>
          <p:cNvSpPr/>
          <p:nvPr/>
        </p:nvSpPr>
        <p:spPr>
          <a:xfrm>
            <a:off x="1435100" y="2827020"/>
            <a:ext cx="1359747" cy="34290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op-old0-ico">
            <a:extLst>
              <a:ext uri="{FF2B5EF4-FFF2-40B4-BE49-F238E27FC236}">
                <a16:creationId xmlns:a16="http://schemas.microsoft.com/office/drawing/2014/main" id="{1C0FFBCD-3230-51B0-D193-9D71ED70BFE1}"/>
              </a:ext>
            </a:extLst>
          </p:cNvPr>
          <p:cNvSpPr/>
          <p:nvPr/>
        </p:nvSpPr>
        <p:spPr>
          <a:xfrm>
            <a:off x="1485900" y="2928620"/>
            <a:ext cx="177800" cy="177800"/>
          </a:xfrm>
          <a:prstGeom prst="ellipse">
            <a:avLst/>
          </a:prstGeom>
          <a:solidFill>
            <a:srgbClr val="87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op-old0-t">
            <a:extLst>
              <a:ext uri="{FF2B5EF4-FFF2-40B4-BE49-F238E27FC236}">
                <a16:creationId xmlns:a16="http://schemas.microsoft.com/office/drawing/2014/main" id="{206415BB-E091-ED8D-7162-76E13DCFD12D}"/>
              </a:ext>
            </a:extLst>
          </p:cNvPr>
          <p:cNvSpPr txBox="1"/>
          <p:nvPr/>
        </p:nvSpPr>
        <p:spPr>
          <a:xfrm>
            <a:off x="1689100" y="28524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405863"/>
                </a:solidFill>
                <a:latin typeface="Microsoft YaHei" panose="020B0503020204020204" pitchFamily="34" charset="-122"/>
              </a:rPr>
              <a:t>季度跟踪</a:t>
            </a:r>
          </a:p>
        </p:txBody>
      </p:sp>
      <p:sp>
        <p:nvSpPr>
          <p:cNvPr id="130" name="op-old0-s">
            <a:extLst>
              <a:ext uri="{FF2B5EF4-FFF2-40B4-BE49-F238E27FC236}">
                <a16:creationId xmlns:a16="http://schemas.microsoft.com/office/drawing/2014/main" id="{77D3C71E-62B5-3FA6-04A5-FB0DFD2B881F}"/>
              </a:ext>
            </a:extLst>
          </p:cNvPr>
          <p:cNvSpPr txBox="1"/>
          <p:nvPr/>
        </p:nvSpPr>
        <p:spPr>
          <a:xfrm>
            <a:off x="1689100" y="30302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过程状态更新不及时</a:t>
            </a:r>
          </a:p>
        </p:txBody>
      </p:sp>
      <p:sp>
        <p:nvSpPr>
          <p:cNvPr id="131" name="op-old1">
            <a:extLst>
              <a:ext uri="{FF2B5EF4-FFF2-40B4-BE49-F238E27FC236}">
                <a16:creationId xmlns:a16="http://schemas.microsoft.com/office/drawing/2014/main" id="{3D4EDA15-7533-2C2E-9579-C07F0DD1327D}"/>
              </a:ext>
            </a:extLst>
          </p:cNvPr>
          <p:cNvSpPr/>
          <p:nvPr/>
        </p:nvSpPr>
        <p:spPr>
          <a:xfrm>
            <a:off x="2858347" y="2827020"/>
            <a:ext cx="1359747" cy="34290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op-old1-ico">
            <a:extLst>
              <a:ext uri="{FF2B5EF4-FFF2-40B4-BE49-F238E27FC236}">
                <a16:creationId xmlns:a16="http://schemas.microsoft.com/office/drawing/2014/main" id="{A8DE7E25-BF76-D325-ECF3-3A7547E88BC8}"/>
              </a:ext>
            </a:extLst>
          </p:cNvPr>
          <p:cNvSpPr/>
          <p:nvPr/>
        </p:nvSpPr>
        <p:spPr>
          <a:xfrm>
            <a:off x="2909147" y="2928620"/>
            <a:ext cx="177800" cy="177800"/>
          </a:xfrm>
          <a:prstGeom prst="ellipse">
            <a:avLst/>
          </a:prstGeom>
          <a:solidFill>
            <a:srgbClr val="87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op-old1-t">
            <a:extLst>
              <a:ext uri="{FF2B5EF4-FFF2-40B4-BE49-F238E27FC236}">
                <a16:creationId xmlns:a16="http://schemas.microsoft.com/office/drawing/2014/main" id="{904B723E-B0D7-2634-1DB2-ABCD28162A99}"/>
              </a:ext>
            </a:extLst>
          </p:cNvPr>
          <p:cNvSpPr txBox="1"/>
          <p:nvPr/>
        </p:nvSpPr>
        <p:spPr>
          <a:xfrm>
            <a:off x="3112347" y="28524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405863"/>
                </a:solidFill>
                <a:latin typeface="Microsoft YaHei" panose="020B0503020204020204" pitchFamily="34" charset="-122"/>
              </a:rPr>
              <a:t>年底集中验收</a:t>
            </a:r>
          </a:p>
        </p:txBody>
      </p:sp>
      <p:sp>
        <p:nvSpPr>
          <p:cNvPr id="134" name="op-old1-s">
            <a:extLst>
              <a:ext uri="{FF2B5EF4-FFF2-40B4-BE49-F238E27FC236}">
                <a16:creationId xmlns:a16="http://schemas.microsoft.com/office/drawing/2014/main" id="{1D64E3AB-97B9-1F06-C941-DD71C71088B0}"/>
              </a:ext>
            </a:extLst>
          </p:cNvPr>
          <p:cNvSpPr txBox="1"/>
          <p:nvPr/>
        </p:nvSpPr>
        <p:spPr>
          <a:xfrm>
            <a:off x="3112347" y="30302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问题发现与纠偏滞后</a:t>
            </a:r>
          </a:p>
        </p:txBody>
      </p:sp>
      <p:sp>
        <p:nvSpPr>
          <p:cNvPr id="135" name="op-old2">
            <a:extLst>
              <a:ext uri="{FF2B5EF4-FFF2-40B4-BE49-F238E27FC236}">
                <a16:creationId xmlns:a16="http://schemas.microsoft.com/office/drawing/2014/main" id="{8C4113B3-EE9A-323D-0792-4C94F6FF2F40}"/>
              </a:ext>
            </a:extLst>
          </p:cNvPr>
          <p:cNvSpPr/>
          <p:nvPr/>
        </p:nvSpPr>
        <p:spPr>
          <a:xfrm>
            <a:off x="4281593" y="2827020"/>
            <a:ext cx="1359747" cy="34290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op-old2-ico">
            <a:extLst>
              <a:ext uri="{FF2B5EF4-FFF2-40B4-BE49-F238E27FC236}">
                <a16:creationId xmlns:a16="http://schemas.microsoft.com/office/drawing/2014/main" id="{62278059-40F5-56ED-3A97-7E145F91806A}"/>
              </a:ext>
            </a:extLst>
          </p:cNvPr>
          <p:cNvSpPr/>
          <p:nvPr/>
        </p:nvSpPr>
        <p:spPr>
          <a:xfrm>
            <a:off x="4332393" y="2928620"/>
            <a:ext cx="177800" cy="177800"/>
          </a:xfrm>
          <a:prstGeom prst="ellipse">
            <a:avLst/>
          </a:prstGeom>
          <a:solidFill>
            <a:srgbClr val="87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op-old2-t">
            <a:extLst>
              <a:ext uri="{FF2B5EF4-FFF2-40B4-BE49-F238E27FC236}">
                <a16:creationId xmlns:a16="http://schemas.microsoft.com/office/drawing/2014/main" id="{47497AD5-81DA-C1E4-2093-E61D138D3265}"/>
              </a:ext>
            </a:extLst>
          </p:cNvPr>
          <p:cNvSpPr txBox="1"/>
          <p:nvPr/>
        </p:nvSpPr>
        <p:spPr>
          <a:xfrm>
            <a:off x="4535593" y="28524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405863"/>
                </a:solidFill>
                <a:latin typeface="Microsoft YaHei" panose="020B0503020204020204" pitchFamily="34" charset="-122"/>
              </a:rPr>
              <a:t>偏重进度管理</a:t>
            </a:r>
          </a:p>
        </p:txBody>
      </p:sp>
      <p:sp>
        <p:nvSpPr>
          <p:cNvPr id="138" name="op-old2-s">
            <a:extLst>
              <a:ext uri="{FF2B5EF4-FFF2-40B4-BE49-F238E27FC236}">
                <a16:creationId xmlns:a16="http://schemas.microsoft.com/office/drawing/2014/main" id="{483066B6-A9AF-69AF-8D8E-44D25BC1C474}"/>
              </a:ext>
            </a:extLst>
          </p:cNvPr>
          <p:cNvSpPr txBox="1"/>
          <p:nvPr/>
        </p:nvSpPr>
        <p:spPr>
          <a:xfrm>
            <a:off x="4535593" y="30302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看进度多、落地辅导少</a:t>
            </a:r>
          </a:p>
        </p:txBody>
      </p:sp>
      <p:sp>
        <p:nvSpPr>
          <p:cNvPr id="139" name="cell-o-new">
            <a:extLst>
              <a:ext uri="{FF2B5EF4-FFF2-40B4-BE49-F238E27FC236}">
                <a16:creationId xmlns:a16="http://schemas.microsoft.com/office/drawing/2014/main" id="{A2B6066B-7554-11B4-97ED-EA2099FDE13B}"/>
              </a:ext>
            </a:extLst>
          </p:cNvPr>
          <p:cNvSpPr/>
          <p:nvPr/>
        </p:nvSpPr>
        <p:spPr>
          <a:xfrm>
            <a:off x="5730240" y="2750820"/>
            <a:ext cx="6050280" cy="518160"/>
          </a:xfrm>
          <a:prstGeom prst="rect">
            <a:avLst/>
          </a:prstGeom>
          <a:solidFill>
            <a:srgbClr val="FFFFFF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op-new0">
            <a:extLst>
              <a:ext uri="{FF2B5EF4-FFF2-40B4-BE49-F238E27FC236}">
                <a16:creationId xmlns:a16="http://schemas.microsoft.com/office/drawing/2014/main" id="{F2574E6B-AEA2-9F7B-7CD5-3EA6FC0B5E37}"/>
              </a:ext>
            </a:extLst>
          </p:cNvPr>
          <p:cNvSpPr/>
          <p:nvPr/>
        </p:nvSpPr>
        <p:spPr>
          <a:xfrm>
            <a:off x="5793740" y="2827020"/>
            <a:ext cx="1923627" cy="342900"/>
          </a:xfrm>
          <a:prstGeom prst="rect">
            <a:avLst/>
          </a:prstGeom>
          <a:solidFill>
            <a:srgbClr val="E7F1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op-new0-ico">
            <a:extLst>
              <a:ext uri="{FF2B5EF4-FFF2-40B4-BE49-F238E27FC236}">
                <a16:creationId xmlns:a16="http://schemas.microsoft.com/office/drawing/2014/main" id="{7FE48ECB-BE33-6C20-231C-C12801FA1FC7}"/>
              </a:ext>
            </a:extLst>
          </p:cNvPr>
          <p:cNvSpPr/>
          <p:nvPr/>
        </p:nvSpPr>
        <p:spPr>
          <a:xfrm>
            <a:off x="5844540" y="2928620"/>
            <a:ext cx="177800" cy="177800"/>
          </a:xfrm>
          <a:prstGeom prst="ellipse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800" b="1">
                <a:solidFill>
                  <a:srgbClr val="FFFFFF"/>
                </a:solidFill>
                <a:latin typeface="Microsoft YaHei" panose="020B0503020204020204" pitchFamily="34" charset="-122"/>
              </a:rPr>
              <a:t>◎</a:t>
            </a:r>
          </a:p>
        </p:txBody>
      </p:sp>
      <p:sp>
        <p:nvSpPr>
          <p:cNvPr id="142" name="op-new0-t">
            <a:extLst>
              <a:ext uri="{FF2B5EF4-FFF2-40B4-BE49-F238E27FC236}">
                <a16:creationId xmlns:a16="http://schemas.microsoft.com/office/drawing/2014/main" id="{013A498C-4570-98F6-46B3-2FEFE7032FE8}"/>
              </a:ext>
            </a:extLst>
          </p:cNvPr>
          <p:cNvSpPr txBox="1"/>
          <p:nvPr/>
        </p:nvSpPr>
        <p:spPr>
          <a:xfrm>
            <a:off x="6047740" y="28524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实时跟踪</a:t>
            </a:r>
          </a:p>
        </p:txBody>
      </p:sp>
      <p:sp>
        <p:nvSpPr>
          <p:cNvPr id="143" name="op-new0-s">
            <a:extLst>
              <a:ext uri="{FF2B5EF4-FFF2-40B4-BE49-F238E27FC236}">
                <a16:creationId xmlns:a16="http://schemas.microsoft.com/office/drawing/2014/main" id="{D95D7466-EF43-6A3C-2082-2357824F5121}"/>
              </a:ext>
            </a:extLst>
          </p:cNvPr>
          <p:cNvSpPr txBox="1"/>
          <p:nvPr/>
        </p:nvSpPr>
        <p:spPr>
          <a:xfrm>
            <a:off x="6047740" y="30302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目标、进度、差距持续可见</a:t>
            </a:r>
          </a:p>
        </p:txBody>
      </p:sp>
      <p:sp>
        <p:nvSpPr>
          <p:cNvPr id="144" name="op-new1">
            <a:extLst>
              <a:ext uri="{FF2B5EF4-FFF2-40B4-BE49-F238E27FC236}">
                <a16:creationId xmlns:a16="http://schemas.microsoft.com/office/drawing/2014/main" id="{9DE451CA-4B3C-EB31-B203-965D08EB708B}"/>
              </a:ext>
            </a:extLst>
          </p:cNvPr>
          <p:cNvSpPr/>
          <p:nvPr/>
        </p:nvSpPr>
        <p:spPr>
          <a:xfrm>
            <a:off x="7780867" y="2827020"/>
            <a:ext cx="1923627" cy="342900"/>
          </a:xfrm>
          <a:prstGeom prst="rect">
            <a:avLst/>
          </a:prstGeom>
          <a:solidFill>
            <a:srgbClr val="E7F1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op-new1-ico">
            <a:extLst>
              <a:ext uri="{FF2B5EF4-FFF2-40B4-BE49-F238E27FC236}">
                <a16:creationId xmlns:a16="http://schemas.microsoft.com/office/drawing/2014/main" id="{81BEAD98-1363-2419-FD6A-C6660DAA8D04}"/>
              </a:ext>
            </a:extLst>
          </p:cNvPr>
          <p:cNvSpPr/>
          <p:nvPr/>
        </p:nvSpPr>
        <p:spPr>
          <a:xfrm>
            <a:off x="7831667" y="2928620"/>
            <a:ext cx="177800" cy="177800"/>
          </a:xfrm>
          <a:prstGeom prst="ellipse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800" b="1">
                <a:solidFill>
                  <a:srgbClr val="FFFFFF"/>
                </a:solidFill>
                <a:latin typeface="Microsoft YaHei" panose="020B0503020204020204" pitchFamily="34" charset="-122"/>
              </a:rPr>
              <a:t>✓</a:t>
            </a:r>
          </a:p>
        </p:txBody>
      </p:sp>
      <p:sp>
        <p:nvSpPr>
          <p:cNvPr id="146" name="op-new1-t">
            <a:extLst>
              <a:ext uri="{FF2B5EF4-FFF2-40B4-BE49-F238E27FC236}">
                <a16:creationId xmlns:a16="http://schemas.microsoft.com/office/drawing/2014/main" id="{305F60F7-8CD0-9358-8501-865CBF6B1DF6}"/>
              </a:ext>
            </a:extLst>
          </p:cNvPr>
          <p:cNvSpPr txBox="1"/>
          <p:nvPr/>
        </p:nvSpPr>
        <p:spPr>
          <a:xfrm>
            <a:off x="8034867" y="28524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达成即验收</a:t>
            </a:r>
          </a:p>
        </p:txBody>
      </p:sp>
      <p:sp>
        <p:nvSpPr>
          <p:cNvPr id="147" name="op-new1-s">
            <a:extLst>
              <a:ext uri="{FF2B5EF4-FFF2-40B4-BE49-F238E27FC236}">
                <a16:creationId xmlns:a16="http://schemas.microsoft.com/office/drawing/2014/main" id="{3AAF0270-C45E-A9AB-0CBA-E55B343D1A90}"/>
              </a:ext>
            </a:extLst>
          </p:cNvPr>
          <p:cNvSpPr txBox="1"/>
          <p:nvPr/>
        </p:nvSpPr>
        <p:spPr>
          <a:xfrm>
            <a:off x="8034867" y="30302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完成后及时确认结果</a:t>
            </a:r>
          </a:p>
        </p:txBody>
      </p:sp>
      <p:sp>
        <p:nvSpPr>
          <p:cNvPr id="148" name="op-new2">
            <a:extLst>
              <a:ext uri="{FF2B5EF4-FFF2-40B4-BE49-F238E27FC236}">
                <a16:creationId xmlns:a16="http://schemas.microsoft.com/office/drawing/2014/main" id="{414D278D-01C3-1C95-2CD8-A9B502D97A83}"/>
              </a:ext>
            </a:extLst>
          </p:cNvPr>
          <p:cNvSpPr/>
          <p:nvPr/>
        </p:nvSpPr>
        <p:spPr>
          <a:xfrm>
            <a:off x="9767994" y="2827020"/>
            <a:ext cx="1923626" cy="342900"/>
          </a:xfrm>
          <a:prstGeom prst="rect">
            <a:avLst/>
          </a:prstGeom>
          <a:solidFill>
            <a:srgbClr val="E7F1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op-new2-ico">
            <a:extLst>
              <a:ext uri="{FF2B5EF4-FFF2-40B4-BE49-F238E27FC236}">
                <a16:creationId xmlns:a16="http://schemas.microsoft.com/office/drawing/2014/main" id="{3A65A4B2-4169-E357-CDD0-CC1985D309F1}"/>
              </a:ext>
            </a:extLst>
          </p:cNvPr>
          <p:cNvSpPr/>
          <p:nvPr/>
        </p:nvSpPr>
        <p:spPr>
          <a:xfrm>
            <a:off x="9818794" y="2928620"/>
            <a:ext cx="177800" cy="177800"/>
          </a:xfrm>
          <a:prstGeom prst="ellipse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800" b="1">
                <a:solidFill>
                  <a:srgbClr val="FFFFFF"/>
                </a:solidFill>
                <a:latin typeface="Microsoft YaHei" panose="020B0503020204020204" pitchFamily="34" charset="-122"/>
              </a:rPr>
              <a:t>↗</a:t>
            </a:r>
          </a:p>
        </p:txBody>
      </p:sp>
      <p:sp>
        <p:nvSpPr>
          <p:cNvPr id="150" name="op-new2-t">
            <a:extLst>
              <a:ext uri="{FF2B5EF4-FFF2-40B4-BE49-F238E27FC236}">
                <a16:creationId xmlns:a16="http://schemas.microsoft.com/office/drawing/2014/main" id="{41CD82A1-8324-8ED9-1F1C-43FF24C680B0}"/>
              </a:ext>
            </a:extLst>
          </p:cNvPr>
          <p:cNvSpPr txBox="1"/>
          <p:nvPr/>
        </p:nvSpPr>
        <p:spPr>
          <a:xfrm>
            <a:off x="10021994" y="28524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落地辅导</a:t>
            </a:r>
          </a:p>
        </p:txBody>
      </p:sp>
      <p:sp>
        <p:nvSpPr>
          <p:cNvPr id="151" name="op-new2-s">
            <a:extLst>
              <a:ext uri="{FF2B5EF4-FFF2-40B4-BE49-F238E27FC236}">
                <a16:creationId xmlns:a16="http://schemas.microsoft.com/office/drawing/2014/main" id="{F5C233F6-9593-9E77-0EEF-4F9F5DDF49F2}"/>
              </a:ext>
            </a:extLst>
          </p:cNvPr>
          <p:cNvSpPr txBox="1"/>
          <p:nvPr/>
        </p:nvSpPr>
        <p:spPr>
          <a:xfrm>
            <a:off x="10021994" y="30302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结合业务需求给出建议</a:t>
            </a:r>
          </a:p>
        </p:txBody>
      </p:sp>
      <p:sp>
        <p:nvSpPr>
          <p:cNvPr id="152" name="cell-v-old">
            <a:extLst>
              <a:ext uri="{FF2B5EF4-FFF2-40B4-BE49-F238E27FC236}">
                <a16:creationId xmlns:a16="http://schemas.microsoft.com/office/drawing/2014/main" id="{E44ECB6D-7220-F43F-26E9-CC9191CCFBA8}"/>
              </a:ext>
            </a:extLst>
          </p:cNvPr>
          <p:cNvSpPr/>
          <p:nvPr/>
        </p:nvSpPr>
        <p:spPr>
          <a:xfrm>
            <a:off x="1371600" y="3268980"/>
            <a:ext cx="4358640" cy="960120"/>
          </a:xfrm>
          <a:prstGeom prst="rect">
            <a:avLst/>
          </a:prstGeom>
          <a:solidFill>
            <a:srgbClr val="F1F3F3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vold0">
            <a:extLst>
              <a:ext uri="{FF2B5EF4-FFF2-40B4-BE49-F238E27FC236}">
                <a16:creationId xmlns:a16="http://schemas.microsoft.com/office/drawing/2014/main" id="{F04780B8-4D05-7B27-95C9-7945040E7828}"/>
              </a:ext>
            </a:extLst>
          </p:cNvPr>
          <p:cNvSpPr/>
          <p:nvPr/>
        </p:nvSpPr>
        <p:spPr>
          <a:xfrm>
            <a:off x="1447800" y="344678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vold0-top">
            <a:extLst>
              <a:ext uri="{FF2B5EF4-FFF2-40B4-BE49-F238E27FC236}">
                <a16:creationId xmlns:a16="http://schemas.microsoft.com/office/drawing/2014/main" id="{18F56C95-4486-1EE6-4B5E-ABA596F01539}"/>
              </a:ext>
            </a:extLst>
          </p:cNvPr>
          <p:cNvSpPr/>
          <p:nvPr/>
        </p:nvSpPr>
        <p:spPr>
          <a:xfrm>
            <a:off x="1447800" y="3446780"/>
            <a:ext cx="1359747" cy="25400"/>
          </a:xfrm>
          <a:prstGeom prst="rect">
            <a:avLst/>
          </a:prstGeom>
          <a:solidFill>
            <a:srgbClr val="89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vold0-t">
            <a:extLst>
              <a:ext uri="{FF2B5EF4-FFF2-40B4-BE49-F238E27FC236}">
                <a16:creationId xmlns:a16="http://schemas.microsoft.com/office/drawing/2014/main" id="{546E323E-03AB-4FFF-2C44-9918BAD3BE4F}"/>
              </a:ext>
            </a:extLst>
          </p:cNvPr>
          <p:cNvSpPr txBox="1"/>
          <p:nvPr/>
        </p:nvSpPr>
        <p:spPr>
          <a:xfrm>
            <a:off x="1447800" y="349758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SP/BP </a:t>
            </a:r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拆解</a:t>
            </a:r>
          </a:p>
        </p:txBody>
      </p:sp>
      <p:sp>
        <p:nvSpPr>
          <p:cNvPr id="156" name="vold0-s">
            <a:extLst>
              <a:ext uri="{FF2B5EF4-FFF2-40B4-BE49-F238E27FC236}">
                <a16:creationId xmlns:a16="http://schemas.microsoft.com/office/drawing/2014/main" id="{D33D36CA-84C1-E67C-873E-88EF253A1DB4}"/>
              </a:ext>
            </a:extLst>
          </p:cNvPr>
          <p:cNvSpPr txBox="1"/>
          <p:nvPr/>
        </p:nvSpPr>
        <p:spPr>
          <a:xfrm>
            <a:off x="1447800" y="370078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形成能力细分项</a:t>
            </a:r>
          </a:p>
        </p:txBody>
      </p:sp>
      <p:sp>
        <p:nvSpPr>
          <p:cNvPr id="157" name="vold1">
            <a:extLst>
              <a:ext uri="{FF2B5EF4-FFF2-40B4-BE49-F238E27FC236}">
                <a16:creationId xmlns:a16="http://schemas.microsoft.com/office/drawing/2014/main" id="{9C29AA16-19E6-95D4-23E7-C24C362D5B31}"/>
              </a:ext>
            </a:extLst>
          </p:cNvPr>
          <p:cNvSpPr/>
          <p:nvPr/>
        </p:nvSpPr>
        <p:spPr>
          <a:xfrm>
            <a:off x="2871047" y="344678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vold1-top">
            <a:extLst>
              <a:ext uri="{FF2B5EF4-FFF2-40B4-BE49-F238E27FC236}">
                <a16:creationId xmlns:a16="http://schemas.microsoft.com/office/drawing/2014/main" id="{06CAB4B2-DA7A-7F15-F9FB-4B2252771786}"/>
              </a:ext>
            </a:extLst>
          </p:cNvPr>
          <p:cNvSpPr/>
          <p:nvPr/>
        </p:nvSpPr>
        <p:spPr>
          <a:xfrm>
            <a:off x="2871047" y="3446780"/>
            <a:ext cx="1359747" cy="25400"/>
          </a:xfrm>
          <a:prstGeom prst="rect">
            <a:avLst/>
          </a:prstGeom>
          <a:solidFill>
            <a:srgbClr val="89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vold1-t">
            <a:extLst>
              <a:ext uri="{FF2B5EF4-FFF2-40B4-BE49-F238E27FC236}">
                <a16:creationId xmlns:a16="http://schemas.microsoft.com/office/drawing/2014/main" id="{50609634-2C10-8EB0-C9AD-93DBD9771B8B}"/>
              </a:ext>
            </a:extLst>
          </p:cNvPr>
          <p:cNvSpPr txBox="1"/>
          <p:nvPr/>
        </p:nvSpPr>
        <p:spPr>
          <a:xfrm>
            <a:off x="2871047" y="349758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KPI </a:t>
            </a:r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关联</a:t>
            </a:r>
          </a:p>
        </p:txBody>
      </p:sp>
      <p:sp>
        <p:nvSpPr>
          <p:cNvPr id="160" name="vold1-s">
            <a:extLst>
              <a:ext uri="{FF2B5EF4-FFF2-40B4-BE49-F238E27FC236}">
                <a16:creationId xmlns:a16="http://schemas.microsoft.com/office/drawing/2014/main" id="{EEC090EF-CA0A-D4B9-7DEE-BC1157DBE96F}"/>
              </a:ext>
            </a:extLst>
          </p:cNvPr>
          <p:cNvSpPr txBox="1"/>
          <p:nvPr/>
        </p:nvSpPr>
        <p:spPr>
          <a:xfrm>
            <a:off x="2871047" y="370078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衡量年度交付结果</a:t>
            </a:r>
          </a:p>
        </p:txBody>
      </p:sp>
      <p:sp>
        <p:nvSpPr>
          <p:cNvPr id="161" name="vold2">
            <a:extLst>
              <a:ext uri="{FF2B5EF4-FFF2-40B4-BE49-F238E27FC236}">
                <a16:creationId xmlns:a16="http://schemas.microsoft.com/office/drawing/2014/main" id="{9E3BB2BB-05CE-1B63-1485-4AA9C87C3A57}"/>
              </a:ext>
            </a:extLst>
          </p:cNvPr>
          <p:cNvSpPr/>
          <p:nvPr/>
        </p:nvSpPr>
        <p:spPr>
          <a:xfrm>
            <a:off x="4294293" y="344678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vold2-top">
            <a:extLst>
              <a:ext uri="{FF2B5EF4-FFF2-40B4-BE49-F238E27FC236}">
                <a16:creationId xmlns:a16="http://schemas.microsoft.com/office/drawing/2014/main" id="{C84825F5-A450-4E89-68B6-B579CD9E942E}"/>
              </a:ext>
            </a:extLst>
          </p:cNvPr>
          <p:cNvSpPr/>
          <p:nvPr/>
        </p:nvSpPr>
        <p:spPr>
          <a:xfrm>
            <a:off x="4294293" y="3446780"/>
            <a:ext cx="1359747" cy="25400"/>
          </a:xfrm>
          <a:prstGeom prst="rect">
            <a:avLst/>
          </a:prstGeom>
          <a:solidFill>
            <a:srgbClr val="B9796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vold2-t">
            <a:extLst>
              <a:ext uri="{FF2B5EF4-FFF2-40B4-BE49-F238E27FC236}">
                <a16:creationId xmlns:a16="http://schemas.microsoft.com/office/drawing/2014/main" id="{8063AAAD-CDA2-7614-36A7-B262313DA5EA}"/>
              </a:ext>
            </a:extLst>
          </p:cNvPr>
          <p:cNvSpPr txBox="1"/>
          <p:nvPr/>
        </p:nvSpPr>
        <p:spPr>
          <a:xfrm>
            <a:off x="4294293" y="349758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引导不足</a:t>
            </a:r>
          </a:p>
        </p:txBody>
      </p:sp>
      <p:sp>
        <p:nvSpPr>
          <p:cNvPr id="164" name="vold2-s">
            <a:extLst>
              <a:ext uri="{FF2B5EF4-FFF2-40B4-BE49-F238E27FC236}">
                <a16:creationId xmlns:a16="http://schemas.microsoft.com/office/drawing/2014/main" id="{56B3A1F1-2DBA-5772-6B19-6D52659BDEBB}"/>
              </a:ext>
            </a:extLst>
          </p:cNvPr>
          <p:cNvSpPr txBox="1"/>
          <p:nvPr/>
        </p:nvSpPr>
        <p:spPr>
          <a:xfrm>
            <a:off x="4294293" y="370078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无法驱动业务自我优化升级</a:t>
            </a:r>
          </a:p>
        </p:txBody>
      </p:sp>
      <p:sp>
        <p:nvSpPr>
          <p:cNvPr id="165" name="cell-v-new">
            <a:extLst>
              <a:ext uri="{FF2B5EF4-FFF2-40B4-BE49-F238E27FC236}">
                <a16:creationId xmlns:a16="http://schemas.microsoft.com/office/drawing/2014/main" id="{1C581C41-4064-EE8C-94EE-B621F463D5EA}"/>
              </a:ext>
            </a:extLst>
          </p:cNvPr>
          <p:cNvSpPr/>
          <p:nvPr/>
        </p:nvSpPr>
        <p:spPr>
          <a:xfrm>
            <a:off x="5730240" y="3268980"/>
            <a:ext cx="60502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goal-box">
            <a:extLst>
              <a:ext uri="{FF2B5EF4-FFF2-40B4-BE49-F238E27FC236}">
                <a16:creationId xmlns:a16="http://schemas.microsoft.com/office/drawing/2014/main" id="{A79E4909-6786-D5D6-90E3-EC8CC709E9BF}"/>
              </a:ext>
            </a:extLst>
          </p:cNvPr>
          <p:cNvSpPr/>
          <p:nvPr/>
        </p:nvSpPr>
        <p:spPr>
          <a:xfrm>
            <a:off x="5806440" y="3370580"/>
            <a:ext cx="2438400" cy="708660"/>
          </a:xfrm>
          <a:prstGeom prst="rect">
            <a:avLst/>
          </a:prstGeom>
          <a:noFill/>
          <a:ln w="15240" cap="flat" cmpd="sng" algn="ctr">
            <a:solidFill>
              <a:srgbClr val="C9D5D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goal-cap">
            <a:extLst>
              <a:ext uri="{FF2B5EF4-FFF2-40B4-BE49-F238E27FC236}">
                <a16:creationId xmlns:a16="http://schemas.microsoft.com/office/drawing/2014/main" id="{B0B434BC-E862-B0EB-715F-E19A75822B4D}"/>
              </a:ext>
            </a:extLst>
          </p:cNvPr>
          <p:cNvSpPr txBox="1"/>
          <p:nvPr/>
        </p:nvSpPr>
        <p:spPr>
          <a:xfrm>
            <a:off x="5857240" y="3370580"/>
            <a:ext cx="23368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61747E"/>
                </a:solidFill>
                <a:latin typeface="Microsoft YaHei" panose="020B0503020204020204" pitchFamily="34" charset="-122"/>
              </a:rPr>
              <a:t>完整测试能力年度目标合集 </a:t>
            </a:r>
            <a:r>
              <a:rPr lang="en-US" altLang="zh-CN" sz="600" b="1">
                <a:solidFill>
                  <a:srgbClr val="61747E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 b="1">
                <a:solidFill>
                  <a:srgbClr val="61747E"/>
                </a:solidFill>
                <a:latin typeface="Microsoft YaHei" panose="020B0503020204020204" pitchFamily="34" charset="-122"/>
              </a:rPr>
              <a:t>递进能力阶</a:t>
            </a:r>
          </a:p>
        </p:txBody>
      </p:sp>
      <p:sp>
        <p:nvSpPr>
          <p:cNvPr id="168" name="step0">
            <a:extLst>
              <a:ext uri="{FF2B5EF4-FFF2-40B4-BE49-F238E27FC236}">
                <a16:creationId xmlns:a16="http://schemas.microsoft.com/office/drawing/2014/main" id="{1DA1B07C-2376-93B1-E6EE-75B7D48506CC}"/>
              </a:ext>
            </a:extLst>
          </p:cNvPr>
          <p:cNvSpPr/>
          <p:nvPr/>
        </p:nvSpPr>
        <p:spPr>
          <a:xfrm>
            <a:off x="5831840" y="3764280"/>
            <a:ext cx="774700" cy="213360"/>
          </a:xfrm>
          <a:prstGeom prst="rect">
            <a:avLst/>
          </a:prstGeom>
          <a:solidFill>
            <a:srgbClr val="8398A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12700" rIns="12700" bIns="12700" rtlCol="0" anchor="ctr"/>
          <a:lstStyle/>
          <a:p>
            <a:pPr algn="ctr"/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2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级</a:t>
            </a:r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`n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基础基底</a:t>
            </a:r>
          </a:p>
        </p:txBody>
      </p:sp>
      <p:sp>
        <p:nvSpPr>
          <p:cNvPr id="169" name="step1">
            <a:extLst>
              <a:ext uri="{FF2B5EF4-FFF2-40B4-BE49-F238E27FC236}">
                <a16:creationId xmlns:a16="http://schemas.microsoft.com/office/drawing/2014/main" id="{C604E18B-C0A5-0968-E676-18F08599E032}"/>
              </a:ext>
            </a:extLst>
          </p:cNvPr>
          <p:cNvSpPr/>
          <p:nvPr/>
        </p:nvSpPr>
        <p:spPr>
          <a:xfrm>
            <a:off x="6644640" y="3619500"/>
            <a:ext cx="774700" cy="35814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12700" rIns="12700" bIns="12700" rtlCol="0" anchor="ctr"/>
          <a:lstStyle/>
          <a:p>
            <a:pPr algn="ctr"/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3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级</a:t>
            </a:r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`n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年度重点</a:t>
            </a:r>
          </a:p>
        </p:txBody>
      </p:sp>
      <p:sp>
        <p:nvSpPr>
          <p:cNvPr id="170" name="step2">
            <a:extLst>
              <a:ext uri="{FF2B5EF4-FFF2-40B4-BE49-F238E27FC236}">
                <a16:creationId xmlns:a16="http://schemas.microsoft.com/office/drawing/2014/main" id="{4B12ED30-8176-C534-10B0-4F5FD15827C4}"/>
              </a:ext>
            </a:extLst>
          </p:cNvPr>
          <p:cNvSpPr/>
          <p:nvPr/>
        </p:nvSpPr>
        <p:spPr>
          <a:xfrm>
            <a:off x="7457440" y="3482340"/>
            <a:ext cx="774700" cy="4953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12700" rIns="12700" bIns="12700" rtlCol="0" anchor="ctr"/>
          <a:lstStyle/>
          <a:p>
            <a:pPr algn="ctr"/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4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级</a:t>
            </a:r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`n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数字化 </a:t>
            </a:r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/ AI</a:t>
            </a:r>
            <a:endParaRPr lang="zh-CN" altLang="en-US" sz="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71" name="out0">
            <a:extLst>
              <a:ext uri="{FF2B5EF4-FFF2-40B4-BE49-F238E27FC236}">
                <a16:creationId xmlns:a16="http://schemas.microsoft.com/office/drawing/2014/main" id="{819C6599-40DC-2FD0-E0E3-654DC96CB655}"/>
              </a:ext>
            </a:extLst>
          </p:cNvPr>
          <p:cNvSpPr/>
          <p:nvPr/>
        </p:nvSpPr>
        <p:spPr>
          <a:xfrm>
            <a:off x="8295640" y="3370580"/>
            <a:ext cx="1102360" cy="708660"/>
          </a:xfrm>
          <a:prstGeom prst="rect">
            <a:avLst/>
          </a:prstGeom>
          <a:solidFill>
            <a:srgbClr val="EEF4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out0-top">
            <a:extLst>
              <a:ext uri="{FF2B5EF4-FFF2-40B4-BE49-F238E27FC236}">
                <a16:creationId xmlns:a16="http://schemas.microsoft.com/office/drawing/2014/main" id="{4AA66A48-4677-6D55-42F6-B80FA8D530E8}"/>
              </a:ext>
            </a:extLst>
          </p:cNvPr>
          <p:cNvSpPr/>
          <p:nvPr/>
        </p:nvSpPr>
        <p:spPr>
          <a:xfrm>
            <a:off x="8295640" y="3370580"/>
            <a:ext cx="1102360" cy="3048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out0-t">
            <a:extLst>
              <a:ext uri="{FF2B5EF4-FFF2-40B4-BE49-F238E27FC236}">
                <a16:creationId xmlns:a16="http://schemas.microsoft.com/office/drawing/2014/main" id="{19FF64BE-BC96-7D13-A9BD-5C6DDDBC272B}"/>
              </a:ext>
            </a:extLst>
          </p:cNvPr>
          <p:cNvSpPr txBox="1"/>
          <p:nvPr/>
        </p:nvSpPr>
        <p:spPr>
          <a:xfrm>
            <a:off x="8295640" y="3446780"/>
            <a:ext cx="110236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700" b="1">
                <a:solidFill>
                  <a:srgbClr val="176B65"/>
                </a:solidFill>
                <a:latin typeface="Microsoft YaHei" panose="020B0503020204020204" pitchFamily="34" charset="-122"/>
              </a:rPr>
              <a:t>可诊断</a:t>
            </a:r>
          </a:p>
        </p:txBody>
      </p:sp>
      <p:sp>
        <p:nvSpPr>
          <p:cNvPr id="174" name="out0-s">
            <a:extLst>
              <a:ext uri="{FF2B5EF4-FFF2-40B4-BE49-F238E27FC236}">
                <a16:creationId xmlns:a16="http://schemas.microsoft.com/office/drawing/2014/main" id="{B696D827-B77D-40DF-C516-6284F28E48AF}"/>
              </a:ext>
            </a:extLst>
          </p:cNvPr>
          <p:cNvSpPr txBox="1"/>
          <p:nvPr/>
        </p:nvSpPr>
        <p:spPr>
          <a:xfrm>
            <a:off x="8295640" y="3624580"/>
            <a:ext cx="110236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0747E"/>
                </a:solidFill>
                <a:latin typeface="Microsoft YaHei" panose="020B0503020204020204" pitchFamily="34" charset="-122"/>
              </a:rPr>
              <a:t>识别能力当前达成情况与年度目标差距。</a:t>
            </a:r>
          </a:p>
        </p:txBody>
      </p:sp>
      <p:sp>
        <p:nvSpPr>
          <p:cNvPr id="175" name="out1">
            <a:extLst>
              <a:ext uri="{FF2B5EF4-FFF2-40B4-BE49-F238E27FC236}">
                <a16:creationId xmlns:a16="http://schemas.microsoft.com/office/drawing/2014/main" id="{94C8774C-0ED5-4976-CAFD-33170EFD3FD5}"/>
              </a:ext>
            </a:extLst>
          </p:cNvPr>
          <p:cNvSpPr/>
          <p:nvPr/>
        </p:nvSpPr>
        <p:spPr>
          <a:xfrm>
            <a:off x="9448800" y="3370580"/>
            <a:ext cx="1102360" cy="708660"/>
          </a:xfrm>
          <a:prstGeom prst="rect">
            <a:avLst/>
          </a:prstGeom>
          <a:solidFill>
            <a:srgbClr val="EEF4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out1-top">
            <a:extLst>
              <a:ext uri="{FF2B5EF4-FFF2-40B4-BE49-F238E27FC236}">
                <a16:creationId xmlns:a16="http://schemas.microsoft.com/office/drawing/2014/main" id="{7A6B3B06-E516-4C93-402E-1062BD8FD077}"/>
              </a:ext>
            </a:extLst>
          </p:cNvPr>
          <p:cNvSpPr/>
          <p:nvPr/>
        </p:nvSpPr>
        <p:spPr>
          <a:xfrm>
            <a:off x="9448800" y="3370580"/>
            <a:ext cx="1102360" cy="3048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out1-t">
            <a:extLst>
              <a:ext uri="{FF2B5EF4-FFF2-40B4-BE49-F238E27FC236}">
                <a16:creationId xmlns:a16="http://schemas.microsoft.com/office/drawing/2014/main" id="{DFA6D136-CA01-B39F-EE28-2428C69BA3FC}"/>
              </a:ext>
            </a:extLst>
          </p:cNvPr>
          <p:cNvSpPr txBox="1"/>
          <p:nvPr/>
        </p:nvSpPr>
        <p:spPr>
          <a:xfrm>
            <a:off x="9448800" y="3446780"/>
            <a:ext cx="110236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700" b="1">
                <a:solidFill>
                  <a:srgbClr val="176B65"/>
                </a:solidFill>
                <a:latin typeface="Microsoft YaHei" panose="020B0503020204020204" pitchFamily="34" charset="-122"/>
              </a:rPr>
              <a:t>可对比</a:t>
            </a:r>
          </a:p>
        </p:txBody>
      </p:sp>
      <p:sp>
        <p:nvSpPr>
          <p:cNvPr id="178" name="out1-s">
            <a:extLst>
              <a:ext uri="{FF2B5EF4-FFF2-40B4-BE49-F238E27FC236}">
                <a16:creationId xmlns:a16="http://schemas.microsoft.com/office/drawing/2014/main" id="{1D1F2469-A2E6-D569-8258-078654E37F6B}"/>
              </a:ext>
            </a:extLst>
          </p:cNvPr>
          <p:cNvSpPr txBox="1"/>
          <p:nvPr/>
        </p:nvSpPr>
        <p:spPr>
          <a:xfrm>
            <a:off x="9448800" y="3624580"/>
            <a:ext cx="110236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0747E"/>
                </a:solidFill>
                <a:latin typeface="Microsoft YaHei" panose="020B0503020204020204" pitchFamily="34" charset="-122"/>
              </a:rPr>
              <a:t>比较不同科组、部门、业务的能力得分差距。</a:t>
            </a:r>
          </a:p>
        </p:txBody>
      </p:sp>
      <p:sp>
        <p:nvSpPr>
          <p:cNvPr id="179" name="out2">
            <a:extLst>
              <a:ext uri="{FF2B5EF4-FFF2-40B4-BE49-F238E27FC236}">
                <a16:creationId xmlns:a16="http://schemas.microsoft.com/office/drawing/2014/main" id="{F3B5F77C-61BD-C693-EC8A-C30AC2FB6E1C}"/>
              </a:ext>
            </a:extLst>
          </p:cNvPr>
          <p:cNvSpPr/>
          <p:nvPr/>
        </p:nvSpPr>
        <p:spPr>
          <a:xfrm>
            <a:off x="10601960" y="3370580"/>
            <a:ext cx="1102360" cy="708660"/>
          </a:xfrm>
          <a:prstGeom prst="rect">
            <a:avLst/>
          </a:prstGeom>
          <a:solidFill>
            <a:srgbClr val="EEF4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out2-top">
            <a:extLst>
              <a:ext uri="{FF2B5EF4-FFF2-40B4-BE49-F238E27FC236}">
                <a16:creationId xmlns:a16="http://schemas.microsoft.com/office/drawing/2014/main" id="{7CB1B2B8-C360-E8FC-1D02-355DEFE7766A}"/>
              </a:ext>
            </a:extLst>
          </p:cNvPr>
          <p:cNvSpPr/>
          <p:nvPr/>
        </p:nvSpPr>
        <p:spPr>
          <a:xfrm>
            <a:off x="10601960" y="3370580"/>
            <a:ext cx="1102360" cy="3048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out2-t">
            <a:extLst>
              <a:ext uri="{FF2B5EF4-FFF2-40B4-BE49-F238E27FC236}">
                <a16:creationId xmlns:a16="http://schemas.microsoft.com/office/drawing/2014/main" id="{7758DEA0-4EF3-D545-A763-71A6B5D70AB6}"/>
              </a:ext>
            </a:extLst>
          </p:cNvPr>
          <p:cNvSpPr txBox="1"/>
          <p:nvPr/>
        </p:nvSpPr>
        <p:spPr>
          <a:xfrm>
            <a:off x="10601960" y="3446780"/>
            <a:ext cx="110236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700" b="1">
                <a:solidFill>
                  <a:srgbClr val="176B65"/>
                </a:solidFill>
                <a:latin typeface="Microsoft YaHei" panose="020B0503020204020204" pitchFamily="34" charset="-122"/>
              </a:rPr>
              <a:t>可引导</a:t>
            </a:r>
          </a:p>
        </p:txBody>
      </p:sp>
      <p:sp>
        <p:nvSpPr>
          <p:cNvPr id="182" name="out2-s">
            <a:extLst>
              <a:ext uri="{FF2B5EF4-FFF2-40B4-BE49-F238E27FC236}">
                <a16:creationId xmlns:a16="http://schemas.microsoft.com/office/drawing/2014/main" id="{AC3DC064-F1E2-AE88-E7F2-AD46435FBC3E}"/>
              </a:ext>
            </a:extLst>
          </p:cNvPr>
          <p:cNvSpPr txBox="1"/>
          <p:nvPr/>
        </p:nvSpPr>
        <p:spPr>
          <a:xfrm>
            <a:off x="10601960" y="3624580"/>
            <a:ext cx="110236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0747E"/>
                </a:solidFill>
                <a:latin typeface="Microsoft YaHei" panose="020B0503020204020204" pitchFamily="34" charset="-122"/>
              </a:rPr>
              <a:t>按目标差距与对比结果形成分层改进建议。</a:t>
            </a:r>
          </a:p>
        </p:txBody>
      </p:sp>
      <p:sp>
        <p:nvSpPr>
          <p:cNvPr id="183" name="ex-bg">
            <a:extLst>
              <a:ext uri="{FF2B5EF4-FFF2-40B4-BE49-F238E27FC236}">
                <a16:creationId xmlns:a16="http://schemas.microsoft.com/office/drawing/2014/main" id="{969F35CD-9FFF-F779-F97E-0679207F54B1}"/>
              </a:ext>
            </a:extLst>
          </p:cNvPr>
          <p:cNvSpPr/>
          <p:nvPr/>
        </p:nvSpPr>
        <p:spPr>
          <a:xfrm>
            <a:off x="472440" y="4343400"/>
            <a:ext cx="11308080" cy="225552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ex-top">
            <a:extLst>
              <a:ext uri="{FF2B5EF4-FFF2-40B4-BE49-F238E27FC236}">
                <a16:creationId xmlns:a16="http://schemas.microsoft.com/office/drawing/2014/main" id="{74062370-75C7-734B-B455-62F8DFFC8FD1}"/>
              </a:ext>
            </a:extLst>
          </p:cNvPr>
          <p:cNvSpPr/>
          <p:nvPr/>
        </p:nvSpPr>
        <p:spPr>
          <a:xfrm>
            <a:off x="472440" y="4343400"/>
            <a:ext cx="11308080" cy="254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ex-head">
            <a:extLst>
              <a:ext uri="{FF2B5EF4-FFF2-40B4-BE49-F238E27FC236}">
                <a16:creationId xmlns:a16="http://schemas.microsoft.com/office/drawing/2014/main" id="{CE895815-1EBB-6764-598C-0781B4EE72D2}"/>
              </a:ext>
            </a:extLst>
          </p:cNvPr>
          <p:cNvSpPr txBox="1"/>
          <p:nvPr/>
        </p:nvSpPr>
        <p:spPr>
          <a:xfrm>
            <a:off x="548640" y="4376742"/>
            <a:ext cx="11155680" cy="194925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1100" b="1">
                <a:solidFill>
                  <a:srgbClr val="173650"/>
                </a:solidFill>
                <a:latin typeface="Microsoft YaHei" panose="020B0503020204020204" pitchFamily="34" charset="-122"/>
              </a:rPr>
              <a:t>测试能力成熟度管理示例</a:t>
            </a:r>
          </a:p>
        </p:txBody>
      </p:sp>
      <p:cxnSp>
        <p:nvCxnSpPr>
          <p:cNvPr id="186" name="ex-div">
            <a:extLst>
              <a:ext uri="{FF2B5EF4-FFF2-40B4-BE49-F238E27FC236}">
                <a16:creationId xmlns:a16="http://schemas.microsoft.com/office/drawing/2014/main" id="{861FBB02-C45E-71A3-1DF5-5EA5A5A430F8}"/>
              </a:ext>
            </a:extLst>
          </p:cNvPr>
          <p:cNvCxnSpPr/>
          <p:nvPr/>
        </p:nvCxnSpPr>
        <p:spPr>
          <a:xfrm>
            <a:off x="472440" y="4610100"/>
            <a:ext cx="11308080" cy="0"/>
          </a:xfrm>
          <a:prstGeom prst="line">
            <a:avLst/>
          </a:prstGeom>
          <a:ln w="7620">
            <a:solidFill>
              <a:srgbClr val="D7D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panel0">
            <a:extLst>
              <a:ext uri="{FF2B5EF4-FFF2-40B4-BE49-F238E27FC236}">
                <a16:creationId xmlns:a16="http://schemas.microsoft.com/office/drawing/2014/main" id="{CB116386-C24D-2C83-EFD1-8657C7D13C53}"/>
              </a:ext>
            </a:extLst>
          </p:cNvPr>
          <p:cNvSpPr/>
          <p:nvPr/>
        </p:nvSpPr>
        <p:spPr>
          <a:xfrm>
            <a:off x="535940" y="4673600"/>
            <a:ext cx="2857500" cy="1861820"/>
          </a:xfrm>
          <a:prstGeom prst="rect">
            <a:avLst/>
          </a:prstGeom>
          <a:solidFill>
            <a:srgbClr val="F5F7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panel0-top">
            <a:extLst>
              <a:ext uri="{FF2B5EF4-FFF2-40B4-BE49-F238E27FC236}">
                <a16:creationId xmlns:a16="http://schemas.microsoft.com/office/drawing/2014/main" id="{8229829D-6021-A691-4E90-A8115672405D}"/>
              </a:ext>
            </a:extLst>
          </p:cNvPr>
          <p:cNvSpPr/>
          <p:nvPr/>
        </p:nvSpPr>
        <p:spPr>
          <a:xfrm>
            <a:off x="535940" y="4673600"/>
            <a:ext cx="2857500" cy="254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panel0-h">
            <a:extLst>
              <a:ext uri="{FF2B5EF4-FFF2-40B4-BE49-F238E27FC236}">
                <a16:creationId xmlns:a16="http://schemas.microsoft.com/office/drawing/2014/main" id="{AF4C4D8A-3F50-D1D5-3CD9-77372679AE97}"/>
              </a:ext>
            </a:extLst>
          </p:cNvPr>
          <p:cNvSpPr txBox="1"/>
          <p:nvPr/>
        </p:nvSpPr>
        <p:spPr>
          <a:xfrm>
            <a:off x="586740" y="4711700"/>
            <a:ext cx="27559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科组视角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运控测试组</a:t>
            </a:r>
          </a:p>
        </p:txBody>
      </p:sp>
      <p:sp>
        <p:nvSpPr>
          <p:cNvPr id="190" name="panel0-s">
            <a:extLst>
              <a:ext uri="{FF2B5EF4-FFF2-40B4-BE49-F238E27FC236}">
                <a16:creationId xmlns:a16="http://schemas.microsoft.com/office/drawing/2014/main" id="{82C2B4DF-1184-3098-5AC5-2833DEA3D0F6}"/>
              </a:ext>
            </a:extLst>
          </p:cNvPr>
          <p:cNvSpPr txBox="1"/>
          <p:nvPr/>
        </p:nvSpPr>
        <p:spPr>
          <a:xfrm>
            <a:off x="586740" y="4851400"/>
            <a:ext cx="27559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各维度目标 </a:t>
            </a:r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91" name="panel1">
            <a:extLst>
              <a:ext uri="{FF2B5EF4-FFF2-40B4-BE49-F238E27FC236}">
                <a16:creationId xmlns:a16="http://schemas.microsoft.com/office/drawing/2014/main" id="{2EC47B8D-CDA0-98AC-CD33-1B89CAA961B1}"/>
              </a:ext>
            </a:extLst>
          </p:cNvPr>
          <p:cNvSpPr/>
          <p:nvPr/>
        </p:nvSpPr>
        <p:spPr>
          <a:xfrm>
            <a:off x="3454400" y="4673600"/>
            <a:ext cx="2628900" cy="1861820"/>
          </a:xfrm>
          <a:prstGeom prst="rect">
            <a:avLst/>
          </a:prstGeom>
          <a:solidFill>
            <a:srgbClr val="F5F7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panel1-top">
            <a:extLst>
              <a:ext uri="{FF2B5EF4-FFF2-40B4-BE49-F238E27FC236}">
                <a16:creationId xmlns:a16="http://schemas.microsoft.com/office/drawing/2014/main" id="{F7369343-C0A0-5A6B-C823-21C80280F489}"/>
              </a:ext>
            </a:extLst>
          </p:cNvPr>
          <p:cNvSpPr/>
          <p:nvPr/>
        </p:nvSpPr>
        <p:spPr>
          <a:xfrm>
            <a:off x="3454400" y="4673600"/>
            <a:ext cx="2628900" cy="25400"/>
          </a:xfrm>
          <a:prstGeom prst="rect">
            <a:avLst/>
          </a:prstGeom>
          <a:solidFill>
            <a:srgbClr val="8398A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panel1-h">
            <a:extLst>
              <a:ext uri="{FF2B5EF4-FFF2-40B4-BE49-F238E27FC236}">
                <a16:creationId xmlns:a16="http://schemas.microsoft.com/office/drawing/2014/main" id="{16A7CF2F-8DC5-4CB2-10E1-EF06F23DA6F7}"/>
              </a:ext>
            </a:extLst>
          </p:cNvPr>
          <p:cNvSpPr txBox="1"/>
          <p:nvPr/>
        </p:nvSpPr>
        <p:spPr>
          <a:xfrm>
            <a:off x="3505200" y="4711700"/>
            <a:ext cx="25273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部门视角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驱动测试部</a:t>
            </a:r>
          </a:p>
        </p:txBody>
      </p:sp>
      <p:sp>
        <p:nvSpPr>
          <p:cNvPr id="194" name="panel1-s">
            <a:extLst>
              <a:ext uri="{FF2B5EF4-FFF2-40B4-BE49-F238E27FC236}">
                <a16:creationId xmlns:a16="http://schemas.microsoft.com/office/drawing/2014/main" id="{3E056AEB-C063-D291-0D6E-03BD61DAE0C0}"/>
              </a:ext>
            </a:extLst>
          </p:cNvPr>
          <p:cNvSpPr txBox="1"/>
          <p:nvPr/>
        </p:nvSpPr>
        <p:spPr>
          <a:xfrm>
            <a:off x="3505200" y="4851400"/>
            <a:ext cx="2527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同部门科组对比</a:t>
            </a:r>
          </a:p>
        </p:txBody>
      </p:sp>
      <p:sp>
        <p:nvSpPr>
          <p:cNvPr id="195" name="panel2">
            <a:extLst>
              <a:ext uri="{FF2B5EF4-FFF2-40B4-BE49-F238E27FC236}">
                <a16:creationId xmlns:a16="http://schemas.microsoft.com/office/drawing/2014/main" id="{BCE05F28-02D1-1ACC-6403-B86E0CC52428}"/>
              </a:ext>
            </a:extLst>
          </p:cNvPr>
          <p:cNvSpPr/>
          <p:nvPr/>
        </p:nvSpPr>
        <p:spPr>
          <a:xfrm>
            <a:off x="6144260" y="4673600"/>
            <a:ext cx="2781300" cy="1861820"/>
          </a:xfrm>
          <a:prstGeom prst="rect">
            <a:avLst/>
          </a:prstGeom>
          <a:solidFill>
            <a:srgbClr val="F5F7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panel2-top">
            <a:extLst>
              <a:ext uri="{FF2B5EF4-FFF2-40B4-BE49-F238E27FC236}">
                <a16:creationId xmlns:a16="http://schemas.microsoft.com/office/drawing/2014/main" id="{2FFD71A9-85C4-9955-2E4C-C909C1C9B678}"/>
              </a:ext>
            </a:extLst>
          </p:cNvPr>
          <p:cNvSpPr/>
          <p:nvPr/>
        </p:nvSpPr>
        <p:spPr>
          <a:xfrm>
            <a:off x="6144260" y="4673600"/>
            <a:ext cx="2781300" cy="2540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panel2-h">
            <a:extLst>
              <a:ext uri="{FF2B5EF4-FFF2-40B4-BE49-F238E27FC236}">
                <a16:creationId xmlns:a16="http://schemas.microsoft.com/office/drawing/2014/main" id="{59A67ECE-4CD6-4108-A6BB-CAB32E2BD107}"/>
              </a:ext>
            </a:extLst>
          </p:cNvPr>
          <p:cNvSpPr txBox="1"/>
          <p:nvPr/>
        </p:nvSpPr>
        <p:spPr>
          <a:xfrm>
            <a:off x="6195060" y="4711700"/>
            <a:ext cx="26797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业务视角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伺服产品业务</a:t>
            </a:r>
          </a:p>
        </p:txBody>
      </p:sp>
      <p:sp>
        <p:nvSpPr>
          <p:cNvPr id="198" name="panel2-s">
            <a:extLst>
              <a:ext uri="{FF2B5EF4-FFF2-40B4-BE49-F238E27FC236}">
                <a16:creationId xmlns:a16="http://schemas.microsoft.com/office/drawing/2014/main" id="{73626E4D-6FF5-C9DC-66B4-9097D4203F17}"/>
              </a:ext>
            </a:extLst>
          </p:cNvPr>
          <p:cNvSpPr txBox="1"/>
          <p:nvPr/>
        </p:nvSpPr>
        <p:spPr>
          <a:xfrm>
            <a:off x="6195060" y="4851400"/>
            <a:ext cx="26797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六领域对比</a:t>
            </a:r>
          </a:p>
        </p:txBody>
      </p:sp>
      <p:sp>
        <p:nvSpPr>
          <p:cNvPr id="199" name="panel3">
            <a:extLst>
              <a:ext uri="{FF2B5EF4-FFF2-40B4-BE49-F238E27FC236}">
                <a16:creationId xmlns:a16="http://schemas.microsoft.com/office/drawing/2014/main" id="{69EE09A5-7187-4E4F-50F3-A8B56F4D2C13}"/>
              </a:ext>
            </a:extLst>
          </p:cNvPr>
          <p:cNvSpPr/>
          <p:nvPr/>
        </p:nvSpPr>
        <p:spPr>
          <a:xfrm>
            <a:off x="8986520" y="4673600"/>
            <a:ext cx="2730500" cy="1861820"/>
          </a:xfrm>
          <a:prstGeom prst="rect">
            <a:avLst/>
          </a:prstGeom>
          <a:solidFill>
            <a:srgbClr val="F5F7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panel3-top">
            <a:extLst>
              <a:ext uri="{FF2B5EF4-FFF2-40B4-BE49-F238E27FC236}">
                <a16:creationId xmlns:a16="http://schemas.microsoft.com/office/drawing/2014/main" id="{F5FC0D68-55F2-C5A5-DC9A-06218F2B1155}"/>
              </a:ext>
            </a:extLst>
          </p:cNvPr>
          <p:cNvSpPr/>
          <p:nvPr/>
        </p:nvSpPr>
        <p:spPr>
          <a:xfrm>
            <a:off x="8986520" y="4673600"/>
            <a:ext cx="2730500" cy="254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panel3-h">
            <a:extLst>
              <a:ext uri="{FF2B5EF4-FFF2-40B4-BE49-F238E27FC236}">
                <a16:creationId xmlns:a16="http://schemas.microsoft.com/office/drawing/2014/main" id="{1C616FBD-4D91-8563-02EC-D673077EFFAF}"/>
              </a:ext>
            </a:extLst>
          </p:cNvPr>
          <p:cNvSpPr txBox="1"/>
          <p:nvPr/>
        </p:nvSpPr>
        <p:spPr>
          <a:xfrm>
            <a:off x="9037320" y="4711700"/>
            <a:ext cx="26289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改进建议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预计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12 </a:t>
            </a:r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月达到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3.0+</a:t>
            </a:r>
            <a:endParaRPr lang="zh-CN" altLang="en-US" sz="800" b="1">
              <a:solidFill>
                <a:srgbClr val="29485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2" name="radar-outer">
            <a:extLst>
              <a:ext uri="{FF2B5EF4-FFF2-40B4-BE49-F238E27FC236}">
                <a16:creationId xmlns:a16="http://schemas.microsoft.com/office/drawing/2014/main" id="{09A75BCC-92A0-B294-78AE-8FEEB2D82D04}"/>
              </a:ext>
            </a:extLst>
          </p:cNvPr>
          <p:cNvSpPr/>
          <p:nvPr/>
        </p:nvSpPr>
        <p:spPr>
          <a:xfrm>
            <a:off x="762000" y="5110480"/>
            <a:ext cx="1135381" cy="1089661"/>
          </a:xfrm>
          <a:custGeom>
            <a:avLst/>
            <a:gdLst/>
            <a:ahLst/>
            <a:cxnLst/>
            <a:rect l="0" t="0" r="0" b="0"/>
            <a:pathLst>
              <a:path w="1135381" h="1089661">
                <a:moveTo>
                  <a:pt x="563880" y="0"/>
                </a:moveTo>
                <a:lnTo>
                  <a:pt x="1135380" y="411480"/>
                </a:lnTo>
                <a:lnTo>
                  <a:pt x="914400" y="1089660"/>
                </a:lnTo>
                <a:lnTo>
                  <a:pt x="213360" y="1089660"/>
                </a:lnTo>
                <a:lnTo>
                  <a:pt x="0" y="411480"/>
                </a:lnTo>
                <a:close/>
              </a:path>
            </a:pathLst>
          </a:custGeom>
          <a:noFill/>
          <a:ln w="9525" cap="flat" cmpd="sng" algn="ctr">
            <a:solidFill>
              <a:srgbClr val="D2DCD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radar-inner">
            <a:extLst>
              <a:ext uri="{FF2B5EF4-FFF2-40B4-BE49-F238E27FC236}">
                <a16:creationId xmlns:a16="http://schemas.microsoft.com/office/drawing/2014/main" id="{2D5231B4-69BE-B267-24B0-3CC58BB4A753}"/>
              </a:ext>
            </a:extLst>
          </p:cNvPr>
          <p:cNvSpPr/>
          <p:nvPr/>
        </p:nvSpPr>
        <p:spPr>
          <a:xfrm>
            <a:off x="1082040" y="5415280"/>
            <a:ext cx="480061" cy="457201"/>
          </a:xfrm>
          <a:custGeom>
            <a:avLst/>
            <a:gdLst/>
            <a:ahLst/>
            <a:cxnLst/>
            <a:rect l="0" t="0" r="0" b="0"/>
            <a:pathLst>
              <a:path w="480061" h="457201">
                <a:moveTo>
                  <a:pt x="243840" y="0"/>
                </a:moveTo>
                <a:lnTo>
                  <a:pt x="480060" y="167640"/>
                </a:lnTo>
                <a:lnTo>
                  <a:pt x="396240" y="457200"/>
                </a:lnTo>
                <a:lnTo>
                  <a:pt x="91440" y="457200"/>
                </a:lnTo>
                <a:lnTo>
                  <a:pt x="0" y="167640"/>
                </a:lnTo>
                <a:close/>
              </a:path>
            </a:pathLst>
          </a:custGeom>
          <a:noFill/>
          <a:ln w="9525" cap="flat" cmpd="sng" algn="ctr">
            <a:solidFill>
              <a:srgbClr val="DCE4E6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radar-gold">
            <a:extLst>
              <a:ext uri="{FF2B5EF4-FFF2-40B4-BE49-F238E27FC236}">
                <a16:creationId xmlns:a16="http://schemas.microsoft.com/office/drawing/2014/main" id="{9D8683D8-8663-D4D4-D0F9-98CB83DA3BFA}"/>
              </a:ext>
            </a:extLst>
          </p:cNvPr>
          <p:cNvSpPr/>
          <p:nvPr/>
        </p:nvSpPr>
        <p:spPr>
          <a:xfrm>
            <a:off x="922020" y="5262880"/>
            <a:ext cx="807721" cy="777241"/>
          </a:xfrm>
          <a:custGeom>
            <a:avLst/>
            <a:gdLst/>
            <a:ahLst/>
            <a:cxnLst/>
            <a:rect l="0" t="0" r="0" b="0"/>
            <a:pathLst>
              <a:path w="807721" h="777241">
                <a:moveTo>
                  <a:pt x="403860" y="0"/>
                </a:moveTo>
                <a:lnTo>
                  <a:pt x="807720" y="289560"/>
                </a:lnTo>
                <a:lnTo>
                  <a:pt x="655320" y="777240"/>
                </a:lnTo>
                <a:lnTo>
                  <a:pt x="152400" y="777240"/>
                </a:lnTo>
                <a:lnTo>
                  <a:pt x="0" y="289560"/>
                </a:lnTo>
                <a:close/>
              </a:path>
            </a:pathLst>
          </a:custGeom>
          <a:noFill/>
          <a:ln w="15240" cap="flat" cmpd="sng" algn="ctr">
            <a:solidFill>
              <a:srgbClr val="B49A69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5" name="radar-spk0">
            <a:extLst>
              <a:ext uri="{FF2B5EF4-FFF2-40B4-BE49-F238E27FC236}">
                <a16:creationId xmlns:a16="http://schemas.microsoft.com/office/drawing/2014/main" id="{8BA9C06D-581A-A5DE-11B3-26FF41B0056F}"/>
              </a:ext>
            </a:extLst>
          </p:cNvPr>
          <p:cNvCxnSpPr/>
          <p:nvPr/>
        </p:nvCxnSpPr>
        <p:spPr>
          <a:xfrm flipV="1">
            <a:off x="1325880" y="5110480"/>
            <a:ext cx="0" cy="586740"/>
          </a:xfrm>
          <a:prstGeom prst="line">
            <a:avLst/>
          </a:prstGeom>
          <a:ln w="8890">
            <a:solidFill>
              <a:srgbClr val="D2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radar-spk1">
            <a:extLst>
              <a:ext uri="{FF2B5EF4-FFF2-40B4-BE49-F238E27FC236}">
                <a16:creationId xmlns:a16="http://schemas.microsoft.com/office/drawing/2014/main" id="{385D5E8C-BF00-D9BD-E657-E7F3BC7BCE08}"/>
              </a:ext>
            </a:extLst>
          </p:cNvPr>
          <p:cNvCxnSpPr/>
          <p:nvPr/>
        </p:nvCxnSpPr>
        <p:spPr>
          <a:xfrm flipV="1">
            <a:off x="1325880" y="5521960"/>
            <a:ext cx="571500" cy="175260"/>
          </a:xfrm>
          <a:prstGeom prst="line">
            <a:avLst/>
          </a:prstGeom>
          <a:ln w="8890">
            <a:solidFill>
              <a:srgbClr val="D2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radar-spk2">
            <a:extLst>
              <a:ext uri="{FF2B5EF4-FFF2-40B4-BE49-F238E27FC236}">
                <a16:creationId xmlns:a16="http://schemas.microsoft.com/office/drawing/2014/main" id="{22D8AD2E-E6AD-69BB-13BE-FC3CBA7F8585}"/>
              </a:ext>
            </a:extLst>
          </p:cNvPr>
          <p:cNvCxnSpPr/>
          <p:nvPr/>
        </p:nvCxnSpPr>
        <p:spPr>
          <a:xfrm>
            <a:off x="1325880" y="5697220"/>
            <a:ext cx="350520" cy="502920"/>
          </a:xfrm>
          <a:prstGeom prst="line">
            <a:avLst/>
          </a:prstGeom>
          <a:ln w="8890">
            <a:solidFill>
              <a:srgbClr val="D2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radar-spk3">
            <a:extLst>
              <a:ext uri="{FF2B5EF4-FFF2-40B4-BE49-F238E27FC236}">
                <a16:creationId xmlns:a16="http://schemas.microsoft.com/office/drawing/2014/main" id="{D04C062E-9DF8-93F6-7A0E-53B8826CE717}"/>
              </a:ext>
            </a:extLst>
          </p:cNvPr>
          <p:cNvCxnSpPr/>
          <p:nvPr/>
        </p:nvCxnSpPr>
        <p:spPr>
          <a:xfrm flipH="1">
            <a:off x="975360" y="5697220"/>
            <a:ext cx="350520" cy="502920"/>
          </a:xfrm>
          <a:prstGeom prst="line">
            <a:avLst/>
          </a:prstGeom>
          <a:ln w="8890">
            <a:solidFill>
              <a:srgbClr val="D2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radar-spk4">
            <a:extLst>
              <a:ext uri="{FF2B5EF4-FFF2-40B4-BE49-F238E27FC236}">
                <a16:creationId xmlns:a16="http://schemas.microsoft.com/office/drawing/2014/main" id="{623995BD-93AA-C9A9-8423-591A12A0ECDC}"/>
              </a:ext>
            </a:extLst>
          </p:cNvPr>
          <p:cNvCxnSpPr/>
          <p:nvPr/>
        </p:nvCxnSpPr>
        <p:spPr>
          <a:xfrm flipH="1" flipV="1">
            <a:off x="762000" y="5521960"/>
            <a:ext cx="563880" cy="175260"/>
          </a:xfrm>
          <a:prstGeom prst="line">
            <a:avLst/>
          </a:prstGeom>
          <a:ln w="8890">
            <a:solidFill>
              <a:srgbClr val="D2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radar-data">
            <a:extLst>
              <a:ext uri="{FF2B5EF4-FFF2-40B4-BE49-F238E27FC236}">
                <a16:creationId xmlns:a16="http://schemas.microsoft.com/office/drawing/2014/main" id="{EFBCF7D2-B8F7-5450-9625-F035B3FB7274}"/>
              </a:ext>
            </a:extLst>
          </p:cNvPr>
          <p:cNvSpPr/>
          <p:nvPr/>
        </p:nvSpPr>
        <p:spPr>
          <a:xfrm>
            <a:off x="891540" y="5209540"/>
            <a:ext cx="784861" cy="883921"/>
          </a:xfrm>
          <a:custGeom>
            <a:avLst/>
            <a:gdLst/>
            <a:ahLst/>
            <a:cxnLst/>
            <a:rect l="0" t="0" r="0" b="0"/>
            <a:pathLst>
              <a:path w="784861" h="883921">
                <a:moveTo>
                  <a:pt x="434340" y="0"/>
                </a:moveTo>
                <a:lnTo>
                  <a:pt x="784860" y="365760"/>
                </a:lnTo>
                <a:lnTo>
                  <a:pt x="716280" y="883920"/>
                </a:lnTo>
                <a:lnTo>
                  <a:pt x="220980" y="800100"/>
                </a:lnTo>
                <a:lnTo>
                  <a:pt x="0" y="365760"/>
                </a:lnTo>
                <a:close/>
              </a:path>
            </a:pathLst>
          </a:custGeom>
          <a:solidFill>
            <a:srgbClr val="6F9D96">
              <a:alpha val="22000"/>
            </a:srgbClr>
          </a:solidFill>
          <a:ln w="19050">
            <a:solidFill>
              <a:srgbClr val="1683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radar-pt0">
            <a:extLst>
              <a:ext uri="{FF2B5EF4-FFF2-40B4-BE49-F238E27FC236}">
                <a16:creationId xmlns:a16="http://schemas.microsoft.com/office/drawing/2014/main" id="{55C9EC22-1614-4C73-CC29-9CA7C95A5697}"/>
              </a:ext>
            </a:extLst>
          </p:cNvPr>
          <p:cNvSpPr/>
          <p:nvPr/>
        </p:nvSpPr>
        <p:spPr>
          <a:xfrm>
            <a:off x="1303020" y="5186680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radar-pt1">
            <a:extLst>
              <a:ext uri="{FF2B5EF4-FFF2-40B4-BE49-F238E27FC236}">
                <a16:creationId xmlns:a16="http://schemas.microsoft.com/office/drawing/2014/main" id="{FB948FDA-721C-D469-00B6-5398A11FB09C}"/>
              </a:ext>
            </a:extLst>
          </p:cNvPr>
          <p:cNvSpPr/>
          <p:nvPr/>
        </p:nvSpPr>
        <p:spPr>
          <a:xfrm>
            <a:off x="1653540" y="5552440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radar-pt2">
            <a:extLst>
              <a:ext uri="{FF2B5EF4-FFF2-40B4-BE49-F238E27FC236}">
                <a16:creationId xmlns:a16="http://schemas.microsoft.com/office/drawing/2014/main" id="{ACEE322E-1392-6B53-F5C9-E01958BDE4BB}"/>
              </a:ext>
            </a:extLst>
          </p:cNvPr>
          <p:cNvSpPr/>
          <p:nvPr/>
        </p:nvSpPr>
        <p:spPr>
          <a:xfrm>
            <a:off x="1584960" y="6070600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radar-pt3">
            <a:extLst>
              <a:ext uri="{FF2B5EF4-FFF2-40B4-BE49-F238E27FC236}">
                <a16:creationId xmlns:a16="http://schemas.microsoft.com/office/drawing/2014/main" id="{875AB5A0-0B0C-9A38-8A95-0DFB56398654}"/>
              </a:ext>
            </a:extLst>
          </p:cNvPr>
          <p:cNvSpPr/>
          <p:nvPr/>
        </p:nvSpPr>
        <p:spPr>
          <a:xfrm>
            <a:off x="1089660" y="5986780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radar-pt4">
            <a:extLst>
              <a:ext uri="{FF2B5EF4-FFF2-40B4-BE49-F238E27FC236}">
                <a16:creationId xmlns:a16="http://schemas.microsoft.com/office/drawing/2014/main" id="{7CEC2776-3E26-E8EA-E90E-04251DA951E9}"/>
              </a:ext>
            </a:extLst>
          </p:cNvPr>
          <p:cNvSpPr/>
          <p:nvPr/>
        </p:nvSpPr>
        <p:spPr>
          <a:xfrm>
            <a:off x="868680" y="5552440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radar-l1">
            <a:extLst>
              <a:ext uri="{FF2B5EF4-FFF2-40B4-BE49-F238E27FC236}">
                <a16:creationId xmlns:a16="http://schemas.microsoft.com/office/drawing/2014/main" id="{64C83EC9-B42F-13C9-1580-A9F8E26BE604}"/>
              </a:ext>
            </a:extLst>
          </p:cNvPr>
          <p:cNvSpPr txBox="1"/>
          <p:nvPr/>
        </p:nvSpPr>
        <p:spPr>
          <a:xfrm>
            <a:off x="1094740" y="4978400"/>
            <a:ext cx="635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526873"/>
                </a:solidFill>
                <a:latin typeface="Microsoft YaHei" panose="020B0503020204020204" pitchFamily="34" charset="-122"/>
              </a:rPr>
              <a:t>测试设计 </a:t>
            </a:r>
            <a:r>
              <a:rPr lang="en-US" altLang="zh-CN" sz="600">
                <a:solidFill>
                  <a:srgbClr val="526873"/>
                </a:solidFill>
                <a:latin typeface="Microsoft YaHei" panose="020B0503020204020204" pitchFamily="34" charset="-122"/>
              </a:rPr>
              <a:t>3.2</a:t>
            </a:r>
            <a:endParaRPr lang="zh-CN" altLang="en-US" sz="600">
              <a:solidFill>
                <a:srgbClr val="52687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17" name="radar-l2">
            <a:extLst>
              <a:ext uri="{FF2B5EF4-FFF2-40B4-BE49-F238E27FC236}">
                <a16:creationId xmlns:a16="http://schemas.microsoft.com/office/drawing/2014/main" id="{BB091000-BE43-E229-6120-F26588689165}"/>
              </a:ext>
            </a:extLst>
          </p:cNvPr>
          <p:cNvSpPr txBox="1"/>
          <p:nvPr/>
        </p:nvSpPr>
        <p:spPr>
          <a:xfrm>
            <a:off x="1793240" y="5448300"/>
            <a:ext cx="508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526873"/>
                </a:solidFill>
                <a:latin typeface="Microsoft YaHei" panose="020B0503020204020204" pitchFamily="34" charset="-122"/>
              </a:rPr>
              <a:t>自动化 </a:t>
            </a:r>
            <a:r>
              <a:rPr lang="en-US" altLang="zh-CN" sz="600">
                <a:solidFill>
                  <a:srgbClr val="526873"/>
                </a:solidFill>
                <a:latin typeface="Microsoft YaHei" panose="020B0503020204020204" pitchFamily="34" charset="-122"/>
              </a:rPr>
              <a:t>2.4</a:t>
            </a:r>
            <a:endParaRPr lang="zh-CN" altLang="en-US" sz="600">
              <a:solidFill>
                <a:srgbClr val="52687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18" name="radar-l3">
            <a:extLst>
              <a:ext uri="{FF2B5EF4-FFF2-40B4-BE49-F238E27FC236}">
                <a16:creationId xmlns:a16="http://schemas.microsoft.com/office/drawing/2014/main" id="{96BBC71D-C822-0244-990C-A4C1620FE31A}"/>
              </a:ext>
            </a:extLst>
          </p:cNvPr>
          <p:cNvSpPr txBox="1"/>
          <p:nvPr/>
        </p:nvSpPr>
        <p:spPr>
          <a:xfrm>
            <a:off x="1475740" y="6273800"/>
            <a:ext cx="635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526873"/>
                </a:solidFill>
                <a:latin typeface="Microsoft YaHei" panose="020B0503020204020204" pitchFamily="34" charset="-122"/>
              </a:rPr>
              <a:t>测试执行 </a:t>
            </a:r>
            <a:r>
              <a:rPr lang="en-US" altLang="zh-CN" sz="600">
                <a:solidFill>
                  <a:srgbClr val="526873"/>
                </a:solidFill>
                <a:latin typeface="Microsoft YaHei" panose="020B0503020204020204" pitchFamily="34" charset="-122"/>
              </a:rPr>
              <a:t>3.1</a:t>
            </a:r>
            <a:endParaRPr lang="zh-CN" altLang="en-US" sz="600">
              <a:solidFill>
                <a:srgbClr val="52687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19" name="radar-l4">
            <a:extLst>
              <a:ext uri="{FF2B5EF4-FFF2-40B4-BE49-F238E27FC236}">
                <a16:creationId xmlns:a16="http://schemas.microsoft.com/office/drawing/2014/main" id="{9299B5F7-A4C9-117B-F52B-DFA31CD7DAC3}"/>
              </a:ext>
            </a:extLst>
          </p:cNvPr>
          <p:cNvSpPr txBox="1"/>
          <p:nvPr/>
        </p:nvSpPr>
        <p:spPr>
          <a:xfrm>
            <a:off x="586740" y="6273800"/>
            <a:ext cx="508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zh-CN" altLang="en-US" sz="600">
                <a:solidFill>
                  <a:srgbClr val="526873"/>
                </a:solidFill>
                <a:latin typeface="Microsoft YaHei" panose="020B0503020204020204" pitchFamily="34" charset="-122"/>
              </a:rPr>
              <a:t>测试方案 </a:t>
            </a:r>
            <a:r>
              <a:rPr lang="en-US" altLang="zh-CN" sz="600">
                <a:solidFill>
                  <a:srgbClr val="526873"/>
                </a:solidFill>
                <a:latin typeface="Microsoft YaHei" panose="020B0503020204020204" pitchFamily="34" charset="-122"/>
              </a:rPr>
              <a:t>2.2</a:t>
            </a:r>
            <a:endParaRPr lang="zh-CN" altLang="en-US" sz="600">
              <a:solidFill>
                <a:srgbClr val="52687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0" name="radar-l5">
            <a:extLst>
              <a:ext uri="{FF2B5EF4-FFF2-40B4-BE49-F238E27FC236}">
                <a16:creationId xmlns:a16="http://schemas.microsoft.com/office/drawing/2014/main" id="{55EA35C6-D368-FE83-2C9F-C9CEF7F0A637}"/>
              </a:ext>
            </a:extLst>
          </p:cNvPr>
          <p:cNvSpPr txBox="1"/>
          <p:nvPr/>
        </p:nvSpPr>
        <p:spPr>
          <a:xfrm>
            <a:off x="561340" y="5448300"/>
            <a:ext cx="38100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zh-CN" altLang="en-US" sz="600">
                <a:solidFill>
                  <a:srgbClr val="526873"/>
                </a:solidFill>
                <a:latin typeface="Microsoft YaHei" panose="020B0503020204020204" pitchFamily="34" charset="-122"/>
              </a:rPr>
              <a:t>测试用例 </a:t>
            </a:r>
            <a:r>
              <a:rPr lang="en-US" altLang="zh-CN" sz="600">
                <a:solidFill>
                  <a:srgbClr val="526873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>
              <a:solidFill>
                <a:srgbClr val="52687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1" name="radar-tgt">
            <a:extLst>
              <a:ext uri="{FF2B5EF4-FFF2-40B4-BE49-F238E27FC236}">
                <a16:creationId xmlns:a16="http://schemas.microsoft.com/office/drawing/2014/main" id="{05FE1072-EBAC-49EA-412D-4EE6A840AD97}"/>
              </a:ext>
            </a:extLst>
          </p:cNvPr>
          <p:cNvSpPr txBox="1"/>
          <p:nvPr/>
        </p:nvSpPr>
        <p:spPr>
          <a:xfrm>
            <a:off x="1323340" y="5283200"/>
            <a:ext cx="457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9B7840"/>
                </a:solidFill>
                <a:latin typeface="Microsoft YaHei" panose="020B0503020204020204" pitchFamily="34" charset="-122"/>
              </a:rPr>
              <a:t>目标 </a:t>
            </a:r>
            <a:r>
              <a:rPr lang="en-US" altLang="zh-CN" sz="600">
                <a:solidFill>
                  <a:srgbClr val="9B7840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>
              <a:solidFill>
                <a:srgbClr val="9B784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2" name="diag0-b">
            <a:extLst>
              <a:ext uri="{FF2B5EF4-FFF2-40B4-BE49-F238E27FC236}">
                <a16:creationId xmlns:a16="http://schemas.microsoft.com/office/drawing/2014/main" id="{A51789F0-D6C1-7086-AEFD-8A1762E13180}"/>
              </a:ext>
            </a:extLst>
          </p:cNvPr>
          <p:cNvSpPr txBox="1"/>
          <p:nvPr/>
        </p:nvSpPr>
        <p:spPr>
          <a:xfrm>
            <a:off x="2098040" y="503714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达成</a:t>
            </a:r>
          </a:p>
        </p:txBody>
      </p:sp>
      <p:sp>
        <p:nvSpPr>
          <p:cNvPr id="223" name="diag0-s">
            <a:extLst>
              <a:ext uri="{FF2B5EF4-FFF2-40B4-BE49-F238E27FC236}">
                <a16:creationId xmlns:a16="http://schemas.microsoft.com/office/drawing/2014/main" id="{C2FA86A6-E2B5-DE49-9946-4D41D857AF74}"/>
              </a:ext>
            </a:extLst>
          </p:cNvPr>
          <p:cNvSpPr txBox="1"/>
          <p:nvPr/>
        </p:nvSpPr>
        <p:spPr>
          <a:xfrm>
            <a:off x="2453640" y="5037142"/>
            <a:ext cx="889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en-US" altLang="zh-CN" sz="600">
                <a:solidFill>
                  <a:srgbClr val="566D78"/>
                </a:solidFill>
                <a:latin typeface="Microsoft YaHei" panose="020B0503020204020204" pitchFamily="34" charset="-122"/>
              </a:rPr>
              <a:t>3 / 5 </a:t>
            </a:r>
            <a:r>
              <a:rPr lang="zh-CN" altLang="en-US" sz="600">
                <a:solidFill>
                  <a:srgbClr val="566D78"/>
                </a:solidFill>
                <a:latin typeface="Microsoft YaHei" panose="020B0503020204020204" pitchFamily="34" charset="-122"/>
              </a:rPr>
              <a:t>个维度达标</a:t>
            </a:r>
          </a:p>
        </p:txBody>
      </p:sp>
      <p:cxnSp>
        <p:nvCxnSpPr>
          <p:cNvPr id="224" name="diag-line0">
            <a:extLst>
              <a:ext uri="{FF2B5EF4-FFF2-40B4-BE49-F238E27FC236}">
                <a16:creationId xmlns:a16="http://schemas.microsoft.com/office/drawing/2014/main" id="{FD1425FC-4D3E-59DE-B33D-9EA23D153AD8}"/>
              </a:ext>
            </a:extLst>
          </p:cNvPr>
          <p:cNvCxnSpPr/>
          <p:nvPr/>
        </p:nvCxnSpPr>
        <p:spPr>
          <a:xfrm>
            <a:off x="2098040" y="5382895"/>
            <a:ext cx="1219200" cy="0"/>
          </a:xfrm>
          <a:prstGeom prst="line">
            <a:avLst/>
          </a:prstGeom>
          <a:ln w="6350">
            <a:solidFill>
              <a:srgbClr val="D9E1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diag1-b">
            <a:extLst>
              <a:ext uri="{FF2B5EF4-FFF2-40B4-BE49-F238E27FC236}">
                <a16:creationId xmlns:a16="http://schemas.microsoft.com/office/drawing/2014/main" id="{7CD96294-EC81-F767-8B8A-8D9D61FBD5AB}"/>
              </a:ext>
            </a:extLst>
          </p:cNvPr>
          <p:cNvSpPr txBox="1"/>
          <p:nvPr/>
        </p:nvSpPr>
        <p:spPr>
          <a:xfrm>
            <a:off x="2098040" y="5416237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优势</a:t>
            </a:r>
          </a:p>
        </p:txBody>
      </p:sp>
      <p:sp>
        <p:nvSpPr>
          <p:cNvPr id="226" name="diag1-s">
            <a:extLst>
              <a:ext uri="{FF2B5EF4-FFF2-40B4-BE49-F238E27FC236}">
                <a16:creationId xmlns:a16="http://schemas.microsoft.com/office/drawing/2014/main" id="{99E6FABD-B9AD-187D-1E7F-712291C56C34}"/>
              </a:ext>
            </a:extLst>
          </p:cNvPr>
          <p:cNvSpPr txBox="1"/>
          <p:nvPr/>
        </p:nvSpPr>
        <p:spPr>
          <a:xfrm>
            <a:off x="2453640" y="5416237"/>
            <a:ext cx="889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>
                <a:solidFill>
                  <a:srgbClr val="566D78"/>
                </a:solidFill>
                <a:latin typeface="Microsoft YaHei" panose="020B0503020204020204" pitchFamily="34" charset="-122"/>
              </a:rPr>
              <a:t>测试设计、测试执行</a:t>
            </a:r>
          </a:p>
        </p:txBody>
      </p:sp>
      <p:cxnSp>
        <p:nvCxnSpPr>
          <p:cNvPr id="227" name="diag-line1">
            <a:extLst>
              <a:ext uri="{FF2B5EF4-FFF2-40B4-BE49-F238E27FC236}">
                <a16:creationId xmlns:a16="http://schemas.microsoft.com/office/drawing/2014/main" id="{04CB7BE3-F1F9-352B-78BF-73563EFC4B2F}"/>
              </a:ext>
            </a:extLst>
          </p:cNvPr>
          <p:cNvCxnSpPr/>
          <p:nvPr/>
        </p:nvCxnSpPr>
        <p:spPr>
          <a:xfrm>
            <a:off x="2098040" y="5761990"/>
            <a:ext cx="1219200" cy="0"/>
          </a:xfrm>
          <a:prstGeom prst="line">
            <a:avLst/>
          </a:prstGeom>
          <a:ln w="6350">
            <a:solidFill>
              <a:srgbClr val="D9E1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diag2-b">
            <a:extLst>
              <a:ext uri="{FF2B5EF4-FFF2-40B4-BE49-F238E27FC236}">
                <a16:creationId xmlns:a16="http://schemas.microsoft.com/office/drawing/2014/main" id="{39E60956-4ED8-018F-BBA8-401D9F8BEC81}"/>
              </a:ext>
            </a:extLst>
          </p:cNvPr>
          <p:cNvSpPr txBox="1"/>
          <p:nvPr/>
        </p:nvSpPr>
        <p:spPr>
          <a:xfrm>
            <a:off x="2098040" y="579533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差距</a:t>
            </a:r>
          </a:p>
        </p:txBody>
      </p:sp>
      <p:sp>
        <p:nvSpPr>
          <p:cNvPr id="229" name="diag2-s">
            <a:extLst>
              <a:ext uri="{FF2B5EF4-FFF2-40B4-BE49-F238E27FC236}">
                <a16:creationId xmlns:a16="http://schemas.microsoft.com/office/drawing/2014/main" id="{F6433517-93C4-6448-2658-642F0CC66C00}"/>
              </a:ext>
            </a:extLst>
          </p:cNvPr>
          <p:cNvSpPr txBox="1"/>
          <p:nvPr/>
        </p:nvSpPr>
        <p:spPr>
          <a:xfrm>
            <a:off x="2453640" y="5841498"/>
            <a:ext cx="889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>
                <a:solidFill>
                  <a:srgbClr val="566D78"/>
                </a:solidFill>
                <a:latin typeface="Microsoft YaHei" panose="020B0503020204020204" pitchFamily="34" charset="-122"/>
              </a:rPr>
              <a:t>自动化 </a:t>
            </a:r>
            <a:r>
              <a:rPr lang="en-US" altLang="zh-CN" sz="600">
                <a:solidFill>
                  <a:srgbClr val="566D78"/>
                </a:solidFill>
                <a:latin typeface="Microsoft YaHei" panose="020B0503020204020204" pitchFamily="34" charset="-122"/>
              </a:rPr>
              <a:t>-0.6</a:t>
            </a:r>
            <a:r>
              <a:rPr lang="zh-CN" altLang="en-US" sz="600">
                <a:solidFill>
                  <a:srgbClr val="566D78"/>
                </a:solidFill>
                <a:latin typeface="Microsoft YaHei" panose="020B0503020204020204" pitchFamily="34" charset="-122"/>
              </a:rPr>
              <a:t>；方案 </a:t>
            </a:r>
            <a:r>
              <a:rPr lang="en-US" altLang="zh-CN" sz="600">
                <a:solidFill>
                  <a:srgbClr val="566D78"/>
                </a:solidFill>
                <a:latin typeface="Microsoft YaHei" panose="020B0503020204020204" pitchFamily="34" charset="-122"/>
              </a:rPr>
              <a:t>-0.8</a:t>
            </a:r>
            <a:endParaRPr lang="zh-CN" altLang="en-US" sz="600">
              <a:solidFill>
                <a:srgbClr val="566D78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230" name="diag-line2">
            <a:extLst>
              <a:ext uri="{FF2B5EF4-FFF2-40B4-BE49-F238E27FC236}">
                <a16:creationId xmlns:a16="http://schemas.microsoft.com/office/drawing/2014/main" id="{B1A8A51F-063A-35C7-70DD-561854DD75AC}"/>
              </a:ext>
            </a:extLst>
          </p:cNvPr>
          <p:cNvCxnSpPr/>
          <p:nvPr/>
        </p:nvCxnSpPr>
        <p:spPr>
          <a:xfrm>
            <a:off x="2098040" y="6141085"/>
            <a:ext cx="1219200" cy="0"/>
          </a:xfrm>
          <a:prstGeom prst="line">
            <a:avLst/>
          </a:prstGeom>
          <a:ln w="6350">
            <a:solidFill>
              <a:srgbClr val="D9E1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diag3-b">
            <a:extLst>
              <a:ext uri="{FF2B5EF4-FFF2-40B4-BE49-F238E27FC236}">
                <a16:creationId xmlns:a16="http://schemas.microsoft.com/office/drawing/2014/main" id="{ABDD1BFF-DD00-F983-5E78-622F1A321E58}"/>
              </a:ext>
            </a:extLst>
          </p:cNvPr>
          <p:cNvSpPr txBox="1"/>
          <p:nvPr/>
        </p:nvSpPr>
        <p:spPr>
          <a:xfrm>
            <a:off x="2098040" y="6220593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当前分</a:t>
            </a:r>
          </a:p>
        </p:txBody>
      </p:sp>
      <p:sp>
        <p:nvSpPr>
          <p:cNvPr id="232" name="diag3-s">
            <a:extLst>
              <a:ext uri="{FF2B5EF4-FFF2-40B4-BE49-F238E27FC236}">
                <a16:creationId xmlns:a16="http://schemas.microsoft.com/office/drawing/2014/main" id="{07B3C13A-784C-97C4-AD7D-4B09F7469AAE}"/>
              </a:ext>
            </a:extLst>
          </p:cNvPr>
          <p:cNvSpPr txBox="1"/>
          <p:nvPr/>
        </p:nvSpPr>
        <p:spPr>
          <a:xfrm>
            <a:off x="2453640" y="6220593"/>
            <a:ext cx="889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en-US" altLang="zh-CN" sz="600">
                <a:solidFill>
                  <a:srgbClr val="566D78"/>
                </a:solidFill>
                <a:latin typeface="Microsoft YaHei" panose="020B0503020204020204" pitchFamily="34" charset="-122"/>
              </a:rPr>
              <a:t>2.62</a:t>
            </a:r>
            <a:r>
              <a:rPr lang="zh-CN" altLang="en-US" sz="600">
                <a:solidFill>
                  <a:srgbClr val="566D78"/>
                </a:solidFill>
                <a:latin typeface="Microsoft YaHei" panose="020B0503020204020204" pitchFamily="34" charset="-122"/>
              </a:rPr>
              <a:t>，需形成改进计划</a:t>
            </a:r>
          </a:p>
        </p:txBody>
      </p:sp>
      <p:sp>
        <p:nvSpPr>
          <p:cNvPr id="233" name="dept-leg1">
            <a:extLst>
              <a:ext uri="{FF2B5EF4-FFF2-40B4-BE49-F238E27FC236}">
                <a16:creationId xmlns:a16="http://schemas.microsoft.com/office/drawing/2014/main" id="{228F7C76-76DD-7BB7-A08E-E9FF2C03EF63}"/>
              </a:ext>
            </a:extLst>
          </p:cNvPr>
          <p:cNvSpPr txBox="1"/>
          <p:nvPr/>
        </p:nvSpPr>
        <p:spPr>
          <a:xfrm>
            <a:off x="4686300" y="4851400"/>
            <a:ext cx="6604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目标 </a:t>
            </a:r>
            <a:r>
              <a:rPr lang="en-US" altLang="zh-CN" sz="600">
                <a:solidFill>
                  <a:srgbClr val="657881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>
              <a:solidFill>
                <a:srgbClr val="657881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34" name="dept-leg1k">
            <a:extLst>
              <a:ext uri="{FF2B5EF4-FFF2-40B4-BE49-F238E27FC236}">
                <a16:creationId xmlns:a16="http://schemas.microsoft.com/office/drawing/2014/main" id="{7C46D5E2-D08D-0E8B-59FD-8F027CF362B2}"/>
              </a:ext>
            </a:extLst>
          </p:cNvPr>
          <p:cNvSpPr/>
          <p:nvPr/>
        </p:nvSpPr>
        <p:spPr>
          <a:xfrm>
            <a:off x="4533900" y="4902200"/>
            <a:ext cx="101600" cy="15240"/>
          </a:xfrm>
          <a:prstGeom prst="rect">
            <a:avLst/>
          </a:prstGeom>
          <a:solidFill>
            <a:srgbClr val="B96E6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dept-leg2">
            <a:extLst>
              <a:ext uri="{FF2B5EF4-FFF2-40B4-BE49-F238E27FC236}">
                <a16:creationId xmlns:a16="http://schemas.microsoft.com/office/drawing/2014/main" id="{BDDF9AED-C0F9-25F8-EA94-1CA9CF88B43D}"/>
              </a:ext>
            </a:extLst>
          </p:cNvPr>
          <p:cNvSpPr txBox="1"/>
          <p:nvPr/>
        </p:nvSpPr>
        <p:spPr>
          <a:xfrm>
            <a:off x="5346700" y="4851400"/>
            <a:ext cx="6858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部门均值 </a:t>
            </a:r>
            <a:r>
              <a:rPr lang="en-US" altLang="zh-CN" sz="600">
                <a:solidFill>
                  <a:srgbClr val="657881"/>
                </a:solidFill>
                <a:latin typeface="Microsoft YaHei" panose="020B0503020204020204" pitchFamily="34" charset="-122"/>
              </a:rPr>
              <a:t>2.82</a:t>
            </a:r>
            <a:endParaRPr lang="zh-CN" altLang="en-US" sz="600">
              <a:solidFill>
                <a:srgbClr val="657881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36" name="dept-leg2k">
            <a:extLst>
              <a:ext uri="{FF2B5EF4-FFF2-40B4-BE49-F238E27FC236}">
                <a16:creationId xmlns:a16="http://schemas.microsoft.com/office/drawing/2014/main" id="{7A7EACD8-4ABE-1F91-D46E-B94DBFDAC2D2}"/>
              </a:ext>
            </a:extLst>
          </p:cNvPr>
          <p:cNvSpPr/>
          <p:nvPr/>
        </p:nvSpPr>
        <p:spPr>
          <a:xfrm>
            <a:off x="5194300" y="4902200"/>
            <a:ext cx="101600" cy="1524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dept-plot">
            <a:extLst>
              <a:ext uri="{FF2B5EF4-FFF2-40B4-BE49-F238E27FC236}">
                <a16:creationId xmlns:a16="http://schemas.microsoft.com/office/drawing/2014/main" id="{29608E45-379F-9F66-2501-DDA37DB1E42D}"/>
              </a:ext>
            </a:extLst>
          </p:cNvPr>
          <p:cNvSpPr/>
          <p:nvPr/>
        </p:nvSpPr>
        <p:spPr>
          <a:xfrm>
            <a:off x="3683000" y="5003800"/>
            <a:ext cx="2273300" cy="1117600"/>
          </a:xfrm>
          <a:prstGeom prst="rect">
            <a:avLst/>
          </a:prstGeom>
          <a:noFill/>
          <a:ln w="8890" cap="flat" cmpd="sng" algn="ctr">
            <a:solidFill>
              <a:srgbClr val="AAB9B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38" name="dept-g1">
            <a:extLst>
              <a:ext uri="{FF2B5EF4-FFF2-40B4-BE49-F238E27FC236}">
                <a16:creationId xmlns:a16="http://schemas.microsoft.com/office/drawing/2014/main" id="{0F781061-5735-6EA4-744B-BC33C1C14762}"/>
              </a:ext>
            </a:extLst>
          </p:cNvPr>
          <p:cNvCxnSpPr/>
          <p:nvPr/>
        </p:nvCxnSpPr>
        <p:spPr>
          <a:xfrm>
            <a:off x="3683000" y="5842000"/>
            <a:ext cx="2273300" cy="0"/>
          </a:xfrm>
          <a:prstGeom prst="line">
            <a:avLst/>
          </a:prstGeom>
          <a:ln w="6350">
            <a:solidFill>
              <a:srgbClr val="E0E7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dept-g2">
            <a:extLst>
              <a:ext uri="{FF2B5EF4-FFF2-40B4-BE49-F238E27FC236}">
                <a16:creationId xmlns:a16="http://schemas.microsoft.com/office/drawing/2014/main" id="{62142676-00BC-6AD7-81F3-9A85BF4F180B}"/>
              </a:ext>
            </a:extLst>
          </p:cNvPr>
          <p:cNvCxnSpPr/>
          <p:nvPr/>
        </p:nvCxnSpPr>
        <p:spPr>
          <a:xfrm>
            <a:off x="3683000" y="5562600"/>
            <a:ext cx="2273300" cy="0"/>
          </a:xfrm>
          <a:prstGeom prst="line">
            <a:avLst/>
          </a:prstGeom>
          <a:ln w="6350">
            <a:solidFill>
              <a:srgbClr val="E0E7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dept-g3">
            <a:extLst>
              <a:ext uri="{FF2B5EF4-FFF2-40B4-BE49-F238E27FC236}">
                <a16:creationId xmlns:a16="http://schemas.microsoft.com/office/drawing/2014/main" id="{161B9FA2-2EC5-E8DB-FCFD-9BF0F7E2F1A2}"/>
              </a:ext>
            </a:extLst>
          </p:cNvPr>
          <p:cNvCxnSpPr/>
          <p:nvPr/>
        </p:nvCxnSpPr>
        <p:spPr>
          <a:xfrm>
            <a:off x="3683000" y="5283200"/>
            <a:ext cx="2273300" cy="0"/>
          </a:xfrm>
          <a:prstGeom prst="line">
            <a:avLst/>
          </a:prstGeom>
          <a:ln w="6350">
            <a:solidFill>
              <a:srgbClr val="E0E7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dept-a4">
            <a:extLst>
              <a:ext uri="{FF2B5EF4-FFF2-40B4-BE49-F238E27FC236}">
                <a16:creationId xmlns:a16="http://schemas.microsoft.com/office/drawing/2014/main" id="{6A726C21-8F40-D1FB-42B2-269AE0C6FDB4}"/>
              </a:ext>
            </a:extLst>
          </p:cNvPr>
          <p:cNvSpPr txBox="1"/>
          <p:nvPr/>
        </p:nvSpPr>
        <p:spPr>
          <a:xfrm>
            <a:off x="3479800" y="50038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4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2" name="dept-a3">
            <a:extLst>
              <a:ext uri="{FF2B5EF4-FFF2-40B4-BE49-F238E27FC236}">
                <a16:creationId xmlns:a16="http://schemas.microsoft.com/office/drawing/2014/main" id="{49A71C4C-4FAC-6827-A882-61A3E98A7954}"/>
              </a:ext>
            </a:extLst>
          </p:cNvPr>
          <p:cNvSpPr txBox="1"/>
          <p:nvPr/>
        </p:nvSpPr>
        <p:spPr>
          <a:xfrm>
            <a:off x="3479800" y="52832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3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3" name="dept-a2">
            <a:extLst>
              <a:ext uri="{FF2B5EF4-FFF2-40B4-BE49-F238E27FC236}">
                <a16:creationId xmlns:a16="http://schemas.microsoft.com/office/drawing/2014/main" id="{84DE9E2F-2586-76C5-2C76-3B4EB9D48CA1}"/>
              </a:ext>
            </a:extLst>
          </p:cNvPr>
          <p:cNvSpPr txBox="1"/>
          <p:nvPr/>
        </p:nvSpPr>
        <p:spPr>
          <a:xfrm>
            <a:off x="3479800" y="55626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2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4" name="dept-a1">
            <a:extLst>
              <a:ext uri="{FF2B5EF4-FFF2-40B4-BE49-F238E27FC236}">
                <a16:creationId xmlns:a16="http://schemas.microsoft.com/office/drawing/2014/main" id="{2C62E8FA-6153-3580-A30E-9736C2E606FA}"/>
              </a:ext>
            </a:extLst>
          </p:cNvPr>
          <p:cNvSpPr txBox="1"/>
          <p:nvPr/>
        </p:nvSpPr>
        <p:spPr>
          <a:xfrm>
            <a:off x="3479800" y="58420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1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5" name="dept-a0">
            <a:extLst>
              <a:ext uri="{FF2B5EF4-FFF2-40B4-BE49-F238E27FC236}">
                <a16:creationId xmlns:a16="http://schemas.microsoft.com/office/drawing/2014/main" id="{1EE39CBC-8B88-B884-04F0-F7A67393D546}"/>
              </a:ext>
            </a:extLst>
          </p:cNvPr>
          <p:cNvSpPr txBox="1"/>
          <p:nvPr/>
        </p:nvSpPr>
        <p:spPr>
          <a:xfrm>
            <a:off x="3479800" y="60198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0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246" name="dept-tline">
            <a:extLst>
              <a:ext uri="{FF2B5EF4-FFF2-40B4-BE49-F238E27FC236}">
                <a16:creationId xmlns:a16="http://schemas.microsoft.com/office/drawing/2014/main" id="{3878822E-E550-C22D-32EF-22FEAF08D8D5}"/>
              </a:ext>
            </a:extLst>
          </p:cNvPr>
          <p:cNvCxnSpPr/>
          <p:nvPr/>
        </p:nvCxnSpPr>
        <p:spPr>
          <a:xfrm>
            <a:off x="3683000" y="5283200"/>
            <a:ext cx="2273300" cy="0"/>
          </a:xfrm>
          <a:prstGeom prst="line">
            <a:avLst/>
          </a:prstGeom>
          <a:ln w="1651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dept-tlab">
            <a:extLst>
              <a:ext uri="{FF2B5EF4-FFF2-40B4-BE49-F238E27FC236}">
                <a16:creationId xmlns:a16="http://schemas.microsoft.com/office/drawing/2014/main" id="{EB88EBFD-6363-7527-1564-961FFDA6DFED}"/>
              </a:ext>
            </a:extLst>
          </p:cNvPr>
          <p:cNvSpPr txBox="1"/>
          <p:nvPr/>
        </p:nvSpPr>
        <p:spPr>
          <a:xfrm>
            <a:off x="5676900" y="5156200"/>
            <a:ext cx="254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 b="1">
                <a:solidFill>
                  <a:srgbClr val="A55F55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 b="1">
              <a:solidFill>
                <a:srgbClr val="A55F55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248" name="dept-aline">
            <a:extLst>
              <a:ext uri="{FF2B5EF4-FFF2-40B4-BE49-F238E27FC236}">
                <a16:creationId xmlns:a16="http://schemas.microsoft.com/office/drawing/2014/main" id="{090CE7B6-BBC9-B8C0-9526-F981AEC17ADC}"/>
              </a:ext>
            </a:extLst>
          </p:cNvPr>
          <p:cNvCxnSpPr/>
          <p:nvPr/>
        </p:nvCxnSpPr>
        <p:spPr>
          <a:xfrm>
            <a:off x="3683000" y="5333492"/>
            <a:ext cx="2273300" cy="0"/>
          </a:xfrm>
          <a:prstGeom prst="line">
            <a:avLst/>
          </a:prstGeom>
          <a:ln w="16510">
            <a:solidFill>
              <a:srgbClr val="1683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dept-alab">
            <a:extLst>
              <a:ext uri="{FF2B5EF4-FFF2-40B4-BE49-F238E27FC236}">
                <a16:creationId xmlns:a16="http://schemas.microsoft.com/office/drawing/2014/main" id="{B1C38845-D73B-30F1-7A4A-C569AEADC57F}"/>
              </a:ext>
            </a:extLst>
          </p:cNvPr>
          <p:cNvSpPr txBox="1"/>
          <p:nvPr/>
        </p:nvSpPr>
        <p:spPr>
          <a:xfrm>
            <a:off x="3708400" y="5346192"/>
            <a:ext cx="3048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en-US" altLang="zh-CN" sz="600" b="1">
                <a:solidFill>
                  <a:srgbClr val="14766F"/>
                </a:solidFill>
                <a:latin typeface="Microsoft YaHei" panose="020B0503020204020204" pitchFamily="34" charset="-122"/>
              </a:rPr>
              <a:t>2.82</a:t>
            </a:r>
            <a:endParaRPr lang="zh-CN" altLang="en-US" sz="600" b="1">
              <a:solidFill>
                <a:srgbClr val="14766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50" name="bar0">
            <a:extLst>
              <a:ext uri="{FF2B5EF4-FFF2-40B4-BE49-F238E27FC236}">
                <a16:creationId xmlns:a16="http://schemas.microsoft.com/office/drawing/2014/main" id="{2E6324DE-E9DB-984C-499E-D625F4E445F9}"/>
              </a:ext>
            </a:extLst>
          </p:cNvPr>
          <p:cNvSpPr/>
          <p:nvPr/>
        </p:nvSpPr>
        <p:spPr>
          <a:xfrm>
            <a:off x="3966633" y="5389372"/>
            <a:ext cx="190500" cy="732028"/>
          </a:xfrm>
          <a:prstGeom prst="rect">
            <a:avLst/>
          </a:prstGeom>
          <a:solidFill>
            <a:srgbClr val="C5956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bar0-v">
            <a:extLst>
              <a:ext uri="{FF2B5EF4-FFF2-40B4-BE49-F238E27FC236}">
                <a16:creationId xmlns:a16="http://schemas.microsoft.com/office/drawing/2014/main" id="{C0FD9BF6-62CF-6EE5-3CA0-4EF5578BB503}"/>
              </a:ext>
            </a:extLst>
          </p:cNvPr>
          <p:cNvSpPr txBox="1"/>
          <p:nvPr/>
        </p:nvSpPr>
        <p:spPr>
          <a:xfrm>
            <a:off x="3890433" y="5249672"/>
            <a:ext cx="34290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700" b="1">
                <a:solidFill>
                  <a:srgbClr val="173650"/>
                </a:solidFill>
                <a:latin typeface="Microsoft YaHei" panose="020B0503020204020204" pitchFamily="34" charset="-122"/>
              </a:rPr>
              <a:t>2.62</a:t>
            </a:r>
            <a:endParaRPr lang="zh-CN" altLang="en-US" sz="700" b="1">
              <a:solidFill>
                <a:srgbClr val="17365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52" name="bar0-l">
            <a:extLst>
              <a:ext uri="{FF2B5EF4-FFF2-40B4-BE49-F238E27FC236}">
                <a16:creationId xmlns:a16="http://schemas.microsoft.com/office/drawing/2014/main" id="{0E50BE8D-F8B8-B6A1-DBE0-E731D77CB3CA}"/>
              </a:ext>
            </a:extLst>
          </p:cNvPr>
          <p:cNvSpPr txBox="1"/>
          <p:nvPr/>
        </p:nvSpPr>
        <p:spPr>
          <a:xfrm>
            <a:off x="3814233" y="6134100"/>
            <a:ext cx="495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运控测试组</a:t>
            </a:r>
          </a:p>
        </p:txBody>
      </p:sp>
      <p:sp>
        <p:nvSpPr>
          <p:cNvPr id="253" name="bar1">
            <a:extLst>
              <a:ext uri="{FF2B5EF4-FFF2-40B4-BE49-F238E27FC236}">
                <a16:creationId xmlns:a16="http://schemas.microsoft.com/office/drawing/2014/main" id="{6435C23F-6496-F2CC-EF6E-CD3D0FBEAE97}"/>
              </a:ext>
            </a:extLst>
          </p:cNvPr>
          <p:cNvSpPr/>
          <p:nvPr/>
        </p:nvSpPr>
        <p:spPr>
          <a:xfrm>
            <a:off x="4724400" y="5232908"/>
            <a:ext cx="190500" cy="888492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4" name="bar1-v">
            <a:extLst>
              <a:ext uri="{FF2B5EF4-FFF2-40B4-BE49-F238E27FC236}">
                <a16:creationId xmlns:a16="http://schemas.microsoft.com/office/drawing/2014/main" id="{287EB071-6FFD-B759-B52A-52D0B549640E}"/>
              </a:ext>
            </a:extLst>
          </p:cNvPr>
          <p:cNvSpPr txBox="1"/>
          <p:nvPr/>
        </p:nvSpPr>
        <p:spPr>
          <a:xfrm>
            <a:off x="4648200" y="5093208"/>
            <a:ext cx="34290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700" b="1">
                <a:solidFill>
                  <a:srgbClr val="173650"/>
                </a:solidFill>
                <a:latin typeface="Microsoft YaHei" panose="020B0503020204020204" pitchFamily="34" charset="-122"/>
              </a:rPr>
              <a:t>3.18</a:t>
            </a:r>
            <a:endParaRPr lang="zh-CN" altLang="en-US" sz="700" b="1">
              <a:solidFill>
                <a:srgbClr val="17365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55" name="bar1-l">
            <a:extLst>
              <a:ext uri="{FF2B5EF4-FFF2-40B4-BE49-F238E27FC236}">
                <a16:creationId xmlns:a16="http://schemas.microsoft.com/office/drawing/2014/main" id="{ADED6814-A765-E999-868B-A15CFDD445B2}"/>
              </a:ext>
            </a:extLst>
          </p:cNvPr>
          <p:cNvSpPr txBox="1"/>
          <p:nvPr/>
        </p:nvSpPr>
        <p:spPr>
          <a:xfrm>
            <a:off x="4572000" y="6134100"/>
            <a:ext cx="495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伺服测试组</a:t>
            </a:r>
          </a:p>
        </p:txBody>
      </p:sp>
      <p:sp>
        <p:nvSpPr>
          <p:cNvPr id="256" name="bar2">
            <a:extLst>
              <a:ext uri="{FF2B5EF4-FFF2-40B4-BE49-F238E27FC236}">
                <a16:creationId xmlns:a16="http://schemas.microsoft.com/office/drawing/2014/main" id="{14209073-9353-7229-8B7A-58787B03F888}"/>
              </a:ext>
            </a:extLst>
          </p:cNvPr>
          <p:cNvSpPr/>
          <p:nvPr/>
        </p:nvSpPr>
        <p:spPr>
          <a:xfrm>
            <a:off x="5482167" y="5378196"/>
            <a:ext cx="190500" cy="743204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7" name="bar2-v">
            <a:extLst>
              <a:ext uri="{FF2B5EF4-FFF2-40B4-BE49-F238E27FC236}">
                <a16:creationId xmlns:a16="http://schemas.microsoft.com/office/drawing/2014/main" id="{B8F49D6A-FD18-7E7B-F879-DAE45033DB7B}"/>
              </a:ext>
            </a:extLst>
          </p:cNvPr>
          <p:cNvSpPr txBox="1"/>
          <p:nvPr/>
        </p:nvSpPr>
        <p:spPr>
          <a:xfrm>
            <a:off x="5405967" y="5238496"/>
            <a:ext cx="34290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700" b="1">
                <a:solidFill>
                  <a:srgbClr val="173650"/>
                </a:solidFill>
                <a:latin typeface="Microsoft YaHei" panose="020B0503020204020204" pitchFamily="34" charset="-122"/>
              </a:rPr>
              <a:t>2.66</a:t>
            </a:r>
            <a:endParaRPr lang="zh-CN" altLang="en-US" sz="700" b="1">
              <a:solidFill>
                <a:srgbClr val="17365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58" name="bar2-l">
            <a:extLst>
              <a:ext uri="{FF2B5EF4-FFF2-40B4-BE49-F238E27FC236}">
                <a16:creationId xmlns:a16="http://schemas.microsoft.com/office/drawing/2014/main" id="{6607DE1A-B125-54A5-F834-92C380113A73}"/>
              </a:ext>
            </a:extLst>
          </p:cNvPr>
          <p:cNvSpPr txBox="1"/>
          <p:nvPr/>
        </p:nvSpPr>
        <p:spPr>
          <a:xfrm>
            <a:off x="5329767" y="6134100"/>
            <a:ext cx="495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变频测试组</a:t>
            </a:r>
          </a:p>
        </p:txBody>
      </p:sp>
      <p:sp>
        <p:nvSpPr>
          <p:cNvPr id="259" name="dept-an">
            <a:extLst>
              <a:ext uri="{FF2B5EF4-FFF2-40B4-BE49-F238E27FC236}">
                <a16:creationId xmlns:a16="http://schemas.microsoft.com/office/drawing/2014/main" id="{034D4876-0B32-5BE0-A587-57E06EFAFC91}"/>
              </a:ext>
            </a:extLst>
          </p:cNvPr>
          <p:cNvSpPr txBox="1"/>
          <p:nvPr/>
        </p:nvSpPr>
        <p:spPr>
          <a:xfrm>
            <a:off x="3505200" y="6332220"/>
            <a:ext cx="2527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现状分析：科组建设差距清晰可见，可定位同部门标杆。</a:t>
            </a:r>
          </a:p>
        </p:txBody>
      </p:sp>
      <p:sp>
        <p:nvSpPr>
          <p:cNvPr id="260" name="biz-leg1">
            <a:extLst>
              <a:ext uri="{FF2B5EF4-FFF2-40B4-BE49-F238E27FC236}">
                <a16:creationId xmlns:a16="http://schemas.microsoft.com/office/drawing/2014/main" id="{40780EBF-C993-28A6-B012-C41AB137AA98}"/>
              </a:ext>
            </a:extLst>
          </p:cNvPr>
          <p:cNvSpPr txBox="1"/>
          <p:nvPr/>
        </p:nvSpPr>
        <p:spPr>
          <a:xfrm>
            <a:off x="7655560" y="4851400"/>
            <a:ext cx="5588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伺服产品</a:t>
            </a:r>
          </a:p>
        </p:txBody>
      </p:sp>
      <p:sp>
        <p:nvSpPr>
          <p:cNvPr id="261" name="biz-dot1">
            <a:extLst>
              <a:ext uri="{FF2B5EF4-FFF2-40B4-BE49-F238E27FC236}">
                <a16:creationId xmlns:a16="http://schemas.microsoft.com/office/drawing/2014/main" id="{914F33FD-AB59-235F-E57F-A6A0FDDC3976}"/>
              </a:ext>
            </a:extLst>
          </p:cNvPr>
          <p:cNvSpPr/>
          <p:nvPr/>
        </p:nvSpPr>
        <p:spPr>
          <a:xfrm>
            <a:off x="7528560" y="4889500"/>
            <a:ext cx="76200" cy="762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biz-leg2">
            <a:extLst>
              <a:ext uri="{FF2B5EF4-FFF2-40B4-BE49-F238E27FC236}">
                <a16:creationId xmlns:a16="http://schemas.microsoft.com/office/drawing/2014/main" id="{610DD1C3-5EAC-8194-C8CC-C0B6A8EB9603}"/>
              </a:ext>
            </a:extLst>
          </p:cNvPr>
          <p:cNvSpPr txBox="1"/>
          <p:nvPr/>
        </p:nvSpPr>
        <p:spPr>
          <a:xfrm>
            <a:off x="8265160" y="4851400"/>
            <a:ext cx="635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同类业务均值</a:t>
            </a:r>
          </a:p>
        </p:txBody>
      </p:sp>
      <p:sp>
        <p:nvSpPr>
          <p:cNvPr id="263" name="biz-dot2">
            <a:extLst>
              <a:ext uri="{FF2B5EF4-FFF2-40B4-BE49-F238E27FC236}">
                <a16:creationId xmlns:a16="http://schemas.microsoft.com/office/drawing/2014/main" id="{8A04BE9A-45DF-ED7D-CB5C-8F9685590654}"/>
              </a:ext>
            </a:extLst>
          </p:cNvPr>
          <p:cNvSpPr/>
          <p:nvPr/>
        </p:nvSpPr>
        <p:spPr>
          <a:xfrm>
            <a:off x="8138160" y="4889500"/>
            <a:ext cx="76200" cy="762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pr0-n">
            <a:extLst>
              <a:ext uri="{FF2B5EF4-FFF2-40B4-BE49-F238E27FC236}">
                <a16:creationId xmlns:a16="http://schemas.microsoft.com/office/drawing/2014/main" id="{4D9D20F2-738A-EA71-B15B-AA5B9989BCA4}"/>
              </a:ext>
            </a:extLst>
          </p:cNvPr>
          <p:cNvSpPr txBox="1"/>
          <p:nvPr/>
        </p:nvSpPr>
        <p:spPr>
          <a:xfrm>
            <a:off x="6195060" y="506254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软件</a:t>
            </a:r>
          </a:p>
        </p:txBody>
      </p:sp>
      <p:sp>
        <p:nvSpPr>
          <p:cNvPr id="265" name="pr0-bg">
            <a:extLst>
              <a:ext uri="{FF2B5EF4-FFF2-40B4-BE49-F238E27FC236}">
                <a16:creationId xmlns:a16="http://schemas.microsoft.com/office/drawing/2014/main" id="{10E3BB97-4197-7BBD-FC05-AC9F77D851CD}"/>
              </a:ext>
            </a:extLst>
          </p:cNvPr>
          <p:cNvSpPr/>
          <p:nvPr/>
        </p:nvSpPr>
        <p:spPr>
          <a:xfrm>
            <a:off x="6576060" y="504190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pr0-a">
            <a:extLst>
              <a:ext uri="{FF2B5EF4-FFF2-40B4-BE49-F238E27FC236}">
                <a16:creationId xmlns:a16="http://schemas.microsoft.com/office/drawing/2014/main" id="{A1E959D1-C6F5-7479-BE71-CBC44BD44FD4}"/>
              </a:ext>
            </a:extLst>
          </p:cNvPr>
          <p:cNvSpPr/>
          <p:nvPr/>
        </p:nvSpPr>
        <p:spPr>
          <a:xfrm>
            <a:off x="6576060" y="5054600"/>
            <a:ext cx="1534478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pr0-b">
            <a:extLst>
              <a:ext uri="{FF2B5EF4-FFF2-40B4-BE49-F238E27FC236}">
                <a16:creationId xmlns:a16="http://schemas.microsoft.com/office/drawing/2014/main" id="{4567771D-048A-FE69-52DD-015BEFBEAFC3}"/>
              </a:ext>
            </a:extLst>
          </p:cNvPr>
          <p:cNvSpPr/>
          <p:nvPr/>
        </p:nvSpPr>
        <p:spPr>
          <a:xfrm>
            <a:off x="6576060" y="5118100"/>
            <a:ext cx="1648142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pr0-t">
            <a:extLst>
              <a:ext uri="{FF2B5EF4-FFF2-40B4-BE49-F238E27FC236}">
                <a16:creationId xmlns:a16="http://schemas.microsoft.com/office/drawing/2014/main" id="{EA025DAC-E40D-C124-0985-76C1912D8FE9}"/>
              </a:ext>
            </a:extLst>
          </p:cNvPr>
          <p:cNvCxnSpPr/>
          <p:nvPr/>
        </p:nvCxnSpPr>
        <p:spPr>
          <a:xfrm>
            <a:off x="8281035" y="504190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pr1-n">
            <a:extLst>
              <a:ext uri="{FF2B5EF4-FFF2-40B4-BE49-F238E27FC236}">
                <a16:creationId xmlns:a16="http://schemas.microsoft.com/office/drawing/2014/main" id="{FCCC4CB2-47F0-8495-E513-90602CCF5C67}"/>
              </a:ext>
            </a:extLst>
          </p:cNvPr>
          <p:cNvSpPr txBox="1"/>
          <p:nvPr/>
        </p:nvSpPr>
        <p:spPr>
          <a:xfrm>
            <a:off x="6195060" y="522129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硬件</a:t>
            </a:r>
          </a:p>
        </p:txBody>
      </p:sp>
      <p:sp>
        <p:nvSpPr>
          <p:cNvPr id="270" name="pr1-bg">
            <a:extLst>
              <a:ext uri="{FF2B5EF4-FFF2-40B4-BE49-F238E27FC236}">
                <a16:creationId xmlns:a16="http://schemas.microsoft.com/office/drawing/2014/main" id="{81B0708E-6763-5F1C-659C-D4C45CB53993}"/>
              </a:ext>
            </a:extLst>
          </p:cNvPr>
          <p:cNvSpPr/>
          <p:nvPr/>
        </p:nvSpPr>
        <p:spPr>
          <a:xfrm>
            <a:off x="6576060" y="520065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pr1-a">
            <a:extLst>
              <a:ext uri="{FF2B5EF4-FFF2-40B4-BE49-F238E27FC236}">
                <a16:creationId xmlns:a16="http://schemas.microsoft.com/office/drawing/2014/main" id="{CD3F3E7B-D186-5563-0AAF-5988F1D46A82}"/>
              </a:ext>
            </a:extLst>
          </p:cNvPr>
          <p:cNvSpPr/>
          <p:nvPr/>
        </p:nvSpPr>
        <p:spPr>
          <a:xfrm>
            <a:off x="6576060" y="5213350"/>
            <a:ext cx="1818640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2" name="pr1-b">
            <a:extLst>
              <a:ext uri="{FF2B5EF4-FFF2-40B4-BE49-F238E27FC236}">
                <a16:creationId xmlns:a16="http://schemas.microsoft.com/office/drawing/2014/main" id="{E3BC82B4-4EC4-A881-4D9B-CB3CA952709E}"/>
              </a:ext>
            </a:extLst>
          </p:cNvPr>
          <p:cNvSpPr/>
          <p:nvPr/>
        </p:nvSpPr>
        <p:spPr>
          <a:xfrm>
            <a:off x="6576060" y="5276850"/>
            <a:ext cx="1591310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3" name="pr1-t">
            <a:extLst>
              <a:ext uri="{FF2B5EF4-FFF2-40B4-BE49-F238E27FC236}">
                <a16:creationId xmlns:a16="http://schemas.microsoft.com/office/drawing/2014/main" id="{4FE62EC5-E1FB-6C90-99A7-D013025D513D}"/>
              </a:ext>
            </a:extLst>
          </p:cNvPr>
          <p:cNvCxnSpPr/>
          <p:nvPr/>
        </p:nvCxnSpPr>
        <p:spPr>
          <a:xfrm>
            <a:off x="8281035" y="520065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pr2-n">
            <a:extLst>
              <a:ext uri="{FF2B5EF4-FFF2-40B4-BE49-F238E27FC236}">
                <a16:creationId xmlns:a16="http://schemas.microsoft.com/office/drawing/2014/main" id="{0A517106-A30C-12AE-BBF6-D2372724D76B}"/>
              </a:ext>
            </a:extLst>
          </p:cNvPr>
          <p:cNvSpPr txBox="1"/>
          <p:nvPr/>
        </p:nvSpPr>
        <p:spPr>
          <a:xfrm>
            <a:off x="6195060" y="538004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机械</a:t>
            </a:r>
          </a:p>
        </p:txBody>
      </p:sp>
      <p:sp>
        <p:nvSpPr>
          <p:cNvPr id="275" name="pr2-bg">
            <a:extLst>
              <a:ext uri="{FF2B5EF4-FFF2-40B4-BE49-F238E27FC236}">
                <a16:creationId xmlns:a16="http://schemas.microsoft.com/office/drawing/2014/main" id="{9FDA868F-9365-15D0-7EA0-04CA83631F19}"/>
              </a:ext>
            </a:extLst>
          </p:cNvPr>
          <p:cNvSpPr/>
          <p:nvPr/>
        </p:nvSpPr>
        <p:spPr>
          <a:xfrm>
            <a:off x="6576060" y="535940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pr2-a">
            <a:extLst>
              <a:ext uri="{FF2B5EF4-FFF2-40B4-BE49-F238E27FC236}">
                <a16:creationId xmlns:a16="http://schemas.microsoft.com/office/drawing/2014/main" id="{3EE89F02-9875-67E2-1998-1360A138F2BB}"/>
              </a:ext>
            </a:extLst>
          </p:cNvPr>
          <p:cNvSpPr/>
          <p:nvPr/>
        </p:nvSpPr>
        <p:spPr>
          <a:xfrm>
            <a:off x="6576060" y="5372100"/>
            <a:ext cx="1363980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pr2-b">
            <a:extLst>
              <a:ext uri="{FF2B5EF4-FFF2-40B4-BE49-F238E27FC236}">
                <a16:creationId xmlns:a16="http://schemas.microsoft.com/office/drawing/2014/main" id="{210EC25D-3EA3-3075-D30A-16E6A425075B}"/>
              </a:ext>
            </a:extLst>
          </p:cNvPr>
          <p:cNvSpPr/>
          <p:nvPr/>
        </p:nvSpPr>
        <p:spPr>
          <a:xfrm>
            <a:off x="6576060" y="5435600"/>
            <a:ext cx="1534478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8" name="pr2-t">
            <a:extLst>
              <a:ext uri="{FF2B5EF4-FFF2-40B4-BE49-F238E27FC236}">
                <a16:creationId xmlns:a16="http://schemas.microsoft.com/office/drawing/2014/main" id="{115A8146-4DC3-DFF8-B071-1E0EE0C0AA03}"/>
              </a:ext>
            </a:extLst>
          </p:cNvPr>
          <p:cNvCxnSpPr/>
          <p:nvPr/>
        </p:nvCxnSpPr>
        <p:spPr>
          <a:xfrm>
            <a:off x="8281035" y="535940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pr3-n">
            <a:extLst>
              <a:ext uri="{FF2B5EF4-FFF2-40B4-BE49-F238E27FC236}">
                <a16:creationId xmlns:a16="http://schemas.microsoft.com/office/drawing/2014/main" id="{557031DD-6F67-79BD-772A-88AA5356CA0E}"/>
              </a:ext>
            </a:extLst>
          </p:cNvPr>
          <p:cNvSpPr txBox="1"/>
          <p:nvPr/>
        </p:nvSpPr>
        <p:spPr>
          <a:xfrm>
            <a:off x="6195060" y="553879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en-US" altLang="zh-CN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EMC</a:t>
            </a:r>
            <a:endParaRPr lang="zh-CN" altLang="en-US" sz="600" b="1">
              <a:solidFill>
                <a:srgbClr val="405B6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80" name="pr3-bg">
            <a:extLst>
              <a:ext uri="{FF2B5EF4-FFF2-40B4-BE49-F238E27FC236}">
                <a16:creationId xmlns:a16="http://schemas.microsoft.com/office/drawing/2014/main" id="{E3C7E14A-EF34-4329-75D7-BD9F41ED180E}"/>
              </a:ext>
            </a:extLst>
          </p:cNvPr>
          <p:cNvSpPr/>
          <p:nvPr/>
        </p:nvSpPr>
        <p:spPr>
          <a:xfrm>
            <a:off x="6576060" y="551815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1" name="pr3-a">
            <a:extLst>
              <a:ext uri="{FF2B5EF4-FFF2-40B4-BE49-F238E27FC236}">
                <a16:creationId xmlns:a16="http://schemas.microsoft.com/office/drawing/2014/main" id="{D82221F7-01A2-CE6E-0F7B-A432CAAE8A1A}"/>
              </a:ext>
            </a:extLst>
          </p:cNvPr>
          <p:cNvSpPr/>
          <p:nvPr/>
        </p:nvSpPr>
        <p:spPr>
          <a:xfrm>
            <a:off x="6576060" y="5530850"/>
            <a:ext cx="1761808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2" name="pr3-b">
            <a:extLst>
              <a:ext uri="{FF2B5EF4-FFF2-40B4-BE49-F238E27FC236}">
                <a16:creationId xmlns:a16="http://schemas.microsoft.com/office/drawing/2014/main" id="{1746CB6F-46DE-5119-055F-442D6A0AC988}"/>
              </a:ext>
            </a:extLst>
          </p:cNvPr>
          <p:cNvSpPr/>
          <p:nvPr/>
        </p:nvSpPr>
        <p:spPr>
          <a:xfrm>
            <a:off x="6576060" y="5594350"/>
            <a:ext cx="1648142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83" name="pr3-t">
            <a:extLst>
              <a:ext uri="{FF2B5EF4-FFF2-40B4-BE49-F238E27FC236}">
                <a16:creationId xmlns:a16="http://schemas.microsoft.com/office/drawing/2014/main" id="{2C4DA160-FC88-192B-871A-BC4C706EF7C4}"/>
              </a:ext>
            </a:extLst>
          </p:cNvPr>
          <p:cNvCxnSpPr/>
          <p:nvPr/>
        </p:nvCxnSpPr>
        <p:spPr>
          <a:xfrm>
            <a:off x="8281035" y="551815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pr4-n">
            <a:extLst>
              <a:ext uri="{FF2B5EF4-FFF2-40B4-BE49-F238E27FC236}">
                <a16:creationId xmlns:a16="http://schemas.microsoft.com/office/drawing/2014/main" id="{AE515D36-0B27-FB6F-D2BB-BF951902BBC7}"/>
              </a:ext>
            </a:extLst>
          </p:cNvPr>
          <p:cNvSpPr txBox="1"/>
          <p:nvPr/>
        </p:nvSpPr>
        <p:spPr>
          <a:xfrm>
            <a:off x="6195060" y="569754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合规</a:t>
            </a:r>
          </a:p>
        </p:txBody>
      </p:sp>
      <p:sp>
        <p:nvSpPr>
          <p:cNvPr id="285" name="pr4-bg">
            <a:extLst>
              <a:ext uri="{FF2B5EF4-FFF2-40B4-BE49-F238E27FC236}">
                <a16:creationId xmlns:a16="http://schemas.microsoft.com/office/drawing/2014/main" id="{29AC0BD5-4941-AD85-AAF8-AF20D7ED2699}"/>
              </a:ext>
            </a:extLst>
          </p:cNvPr>
          <p:cNvSpPr/>
          <p:nvPr/>
        </p:nvSpPr>
        <p:spPr>
          <a:xfrm>
            <a:off x="6576060" y="567690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6" name="pr4-a">
            <a:extLst>
              <a:ext uri="{FF2B5EF4-FFF2-40B4-BE49-F238E27FC236}">
                <a16:creationId xmlns:a16="http://schemas.microsoft.com/office/drawing/2014/main" id="{55851CA8-F701-DA01-6A8B-5F8896CC1B7D}"/>
              </a:ext>
            </a:extLst>
          </p:cNvPr>
          <p:cNvSpPr/>
          <p:nvPr/>
        </p:nvSpPr>
        <p:spPr>
          <a:xfrm>
            <a:off x="6576060" y="5689600"/>
            <a:ext cx="1591310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pr4-b">
            <a:extLst>
              <a:ext uri="{FF2B5EF4-FFF2-40B4-BE49-F238E27FC236}">
                <a16:creationId xmlns:a16="http://schemas.microsoft.com/office/drawing/2014/main" id="{E9B38F39-CB5B-3D05-4F54-4A9983B2ACA3}"/>
              </a:ext>
            </a:extLst>
          </p:cNvPr>
          <p:cNvSpPr/>
          <p:nvPr/>
        </p:nvSpPr>
        <p:spPr>
          <a:xfrm>
            <a:off x="6576060" y="5753100"/>
            <a:ext cx="1591310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88" name="pr4-t">
            <a:extLst>
              <a:ext uri="{FF2B5EF4-FFF2-40B4-BE49-F238E27FC236}">
                <a16:creationId xmlns:a16="http://schemas.microsoft.com/office/drawing/2014/main" id="{E4EF1B23-1EA6-609E-D9A9-AB7B75F30068}"/>
              </a:ext>
            </a:extLst>
          </p:cNvPr>
          <p:cNvCxnSpPr/>
          <p:nvPr/>
        </p:nvCxnSpPr>
        <p:spPr>
          <a:xfrm>
            <a:off x="8281035" y="567690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pr5-n">
            <a:extLst>
              <a:ext uri="{FF2B5EF4-FFF2-40B4-BE49-F238E27FC236}">
                <a16:creationId xmlns:a16="http://schemas.microsoft.com/office/drawing/2014/main" id="{5A7083D8-A28E-26FF-DFFA-3036A19A925C}"/>
              </a:ext>
            </a:extLst>
          </p:cNvPr>
          <p:cNvSpPr txBox="1"/>
          <p:nvPr/>
        </p:nvSpPr>
        <p:spPr>
          <a:xfrm>
            <a:off x="6195060" y="5902458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可靠性</a:t>
            </a:r>
          </a:p>
        </p:txBody>
      </p:sp>
      <p:sp>
        <p:nvSpPr>
          <p:cNvPr id="290" name="pr5-bg">
            <a:extLst>
              <a:ext uri="{FF2B5EF4-FFF2-40B4-BE49-F238E27FC236}">
                <a16:creationId xmlns:a16="http://schemas.microsoft.com/office/drawing/2014/main" id="{86CEC63F-F34D-DF69-AE69-BE003F5A1D90}"/>
              </a:ext>
            </a:extLst>
          </p:cNvPr>
          <p:cNvSpPr/>
          <p:nvPr/>
        </p:nvSpPr>
        <p:spPr>
          <a:xfrm>
            <a:off x="6576060" y="583565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1" name="pr5-a">
            <a:extLst>
              <a:ext uri="{FF2B5EF4-FFF2-40B4-BE49-F238E27FC236}">
                <a16:creationId xmlns:a16="http://schemas.microsoft.com/office/drawing/2014/main" id="{A0FC9002-12BC-6D39-69CF-2AC0B7AD9D70}"/>
              </a:ext>
            </a:extLst>
          </p:cNvPr>
          <p:cNvSpPr/>
          <p:nvPr/>
        </p:nvSpPr>
        <p:spPr>
          <a:xfrm>
            <a:off x="6576060" y="5848350"/>
            <a:ext cx="1420812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2" name="pr5-b">
            <a:extLst>
              <a:ext uri="{FF2B5EF4-FFF2-40B4-BE49-F238E27FC236}">
                <a16:creationId xmlns:a16="http://schemas.microsoft.com/office/drawing/2014/main" id="{2C0161A3-35FC-EA57-625A-F2B057460362}"/>
              </a:ext>
            </a:extLst>
          </p:cNvPr>
          <p:cNvSpPr/>
          <p:nvPr/>
        </p:nvSpPr>
        <p:spPr>
          <a:xfrm>
            <a:off x="6576060" y="5911850"/>
            <a:ext cx="1534478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pr5-t">
            <a:extLst>
              <a:ext uri="{FF2B5EF4-FFF2-40B4-BE49-F238E27FC236}">
                <a16:creationId xmlns:a16="http://schemas.microsoft.com/office/drawing/2014/main" id="{B3464409-ADBD-4911-39ED-D180D8D0BA4B}"/>
              </a:ext>
            </a:extLst>
          </p:cNvPr>
          <p:cNvCxnSpPr/>
          <p:nvPr/>
        </p:nvCxnSpPr>
        <p:spPr>
          <a:xfrm>
            <a:off x="8281035" y="583565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4" name="biz-an">
            <a:extLst>
              <a:ext uri="{FF2B5EF4-FFF2-40B4-BE49-F238E27FC236}">
                <a16:creationId xmlns:a16="http://schemas.microsoft.com/office/drawing/2014/main" id="{0FAD21A6-40BA-95B6-1883-1E4CA66B949E}"/>
              </a:ext>
            </a:extLst>
          </p:cNvPr>
          <p:cNvSpPr txBox="1"/>
          <p:nvPr/>
        </p:nvSpPr>
        <p:spPr>
          <a:xfrm>
            <a:off x="6195060" y="6332220"/>
            <a:ext cx="26797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现状分析：硬件、</a:t>
            </a:r>
            <a:r>
              <a:rPr lang="en-US" altLang="zh-CN" sz="600">
                <a:solidFill>
                  <a:srgbClr val="657881"/>
                </a:solidFill>
                <a:latin typeface="Microsoft YaHei" panose="020B0503020204020204" pitchFamily="34" charset="-122"/>
              </a:rPr>
              <a:t>EMC </a:t>
            </a:r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已形成优势；机械与可靠性低于均值。</a:t>
            </a:r>
          </a:p>
        </p:txBody>
      </p:sp>
      <p:cxnSp>
        <p:nvCxnSpPr>
          <p:cNvPr id="295" name="tr-base">
            <a:extLst>
              <a:ext uri="{FF2B5EF4-FFF2-40B4-BE49-F238E27FC236}">
                <a16:creationId xmlns:a16="http://schemas.microsoft.com/office/drawing/2014/main" id="{EDEB4463-27EA-7414-F9DB-D920FB78996C}"/>
              </a:ext>
            </a:extLst>
          </p:cNvPr>
          <p:cNvCxnSpPr/>
          <p:nvPr/>
        </p:nvCxnSpPr>
        <p:spPr>
          <a:xfrm>
            <a:off x="9240520" y="5492750"/>
            <a:ext cx="2374900" cy="0"/>
          </a:xfrm>
          <a:prstGeom prst="line">
            <a:avLst/>
          </a:prstGeom>
          <a:ln w="10160">
            <a:solidFill>
              <a:srgbClr val="CBD6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tr-tgt">
            <a:extLst>
              <a:ext uri="{FF2B5EF4-FFF2-40B4-BE49-F238E27FC236}">
                <a16:creationId xmlns:a16="http://schemas.microsoft.com/office/drawing/2014/main" id="{5B955B15-AB30-4345-B3F5-5A752A353BEB}"/>
              </a:ext>
            </a:extLst>
          </p:cNvPr>
          <p:cNvCxnSpPr/>
          <p:nvPr/>
        </p:nvCxnSpPr>
        <p:spPr>
          <a:xfrm>
            <a:off x="9240520" y="5003800"/>
            <a:ext cx="2374900" cy="0"/>
          </a:xfrm>
          <a:prstGeom prst="line">
            <a:avLst/>
          </a:prstGeom>
          <a:ln w="12700">
            <a:solidFill>
              <a:srgbClr val="B96E6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tr-30">
            <a:extLst>
              <a:ext uri="{FF2B5EF4-FFF2-40B4-BE49-F238E27FC236}">
                <a16:creationId xmlns:a16="http://schemas.microsoft.com/office/drawing/2014/main" id="{F18F3A10-FF6C-B79C-651A-DCCEE5C5B946}"/>
              </a:ext>
            </a:extLst>
          </p:cNvPr>
          <p:cNvSpPr txBox="1"/>
          <p:nvPr/>
        </p:nvSpPr>
        <p:spPr>
          <a:xfrm>
            <a:off x="9037320" y="49530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>
              <a:solidFill>
                <a:srgbClr val="61747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98" name="tr-24">
            <a:extLst>
              <a:ext uri="{FF2B5EF4-FFF2-40B4-BE49-F238E27FC236}">
                <a16:creationId xmlns:a16="http://schemas.microsoft.com/office/drawing/2014/main" id="{923A5E7C-8DDF-65B0-B910-0FA739823AFB}"/>
              </a:ext>
            </a:extLst>
          </p:cNvPr>
          <p:cNvSpPr txBox="1"/>
          <p:nvPr/>
        </p:nvSpPr>
        <p:spPr>
          <a:xfrm>
            <a:off x="9037320" y="5469128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2.4</a:t>
            </a:r>
            <a:endParaRPr lang="zh-CN" altLang="en-US" sz="600">
              <a:solidFill>
                <a:srgbClr val="61747E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299" name="tr-team-l0">
            <a:extLst>
              <a:ext uri="{FF2B5EF4-FFF2-40B4-BE49-F238E27FC236}">
                <a16:creationId xmlns:a16="http://schemas.microsoft.com/office/drawing/2014/main" id="{EEC4C53E-E927-F50D-D69A-C860E33D37AF}"/>
              </a:ext>
            </a:extLst>
          </p:cNvPr>
          <p:cNvCxnSpPr/>
          <p:nvPr/>
        </p:nvCxnSpPr>
        <p:spPr>
          <a:xfrm flipV="1">
            <a:off x="9427845" y="5281839"/>
            <a:ext cx="674159" cy="98425"/>
          </a:xfrm>
          <a:prstGeom prst="line">
            <a:avLst/>
          </a:prstGeom>
          <a:ln w="19050">
            <a:solidFill>
              <a:srgbClr val="1683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tr-team-l1">
            <a:extLst>
              <a:ext uri="{FF2B5EF4-FFF2-40B4-BE49-F238E27FC236}">
                <a16:creationId xmlns:a16="http://schemas.microsoft.com/office/drawing/2014/main" id="{647F66CE-118D-989D-243F-336015B55400}"/>
              </a:ext>
            </a:extLst>
          </p:cNvPr>
          <p:cNvCxnSpPr/>
          <p:nvPr/>
        </p:nvCxnSpPr>
        <p:spPr>
          <a:xfrm flipV="1">
            <a:off x="10102004" y="5162323"/>
            <a:ext cx="674158" cy="119516"/>
          </a:xfrm>
          <a:prstGeom prst="line">
            <a:avLst/>
          </a:prstGeom>
          <a:ln w="19050">
            <a:solidFill>
              <a:srgbClr val="1683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tr-team-l2">
            <a:extLst>
              <a:ext uri="{FF2B5EF4-FFF2-40B4-BE49-F238E27FC236}">
                <a16:creationId xmlns:a16="http://schemas.microsoft.com/office/drawing/2014/main" id="{74C4514D-81B5-0FB7-5DE0-03913183991E}"/>
              </a:ext>
            </a:extLst>
          </p:cNvPr>
          <p:cNvCxnSpPr/>
          <p:nvPr/>
        </p:nvCxnSpPr>
        <p:spPr>
          <a:xfrm flipV="1">
            <a:off x="10776162" y="5007655"/>
            <a:ext cx="674158" cy="154668"/>
          </a:xfrm>
          <a:prstGeom prst="line">
            <a:avLst/>
          </a:prstGeom>
          <a:ln w="19050">
            <a:solidFill>
              <a:srgbClr val="1683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tr-team-p0">
            <a:extLst>
              <a:ext uri="{FF2B5EF4-FFF2-40B4-BE49-F238E27FC236}">
                <a16:creationId xmlns:a16="http://schemas.microsoft.com/office/drawing/2014/main" id="{9927F399-2EC3-03AE-559E-B53E7C5BC2B5}"/>
              </a:ext>
            </a:extLst>
          </p:cNvPr>
          <p:cNvSpPr/>
          <p:nvPr/>
        </p:nvSpPr>
        <p:spPr>
          <a:xfrm>
            <a:off x="9404985" y="5357404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tr-team-p3">
            <a:extLst>
              <a:ext uri="{FF2B5EF4-FFF2-40B4-BE49-F238E27FC236}">
                <a16:creationId xmlns:a16="http://schemas.microsoft.com/office/drawing/2014/main" id="{BC63CECD-ACCA-0B49-0F7F-D8682E8A8647}"/>
              </a:ext>
            </a:extLst>
          </p:cNvPr>
          <p:cNvSpPr/>
          <p:nvPr/>
        </p:nvSpPr>
        <p:spPr>
          <a:xfrm>
            <a:off x="11427460" y="4984795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4" name="tr-dept-l0">
            <a:extLst>
              <a:ext uri="{FF2B5EF4-FFF2-40B4-BE49-F238E27FC236}">
                <a16:creationId xmlns:a16="http://schemas.microsoft.com/office/drawing/2014/main" id="{3AB976A1-9EB8-03C8-4ED4-6FD9E15769A2}"/>
              </a:ext>
            </a:extLst>
          </p:cNvPr>
          <p:cNvCxnSpPr/>
          <p:nvPr/>
        </p:nvCxnSpPr>
        <p:spPr>
          <a:xfrm flipV="1">
            <a:off x="9427845" y="5225597"/>
            <a:ext cx="674159" cy="84364"/>
          </a:xfrm>
          <a:prstGeom prst="line">
            <a:avLst/>
          </a:prstGeom>
          <a:ln w="19050">
            <a:solidFill>
              <a:srgbClr val="8298A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tr-dept-l1">
            <a:extLst>
              <a:ext uri="{FF2B5EF4-FFF2-40B4-BE49-F238E27FC236}">
                <a16:creationId xmlns:a16="http://schemas.microsoft.com/office/drawing/2014/main" id="{4F0155E0-0E41-2FB7-5633-5ACC6AAED998}"/>
              </a:ext>
            </a:extLst>
          </p:cNvPr>
          <p:cNvCxnSpPr/>
          <p:nvPr/>
        </p:nvCxnSpPr>
        <p:spPr>
          <a:xfrm flipV="1">
            <a:off x="10102004" y="5120141"/>
            <a:ext cx="674158" cy="105456"/>
          </a:xfrm>
          <a:prstGeom prst="line">
            <a:avLst/>
          </a:prstGeom>
          <a:ln w="19050">
            <a:solidFill>
              <a:srgbClr val="8298A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tr-dept-l2">
            <a:extLst>
              <a:ext uri="{FF2B5EF4-FFF2-40B4-BE49-F238E27FC236}">
                <a16:creationId xmlns:a16="http://schemas.microsoft.com/office/drawing/2014/main" id="{BF67C3AD-1456-456F-A381-C8AAA9A274CE}"/>
              </a:ext>
            </a:extLst>
          </p:cNvPr>
          <p:cNvCxnSpPr/>
          <p:nvPr/>
        </p:nvCxnSpPr>
        <p:spPr>
          <a:xfrm flipV="1">
            <a:off x="10776162" y="4972503"/>
            <a:ext cx="674158" cy="147638"/>
          </a:xfrm>
          <a:prstGeom prst="line">
            <a:avLst/>
          </a:prstGeom>
          <a:ln w="19050">
            <a:solidFill>
              <a:srgbClr val="8298A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tr-dept-p0">
            <a:extLst>
              <a:ext uri="{FF2B5EF4-FFF2-40B4-BE49-F238E27FC236}">
                <a16:creationId xmlns:a16="http://schemas.microsoft.com/office/drawing/2014/main" id="{BC3A4B14-42AD-2473-3358-A95CFA58ECC4}"/>
              </a:ext>
            </a:extLst>
          </p:cNvPr>
          <p:cNvSpPr/>
          <p:nvPr/>
        </p:nvSpPr>
        <p:spPr>
          <a:xfrm>
            <a:off x="9404985" y="5287101"/>
            <a:ext cx="45720" cy="45720"/>
          </a:xfrm>
          <a:prstGeom prst="ellipse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8" name="tr-dept-p3">
            <a:extLst>
              <a:ext uri="{FF2B5EF4-FFF2-40B4-BE49-F238E27FC236}">
                <a16:creationId xmlns:a16="http://schemas.microsoft.com/office/drawing/2014/main" id="{F0C0C38E-8CBB-3F67-71E3-C57937F3820F}"/>
              </a:ext>
            </a:extLst>
          </p:cNvPr>
          <p:cNvSpPr/>
          <p:nvPr/>
        </p:nvSpPr>
        <p:spPr>
          <a:xfrm>
            <a:off x="11427460" y="4949644"/>
            <a:ext cx="45720" cy="45720"/>
          </a:xfrm>
          <a:prstGeom prst="ellipse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9" name="tr-biz-l0">
            <a:extLst>
              <a:ext uri="{FF2B5EF4-FFF2-40B4-BE49-F238E27FC236}">
                <a16:creationId xmlns:a16="http://schemas.microsoft.com/office/drawing/2014/main" id="{72BD3A06-5F33-8C6E-8AC4-D26C9527F181}"/>
              </a:ext>
            </a:extLst>
          </p:cNvPr>
          <p:cNvCxnSpPr/>
          <p:nvPr/>
        </p:nvCxnSpPr>
        <p:spPr>
          <a:xfrm flipV="1">
            <a:off x="9427845" y="5253718"/>
            <a:ext cx="674159" cy="84364"/>
          </a:xfrm>
          <a:prstGeom prst="line">
            <a:avLst/>
          </a:prstGeom>
          <a:ln w="19050">
            <a:solidFill>
              <a:srgbClr val="B49A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tr-biz-l1">
            <a:extLst>
              <a:ext uri="{FF2B5EF4-FFF2-40B4-BE49-F238E27FC236}">
                <a16:creationId xmlns:a16="http://schemas.microsoft.com/office/drawing/2014/main" id="{620CB65E-F05B-F95D-EF1C-93E48E41B790}"/>
              </a:ext>
            </a:extLst>
          </p:cNvPr>
          <p:cNvCxnSpPr/>
          <p:nvPr/>
        </p:nvCxnSpPr>
        <p:spPr>
          <a:xfrm flipV="1">
            <a:off x="10102004" y="5141232"/>
            <a:ext cx="674158" cy="112486"/>
          </a:xfrm>
          <a:prstGeom prst="line">
            <a:avLst/>
          </a:prstGeom>
          <a:ln w="19050">
            <a:solidFill>
              <a:srgbClr val="B49A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tr-biz-l2">
            <a:extLst>
              <a:ext uri="{FF2B5EF4-FFF2-40B4-BE49-F238E27FC236}">
                <a16:creationId xmlns:a16="http://schemas.microsoft.com/office/drawing/2014/main" id="{2CDB878C-7293-F507-B88B-BF02F19845B9}"/>
              </a:ext>
            </a:extLst>
          </p:cNvPr>
          <p:cNvCxnSpPr/>
          <p:nvPr/>
        </p:nvCxnSpPr>
        <p:spPr>
          <a:xfrm flipV="1">
            <a:off x="10776162" y="5028747"/>
            <a:ext cx="674158" cy="112485"/>
          </a:xfrm>
          <a:prstGeom prst="line">
            <a:avLst/>
          </a:prstGeom>
          <a:ln w="19050">
            <a:solidFill>
              <a:srgbClr val="B49A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tr-biz-p0">
            <a:extLst>
              <a:ext uri="{FF2B5EF4-FFF2-40B4-BE49-F238E27FC236}">
                <a16:creationId xmlns:a16="http://schemas.microsoft.com/office/drawing/2014/main" id="{166A4099-B7C4-E3D3-6206-E4AEAFB8ECD7}"/>
              </a:ext>
            </a:extLst>
          </p:cNvPr>
          <p:cNvSpPr/>
          <p:nvPr/>
        </p:nvSpPr>
        <p:spPr>
          <a:xfrm>
            <a:off x="9404985" y="5315222"/>
            <a:ext cx="45720" cy="45720"/>
          </a:xfrm>
          <a:prstGeom prst="ellipse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3" name="tr-biz-p3">
            <a:extLst>
              <a:ext uri="{FF2B5EF4-FFF2-40B4-BE49-F238E27FC236}">
                <a16:creationId xmlns:a16="http://schemas.microsoft.com/office/drawing/2014/main" id="{CDFC7472-9FF3-A8E8-673B-58A43751D4A2}"/>
              </a:ext>
            </a:extLst>
          </p:cNvPr>
          <p:cNvSpPr/>
          <p:nvPr/>
        </p:nvSpPr>
        <p:spPr>
          <a:xfrm>
            <a:off x="11427460" y="5005886"/>
            <a:ext cx="45720" cy="45720"/>
          </a:xfrm>
          <a:prstGeom prst="ellipse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4" name="tr-m0">
            <a:extLst>
              <a:ext uri="{FF2B5EF4-FFF2-40B4-BE49-F238E27FC236}">
                <a16:creationId xmlns:a16="http://schemas.microsoft.com/office/drawing/2014/main" id="{934BCF41-6C32-BDFB-C9A9-E5F55409B7A4}"/>
              </a:ext>
            </a:extLst>
          </p:cNvPr>
          <p:cNvSpPr txBox="1"/>
          <p:nvPr/>
        </p:nvSpPr>
        <p:spPr>
          <a:xfrm>
            <a:off x="9300845" y="5664200"/>
            <a:ext cx="2794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9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月</a:t>
            </a:r>
          </a:p>
        </p:txBody>
      </p:sp>
      <p:sp>
        <p:nvSpPr>
          <p:cNvPr id="315" name="tr-m1">
            <a:extLst>
              <a:ext uri="{FF2B5EF4-FFF2-40B4-BE49-F238E27FC236}">
                <a16:creationId xmlns:a16="http://schemas.microsoft.com/office/drawing/2014/main" id="{AC9F11AB-798A-D090-90B4-ADDB82124D7D}"/>
              </a:ext>
            </a:extLst>
          </p:cNvPr>
          <p:cNvSpPr txBox="1"/>
          <p:nvPr/>
        </p:nvSpPr>
        <p:spPr>
          <a:xfrm>
            <a:off x="9975004" y="5664200"/>
            <a:ext cx="2794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10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月</a:t>
            </a:r>
          </a:p>
        </p:txBody>
      </p:sp>
      <p:sp>
        <p:nvSpPr>
          <p:cNvPr id="316" name="tr-m2">
            <a:extLst>
              <a:ext uri="{FF2B5EF4-FFF2-40B4-BE49-F238E27FC236}">
                <a16:creationId xmlns:a16="http://schemas.microsoft.com/office/drawing/2014/main" id="{5E91086C-E87C-37EF-DB64-A2900CB86B0C}"/>
              </a:ext>
            </a:extLst>
          </p:cNvPr>
          <p:cNvSpPr txBox="1"/>
          <p:nvPr/>
        </p:nvSpPr>
        <p:spPr>
          <a:xfrm>
            <a:off x="10649162" y="5664200"/>
            <a:ext cx="2794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11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月</a:t>
            </a:r>
          </a:p>
        </p:txBody>
      </p:sp>
      <p:sp>
        <p:nvSpPr>
          <p:cNvPr id="317" name="tr-m3">
            <a:extLst>
              <a:ext uri="{FF2B5EF4-FFF2-40B4-BE49-F238E27FC236}">
                <a16:creationId xmlns:a16="http://schemas.microsoft.com/office/drawing/2014/main" id="{129CC1DC-70C0-9F0F-797E-B26AA40307DA}"/>
              </a:ext>
            </a:extLst>
          </p:cNvPr>
          <p:cNvSpPr txBox="1"/>
          <p:nvPr/>
        </p:nvSpPr>
        <p:spPr>
          <a:xfrm>
            <a:off x="11323320" y="5664200"/>
            <a:ext cx="2794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12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月</a:t>
            </a:r>
          </a:p>
        </p:txBody>
      </p:sp>
      <p:sp>
        <p:nvSpPr>
          <p:cNvPr id="318" name="tr-lab1">
            <a:extLst>
              <a:ext uri="{FF2B5EF4-FFF2-40B4-BE49-F238E27FC236}">
                <a16:creationId xmlns:a16="http://schemas.microsoft.com/office/drawing/2014/main" id="{C8309C61-82F9-D8F6-5214-75F456DA43C0}"/>
              </a:ext>
            </a:extLst>
          </p:cNvPr>
          <p:cNvSpPr txBox="1"/>
          <p:nvPr/>
        </p:nvSpPr>
        <p:spPr>
          <a:xfrm>
            <a:off x="11005820" y="4927600"/>
            <a:ext cx="635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zh-CN" altLang="en-US" sz="600" b="1">
                <a:solidFill>
                  <a:srgbClr val="16837A"/>
                </a:solidFill>
                <a:latin typeface="Microsoft YaHei" panose="020B0503020204020204" pitchFamily="34" charset="-122"/>
              </a:rPr>
              <a:t>科组 </a:t>
            </a:r>
            <a:r>
              <a:rPr lang="en-US" altLang="zh-CN" sz="600" b="1">
                <a:solidFill>
                  <a:srgbClr val="16837A"/>
                </a:solidFill>
                <a:latin typeface="Microsoft YaHei" panose="020B0503020204020204" pitchFamily="34" charset="-122"/>
              </a:rPr>
              <a:t>3.12</a:t>
            </a:r>
            <a:endParaRPr lang="zh-CN" altLang="en-US" sz="600" b="1">
              <a:solidFill>
                <a:srgbClr val="16837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19" name="tr-lab2">
            <a:extLst>
              <a:ext uri="{FF2B5EF4-FFF2-40B4-BE49-F238E27FC236}">
                <a16:creationId xmlns:a16="http://schemas.microsoft.com/office/drawing/2014/main" id="{264D59A3-2327-35E1-BBBD-54E4638167B6}"/>
              </a:ext>
            </a:extLst>
          </p:cNvPr>
          <p:cNvSpPr txBox="1"/>
          <p:nvPr/>
        </p:nvSpPr>
        <p:spPr>
          <a:xfrm>
            <a:off x="11005820" y="5054600"/>
            <a:ext cx="635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zh-CN" altLang="en-US" sz="600" b="1">
                <a:solidFill>
                  <a:srgbClr val="8298A3"/>
                </a:solidFill>
                <a:latin typeface="Microsoft YaHei" panose="020B0503020204020204" pitchFamily="34" charset="-122"/>
              </a:rPr>
              <a:t>部门 </a:t>
            </a:r>
            <a:r>
              <a:rPr lang="en-US" altLang="zh-CN" sz="600" b="1">
                <a:solidFill>
                  <a:srgbClr val="8298A3"/>
                </a:solidFill>
                <a:latin typeface="Microsoft YaHei" panose="020B0503020204020204" pitchFamily="34" charset="-122"/>
              </a:rPr>
              <a:t>3.18</a:t>
            </a:r>
            <a:endParaRPr lang="zh-CN" altLang="en-US" sz="600" b="1">
              <a:solidFill>
                <a:srgbClr val="8298A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20" name="tr-lab3">
            <a:extLst>
              <a:ext uri="{FF2B5EF4-FFF2-40B4-BE49-F238E27FC236}">
                <a16:creationId xmlns:a16="http://schemas.microsoft.com/office/drawing/2014/main" id="{3050CFE2-A288-31B0-A50B-2A496E410512}"/>
              </a:ext>
            </a:extLst>
          </p:cNvPr>
          <p:cNvSpPr txBox="1"/>
          <p:nvPr/>
        </p:nvSpPr>
        <p:spPr>
          <a:xfrm>
            <a:off x="11005820" y="5181600"/>
            <a:ext cx="635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zh-CN" altLang="en-US" sz="600" b="1">
                <a:solidFill>
                  <a:srgbClr val="9B7840"/>
                </a:solidFill>
                <a:latin typeface="Microsoft YaHei" panose="020B0503020204020204" pitchFamily="34" charset="-122"/>
              </a:rPr>
              <a:t>业务 </a:t>
            </a:r>
            <a:r>
              <a:rPr lang="en-US" altLang="zh-CN" sz="600" b="1">
                <a:solidFill>
                  <a:srgbClr val="9B7840"/>
                </a:solidFill>
                <a:latin typeface="Microsoft YaHei" panose="020B0503020204020204" pitchFamily="34" charset="-122"/>
              </a:rPr>
              <a:t>3.08</a:t>
            </a:r>
            <a:endParaRPr lang="zh-CN" altLang="en-US" sz="600" b="1">
              <a:solidFill>
                <a:srgbClr val="9B784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21" name="adv0">
            <a:extLst>
              <a:ext uri="{FF2B5EF4-FFF2-40B4-BE49-F238E27FC236}">
                <a16:creationId xmlns:a16="http://schemas.microsoft.com/office/drawing/2014/main" id="{7A6DA8BE-DB18-6FAD-830C-0D625362E011}"/>
              </a:ext>
            </a:extLst>
          </p:cNvPr>
          <p:cNvSpPr/>
          <p:nvPr/>
        </p:nvSpPr>
        <p:spPr>
          <a:xfrm>
            <a:off x="9037320" y="5791200"/>
            <a:ext cx="2628900" cy="165100"/>
          </a:xfrm>
          <a:prstGeom prst="rect">
            <a:avLst/>
          </a:prstGeom>
          <a:solidFill>
            <a:srgbClr val="E8F1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2" name="adv0-b">
            <a:extLst>
              <a:ext uri="{FF2B5EF4-FFF2-40B4-BE49-F238E27FC236}">
                <a16:creationId xmlns:a16="http://schemas.microsoft.com/office/drawing/2014/main" id="{0230CF10-E4A7-CD40-A5E5-1B35933F9AC5}"/>
              </a:ext>
            </a:extLst>
          </p:cNvPr>
          <p:cNvSpPr/>
          <p:nvPr/>
        </p:nvSpPr>
        <p:spPr>
          <a:xfrm>
            <a:off x="9037320" y="5791200"/>
            <a:ext cx="25400" cy="1651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3" name="adv0-t">
            <a:extLst>
              <a:ext uri="{FF2B5EF4-FFF2-40B4-BE49-F238E27FC236}">
                <a16:creationId xmlns:a16="http://schemas.microsoft.com/office/drawing/2014/main" id="{CF7E4BDC-3F76-3C02-8C4C-6FAE1C33C0C8}"/>
              </a:ext>
            </a:extLst>
          </p:cNvPr>
          <p:cNvSpPr txBox="1"/>
          <p:nvPr/>
        </p:nvSpPr>
        <p:spPr>
          <a:xfrm>
            <a:off x="9088120" y="5824542"/>
            <a:ext cx="25527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科组：自动化低于部门均值，参考伺服测试组基线；</a:t>
            </a:r>
            <a:r>
              <a:rPr lang="en-US" altLang="zh-CN" sz="600">
                <a:solidFill>
                  <a:srgbClr val="536B76"/>
                </a:solidFill>
                <a:latin typeface="Microsoft YaHei" panose="020B0503020204020204" pitchFamily="34" charset="-122"/>
              </a:rPr>
              <a:t>10</a:t>
            </a:r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月交付。</a:t>
            </a:r>
          </a:p>
        </p:txBody>
      </p:sp>
      <p:sp>
        <p:nvSpPr>
          <p:cNvPr id="324" name="adv1">
            <a:extLst>
              <a:ext uri="{FF2B5EF4-FFF2-40B4-BE49-F238E27FC236}">
                <a16:creationId xmlns:a16="http://schemas.microsoft.com/office/drawing/2014/main" id="{2B4231C8-211F-FF33-D56C-F9A56DA225A3}"/>
              </a:ext>
            </a:extLst>
          </p:cNvPr>
          <p:cNvSpPr/>
          <p:nvPr/>
        </p:nvSpPr>
        <p:spPr>
          <a:xfrm>
            <a:off x="9037320" y="5969000"/>
            <a:ext cx="2628900" cy="165100"/>
          </a:xfrm>
          <a:prstGeom prst="rect">
            <a:avLst/>
          </a:prstGeom>
          <a:solidFill>
            <a:srgbClr val="EDF1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5" name="adv1-b">
            <a:extLst>
              <a:ext uri="{FF2B5EF4-FFF2-40B4-BE49-F238E27FC236}">
                <a16:creationId xmlns:a16="http://schemas.microsoft.com/office/drawing/2014/main" id="{8EC4A36B-388A-24BF-F0D5-D53BE3BF87BB}"/>
              </a:ext>
            </a:extLst>
          </p:cNvPr>
          <p:cNvSpPr/>
          <p:nvPr/>
        </p:nvSpPr>
        <p:spPr>
          <a:xfrm>
            <a:off x="9037320" y="5969000"/>
            <a:ext cx="25400" cy="16510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6" name="adv1-t">
            <a:extLst>
              <a:ext uri="{FF2B5EF4-FFF2-40B4-BE49-F238E27FC236}">
                <a16:creationId xmlns:a16="http://schemas.microsoft.com/office/drawing/2014/main" id="{A170E54C-AFCA-9C2A-043C-8CC4996D5022}"/>
              </a:ext>
            </a:extLst>
          </p:cNvPr>
          <p:cNvSpPr txBox="1"/>
          <p:nvPr/>
        </p:nvSpPr>
        <p:spPr>
          <a:xfrm>
            <a:off x="9088120" y="6002342"/>
            <a:ext cx="25527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部门：</a:t>
            </a:r>
            <a:r>
              <a:rPr lang="en-US" altLang="zh-CN" sz="600">
                <a:solidFill>
                  <a:srgbClr val="536B76"/>
                </a:solidFill>
                <a:latin typeface="Microsoft YaHei" panose="020B0503020204020204" pitchFamily="34" charset="-122"/>
              </a:rPr>
              <a:t>11</a:t>
            </a:r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月完成方案复审与共性能力验收。</a:t>
            </a:r>
          </a:p>
        </p:txBody>
      </p:sp>
      <p:sp>
        <p:nvSpPr>
          <p:cNvPr id="327" name="adv2">
            <a:extLst>
              <a:ext uri="{FF2B5EF4-FFF2-40B4-BE49-F238E27FC236}">
                <a16:creationId xmlns:a16="http://schemas.microsoft.com/office/drawing/2014/main" id="{19D49974-636B-D3AB-BD21-49E74A945E65}"/>
              </a:ext>
            </a:extLst>
          </p:cNvPr>
          <p:cNvSpPr/>
          <p:nvPr/>
        </p:nvSpPr>
        <p:spPr>
          <a:xfrm>
            <a:off x="9037320" y="6146800"/>
            <a:ext cx="2628900" cy="165100"/>
          </a:xfrm>
          <a:prstGeom prst="rect">
            <a:avLst/>
          </a:prstGeom>
          <a:solidFill>
            <a:srgbClr val="F3EDE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8" name="adv2-b">
            <a:extLst>
              <a:ext uri="{FF2B5EF4-FFF2-40B4-BE49-F238E27FC236}">
                <a16:creationId xmlns:a16="http://schemas.microsoft.com/office/drawing/2014/main" id="{4C84D369-DA01-08EA-C888-2C2B647365BB}"/>
              </a:ext>
            </a:extLst>
          </p:cNvPr>
          <p:cNvSpPr/>
          <p:nvPr/>
        </p:nvSpPr>
        <p:spPr>
          <a:xfrm>
            <a:off x="9037320" y="6146800"/>
            <a:ext cx="25400" cy="1651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9" name="adv2-t">
            <a:extLst>
              <a:ext uri="{FF2B5EF4-FFF2-40B4-BE49-F238E27FC236}">
                <a16:creationId xmlns:a16="http://schemas.microsoft.com/office/drawing/2014/main" id="{81B65C5E-1C86-7EC2-98DF-D6AAF4E61CB4}"/>
              </a:ext>
            </a:extLst>
          </p:cNvPr>
          <p:cNvSpPr txBox="1"/>
          <p:nvPr/>
        </p:nvSpPr>
        <p:spPr>
          <a:xfrm>
            <a:off x="9088120" y="6180142"/>
            <a:ext cx="25527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业务：</a:t>
            </a:r>
            <a:r>
              <a:rPr lang="en-US" altLang="zh-CN" sz="600">
                <a:solidFill>
                  <a:srgbClr val="536B76"/>
                </a:solidFill>
                <a:latin typeface="Microsoft YaHei" panose="020B0503020204020204" pitchFamily="34" charset="-122"/>
              </a:rPr>
              <a:t>12</a:t>
            </a:r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月补齐机械</a:t>
            </a:r>
            <a:r>
              <a:rPr lang="en-US" altLang="zh-CN" sz="600">
                <a:solidFill>
                  <a:srgbClr val="536B76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可靠性能力，预计得分 </a:t>
            </a:r>
            <a:r>
              <a:rPr lang="en-US" altLang="zh-CN" sz="600">
                <a:solidFill>
                  <a:srgbClr val="536B76"/>
                </a:solidFill>
                <a:latin typeface="Microsoft YaHei" panose="020B0503020204020204" pitchFamily="34" charset="-122"/>
              </a:rPr>
              <a:t>3.08</a:t>
            </a:r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330" name="risk">
            <a:extLst>
              <a:ext uri="{FF2B5EF4-FFF2-40B4-BE49-F238E27FC236}">
                <a16:creationId xmlns:a16="http://schemas.microsoft.com/office/drawing/2014/main" id="{895996B4-B9CC-B212-5976-C9CF8F25B4BE}"/>
              </a:ext>
            </a:extLst>
          </p:cNvPr>
          <p:cNvSpPr txBox="1"/>
          <p:nvPr/>
        </p:nvSpPr>
        <p:spPr>
          <a:xfrm>
            <a:off x="9037320" y="6357620"/>
            <a:ext cx="262890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年度目标达成风险评估：当前存在两项短板；按交付计划推进，</a:t>
            </a:r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12</a:t>
            </a:r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月可达 </a:t>
            </a:r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3.0+</a:t>
            </a:r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010147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636</Words>
  <Application>Microsoft Office PowerPoint</Application>
  <PresentationFormat>自定义</PresentationFormat>
  <Paragraphs>143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Microsoft YaHei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qy d</dc:creator>
  <cp:lastModifiedBy>qy d</cp:lastModifiedBy>
  <cp:revision>1</cp:revision>
  <dcterms:created xsi:type="dcterms:W3CDTF">2026-09-03T09:54:33Z</dcterms:created>
  <dcterms:modified xsi:type="dcterms:W3CDTF">2026-09-03T09:54:33Z</dcterms:modified>
</cp:coreProperties>
</file>