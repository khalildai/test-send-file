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102" y="4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EE76DEB-69E3-3D70-C652-687EAEC0F49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C5B41140-7491-6BCA-AA7D-E791AF8F296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0A6B47C-1FCB-2A85-AD62-E5C1B0E565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31C6054-67F2-E521-0DB7-17733C252B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D85B32A-FABF-86A5-2CD8-074C6F450C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1531849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32FD475-0658-3823-FFC5-0E5488D809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435AABF1-9155-5088-2153-C1222D09CA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745F435-26E0-9522-21EB-FCFEB22350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87B02F4-D4C1-4AFE-0A8E-316DF0796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C3F3CC7-0416-1F6E-A596-610CFA4294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915115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69CFC6D-7FB4-7D7B-04E4-B49DBF3427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EF69795-9ED1-4CCA-D2D5-20877230A5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DCD67EC-0971-03E2-BEEC-4CC5F6F35C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B2F493B-3D18-9902-5366-7A28CE0589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86DB0EA6-CB0D-ACA5-DB64-732D809AE7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93583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781374B7-BF4A-0913-FBF8-5507B6FDA9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D1133ABE-1E73-F691-EB11-E6FD3016033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8A42B69-463C-FF4E-0127-B29130B9A6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8966F2D6-F01D-4D37-571F-13734AACB5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06303A3F-20A1-23F3-D949-8AEFC58566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C37FC8DB-7490-D860-5E9C-C9864E8F50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08718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C8CD321-222A-0AB4-60D1-CD7277259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1FCB08B2-E28F-B963-9C09-C1A42D6D3E4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C393CB9-7431-C1C3-0C02-777A621B5BF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7FF39A7F-0538-33CA-EDAE-A6D2B267E97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E8A74964-7D89-F6E2-77A8-FEC7080579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0CF5553B-11BF-171F-30E1-F3E898E61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ABFE7B01-D50C-EA65-20C6-8EFE48C2CC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39A5461-3326-934F-3DC6-48C561E581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64092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1176BF7B-5E83-C3D3-8974-7C61D90B43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45B65CC0-F64D-33F7-93B7-26DC2B6D97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753BE576-0082-5EFB-FCAC-385456A1BF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8A237392-BD6E-6822-07AB-D67D231DAD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7387315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A4A10CC5-61A2-5738-D03B-951BF0BE37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1409B0E-C621-5970-EF58-B8EECF7CE3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E57093E0-94B8-1F83-73DD-AB7A46EA79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4329696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5205E01-63D3-C13C-8A24-D2D8124031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68710828-1212-658A-4C2C-AA3A2E0AD5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E40D5BB-FB54-2B69-9419-64123C47CAC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C3728CD-714E-4C7B-A414-C9AE55DAF5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4506815-6D38-E53A-35B1-4110EF8162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8CB3E35-CA4F-434B-8AD1-F6C1BD1E1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257316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60C506F-2E76-F213-9D56-43CF1467E8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96CC0BA3-D77A-0558-7E0B-87F14101D4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C729B4AB-43F6-2582-D66F-1EE14F70FC9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DC0B15BB-5C06-18D8-D812-124830D6E8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4BE59627-4787-E940-E841-1F878B07A1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F73E865F-2519-1909-3009-BBEE52141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613884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F9AC2A5B-95C6-2795-3814-3D18126D99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3E7C2110-F619-2059-438E-A78F98AAC2A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5B4D182-85F6-978B-3AE1-4403A9FEE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ED3F8C37-F284-D370-9777-A04FA5898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B5292C2C-16EA-A238-8659-7FF659B4F6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502382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3AB1FBD4-BBBC-C8C2-A613-4E1495529D4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3EFEE06-32C4-2B3D-5BD2-9476C5E81AB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6B9CC85-2F46-CC56-84E7-22068B96C1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C528E86-32CD-7638-CB61-75296247C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5576DA4-045C-6E24-74AD-43A7D046E0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00189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D2EFE43-9224-0D51-20CE-147F442031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D48420A-7229-3C20-1DA3-B60FB153186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885EF55-3388-D490-5BB8-0E08C2404F3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0ACDE60-5CDB-4CE2-87B5-6014796003FC}" type="datetimeFigureOut">
              <a:rPr lang="zh-CN" altLang="en-US" smtClean="0"/>
              <a:t>2026/9/3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52E9EA94-36C3-1E6D-CDFB-70A38327B9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DA42C1B-42B4-5B99-E503-C31421E668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4ADA61C-E415-4CAB-BB46-BA2D27A8B36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42397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ccent-left">
            <a:extLst>
              <a:ext uri="{FF2B5EF4-FFF2-40B4-BE49-F238E27FC236}">
                <a16:creationId xmlns:a16="http://schemas.microsoft.com/office/drawing/2014/main" id="{62552966-3587-4BDC-D225-87525CEBFFBA}"/>
              </a:ext>
            </a:extLst>
          </p:cNvPr>
          <p:cNvSpPr/>
          <p:nvPr/>
        </p:nvSpPr>
        <p:spPr>
          <a:xfrm>
            <a:off x="0" y="0"/>
            <a:ext cx="91440" cy="6858000"/>
          </a:xfrm>
          <a:prstGeom prst="rect">
            <a:avLst/>
          </a:prstGeom>
          <a:solidFill>
            <a:srgbClr val="B979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" name="title">
            <a:extLst>
              <a:ext uri="{FF2B5EF4-FFF2-40B4-BE49-F238E27FC236}">
                <a16:creationId xmlns:a16="http://schemas.microsoft.com/office/drawing/2014/main" id="{C11F9973-C834-3619-025A-1719B5AF1BCB}"/>
              </a:ext>
            </a:extLst>
          </p:cNvPr>
          <p:cNvSpPr txBox="1"/>
          <p:nvPr/>
        </p:nvSpPr>
        <p:spPr>
          <a:xfrm>
            <a:off x="472440" y="170502"/>
            <a:ext cx="10165080" cy="37959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2300" b="1">
                <a:solidFill>
                  <a:srgbClr val="173650"/>
                </a:solidFill>
                <a:latin typeface="Microsoft YaHei" panose="020B0503020204020204" pitchFamily="34" charset="-122"/>
              </a:rPr>
              <a:t>测试能力成熟度：从专项评分到持续能力经营</a:t>
            </a:r>
          </a:p>
        </p:txBody>
      </p:sp>
      <p:sp>
        <p:nvSpPr>
          <p:cNvPr id="4" name="subtitle">
            <a:extLst>
              <a:ext uri="{FF2B5EF4-FFF2-40B4-BE49-F238E27FC236}">
                <a16:creationId xmlns:a16="http://schemas.microsoft.com/office/drawing/2014/main" id="{D5CC5A2A-374B-257A-DDAD-C58BB73C33B3}"/>
              </a:ext>
            </a:extLst>
          </p:cNvPr>
          <p:cNvSpPr txBox="1"/>
          <p:nvPr/>
        </p:nvSpPr>
        <p:spPr>
          <a:xfrm>
            <a:off x="472440" y="441960"/>
            <a:ext cx="1016508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900">
                <a:solidFill>
                  <a:srgbClr val="5C707A"/>
                </a:solidFill>
                <a:latin typeface="Microsoft YaHei" panose="020B0503020204020204" pitchFamily="34" charset="-122"/>
              </a:rPr>
              <a:t>统一能力供给与目标标尺，持续跟踪建设进度，让成熟度结果真正驱动业务升级</a:t>
            </a:r>
          </a:p>
        </p:txBody>
      </p:sp>
      <p:sp>
        <p:nvSpPr>
          <p:cNvPr id="5" name="edition">
            <a:extLst>
              <a:ext uri="{FF2B5EF4-FFF2-40B4-BE49-F238E27FC236}">
                <a16:creationId xmlns:a16="http://schemas.microsoft.com/office/drawing/2014/main" id="{BAFFA850-5379-D416-44B8-249CF23FE467}"/>
              </a:ext>
            </a:extLst>
          </p:cNvPr>
          <p:cNvSpPr txBox="1"/>
          <p:nvPr/>
        </p:nvSpPr>
        <p:spPr>
          <a:xfrm>
            <a:off x="10662920" y="200982"/>
            <a:ext cx="1117600" cy="194925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r"/>
            <a:r>
              <a:rPr lang="en-US" altLang="zh-CN" sz="1100" b="1">
                <a:solidFill>
                  <a:srgbClr val="16837A"/>
                </a:solidFill>
                <a:latin typeface="Microsoft YaHei" panose="020B0503020204020204" pitchFamily="34" charset="-122"/>
              </a:rPr>
              <a:t>2025 → 2026</a:t>
            </a:r>
            <a:endParaRPr lang="zh-CN" altLang="en-US" sz="1100" b="1">
              <a:solidFill>
                <a:srgbClr val="16837A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6" name="topline">
            <a:extLst>
              <a:ext uri="{FF2B5EF4-FFF2-40B4-BE49-F238E27FC236}">
                <a16:creationId xmlns:a16="http://schemas.microsoft.com/office/drawing/2014/main" id="{8D251338-0324-7A1B-5AE9-F8C377755355}"/>
              </a:ext>
            </a:extLst>
          </p:cNvPr>
          <p:cNvCxnSpPr/>
          <p:nvPr/>
        </p:nvCxnSpPr>
        <p:spPr>
          <a:xfrm>
            <a:off x="472440" y="670560"/>
            <a:ext cx="11308080" cy="0"/>
          </a:xfrm>
          <a:prstGeom prst="line">
            <a:avLst/>
          </a:prstGeom>
          <a:ln w="15875">
            <a:solidFill>
              <a:srgbClr val="D4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era-old-bar">
            <a:extLst>
              <a:ext uri="{FF2B5EF4-FFF2-40B4-BE49-F238E27FC236}">
                <a16:creationId xmlns:a16="http://schemas.microsoft.com/office/drawing/2014/main" id="{7FA471B3-93E9-063F-C841-1F818389AE6E}"/>
              </a:ext>
            </a:extLst>
          </p:cNvPr>
          <p:cNvSpPr/>
          <p:nvPr/>
        </p:nvSpPr>
        <p:spPr>
          <a:xfrm>
            <a:off x="472440" y="754380"/>
            <a:ext cx="45720" cy="365760"/>
          </a:xfrm>
          <a:prstGeom prst="rect">
            <a:avLst/>
          </a:prstGeom>
          <a:solidFill>
            <a:srgbClr val="83939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" name="era-old">
            <a:extLst>
              <a:ext uri="{FF2B5EF4-FFF2-40B4-BE49-F238E27FC236}">
                <a16:creationId xmlns:a16="http://schemas.microsoft.com/office/drawing/2014/main" id="{374DD9A2-9510-DA4E-D68E-C018E2082518}"/>
              </a:ext>
            </a:extLst>
          </p:cNvPr>
          <p:cNvSpPr/>
          <p:nvPr/>
        </p:nvSpPr>
        <p:spPr>
          <a:xfrm>
            <a:off x="518160" y="754380"/>
            <a:ext cx="5295900" cy="365760"/>
          </a:xfrm>
          <a:prstGeom prst="rect">
            <a:avLst/>
          </a:prstGeom>
          <a:solidFill>
            <a:srgbClr val="E5E8E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" name="era-old-y">
            <a:extLst>
              <a:ext uri="{FF2B5EF4-FFF2-40B4-BE49-F238E27FC236}">
                <a16:creationId xmlns:a16="http://schemas.microsoft.com/office/drawing/2014/main" id="{85E9A692-6454-4F80-2674-87FCE486EFFE}"/>
              </a:ext>
            </a:extLst>
          </p:cNvPr>
          <p:cNvSpPr txBox="1"/>
          <p:nvPr/>
        </p:nvSpPr>
        <p:spPr>
          <a:xfrm>
            <a:off x="548640" y="787722"/>
            <a:ext cx="346249" cy="194925"/>
          </a:xfrm>
          <a:prstGeom prst="rect">
            <a:avLst/>
          </a:prstGeom>
          <a:noFill/>
        </p:spPr>
        <p:txBody>
          <a:bodyPr vert="horz" wrap="none" lIns="0" tIns="12700" rIns="0" bIns="12700" rtlCol="0" anchor="ctr">
            <a:spAutoFit/>
          </a:bodyPr>
          <a:lstStyle/>
          <a:p>
            <a:r>
              <a:rPr lang="en-US" altLang="zh-CN" sz="1100" b="1">
                <a:solidFill>
                  <a:srgbClr val="173650"/>
                </a:solidFill>
                <a:latin typeface="Microsoft YaHei" panose="020B0503020204020204" pitchFamily="34" charset="-122"/>
              </a:rPr>
              <a:t>2025</a:t>
            </a:r>
            <a:endParaRPr lang="zh-CN" altLang="en-US" sz="11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0" name="era-old-t">
            <a:extLst>
              <a:ext uri="{FF2B5EF4-FFF2-40B4-BE49-F238E27FC236}">
                <a16:creationId xmlns:a16="http://schemas.microsoft.com/office/drawing/2014/main" id="{E293E0CA-86DB-BFF2-0836-DFB4D5C65B0A}"/>
              </a:ext>
            </a:extLst>
          </p:cNvPr>
          <p:cNvSpPr txBox="1"/>
          <p:nvPr/>
        </p:nvSpPr>
        <p:spPr>
          <a:xfrm>
            <a:off x="1234440" y="805180"/>
            <a:ext cx="447802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294858"/>
                </a:solidFill>
                <a:latin typeface="Microsoft YaHei" panose="020B0503020204020204" pitchFamily="34" charset="-122"/>
              </a:rPr>
              <a:t>专项评分</a:t>
            </a:r>
          </a:p>
        </p:txBody>
      </p:sp>
      <p:sp>
        <p:nvSpPr>
          <p:cNvPr id="11" name="era-old-s">
            <a:extLst>
              <a:ext uri="{FF2B5EF4-FFF2-40B4-BE49-F238E27FC236}">
                <a16:creationId xmlns:a16="http://schemas.microsoft.com/office/drawing/2014/main" id="{DA1A8E7F-4DDD-8880-B647-47AF6DF6FD53}"/>
              </a:ext>
            </a:extLst>
          </p:cNvPr>
          <p:cNvSpPr txBox="1"/>
          <p:nvPr/>
        </p:nvSpPr>
        <p:spPr>
          <a:xfrm>
            <a:off x="1234440" y="1033780"/>
            <a:ext cx="447802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科组自选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阶段运营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平均得分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2.5</a:t>
            </a:r>
            <a:endParaRPr lang="zh-CN" altLang="en-US" sz="600">
              <a:solidFill>
                <a:srgbClr val="6477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2" name="era-evolve">
            <a:extLst>
              <a:ext uri="{FF2B5EF4-FFF2-40B4-BE49-F238E27FC236}">
                <a16:creationId xmlns:a16="http://schemas.microsoft.com/office/drawing/2014/main" id="{3F81B325-6A78-C095-C165-DA2816CDA8AF}"/>
              </a:ext>
            </a:extLst>
          </p:cNvPr>
          <p:cNvSpPr/>
          <p:nvPr/>
        </p:nvSpPr>
        <p:spPr>
          <a:xfrm>
            <a:off x="5814060" y="779780"/>
            <a:ext cx="624840" cy="314960"/>
          </a:xfrm>
          <a:prstGeom prst="chevron">
            <a:avLst/>
          </a:prstGeom>
          <a:solidFill>
            <a:srgbClr val="C99A5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800" tIns="12700" rIns="127000" bIns="1270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重构</a:t>
            </a:r>
          </a:p>
        </p:txBody>
      </p:sp>
      <p:sp>
        <p:nvSpPr>
          <p:cNvPr id="13" name="era-new">
            <a:extLst>
              <a:ext uri="{FF2B5EF4-FFF2-40B4-BE49-F238E27FC236}">
                <a16:creationId xmlns:a16="http://schemas.microsoft.com/office/drawing/2014/main" id="{8589618A-C331-2F61-8A56-3E7F9860DA5E}"/>
              </a:ext>
            </a:extLst>
          </p:cNvPr>
          <p:cNvSpPr/>
          <p:nvPr/>
        </p:nvSpPr>
        <p:spPr>
          <a:xfrm>
            <a:off x="6438900" y="754380"/>
            <a:ext cx="5295900" cy="365760"/>
          </a:xfrm>
          <a:prstGeom prst="rect">
            <a:avLst/>
          </a:prstGeom>
          <a:solidFill>
            <a:srgbClr val="DCEF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" name="era-new-bar">
            <a:extLst>
              <a:ext uri="{FF2B5EF4-FFF2-40B4-BE49-F238E27FC236}">
                <a16:creationId xmlns:a16="http://schemas.microsoft.com/office/drawing/2014/main" id="{D7CEF799-EFE4-4527-C3AB-EA95C3EE6F47}"/>
              </a:ext>
            </a:extLst>
          </p:cNvPr>
          <p:cNvSpPr/>
          <p:nvPr/>
        </p:nvSpPr>
        <p:spPr>
          <a:xfrm>
            <a:off x="11734800" y="754380"/>
            <a:ext cx="45720" cy="36576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" name="era-new-y">
            <a:extLst>
              <a:ext uri="{FF2B5EF4-FFF2-40B4-BE49-F238E27FC236}">
                <a16:creationId xmlns:a16="http://schemas.microsoft.com/office/drawing/2014/main" id="{3BB2FAAB-C0B5-241D-1EBF-FD44CF115786}"/>
              </a:ext>
            </a:extLst>
          </p:cNvPr>
          <p:cNvSpPr txBox="1"/>
          <p:nvPr/>
        </p:nvSpPr>
        <p:spPr>
          <a:xfrm>
            <a:off x="6515100" y="787722"/>
            <a:ext cx="346249" cy="194925"/>
          </a:xfrm>
          <a:prstGeom prst="rect">
            <a:avLst/>
          </a:prstGeom>
          <a:noFill/>
        </p:spPr>
        <p:txBody>
          <a:bodyPr vert="horz" wrap="none" lIns="0" tIns="12700" rIns="0" bIns="12700" rtlCol="0" anchor="ctr">
            <a:spAutoFit/>
          </a:bodyPr>
          <a:lstStyle/>
          <a:p>
            <a:r>
              <a:rPr lang="en-US" altLang="zh-CN" sz="1100" b="1">
                <a:solidFill>
                  <a:srgbClr val="173650"/>
                </a:solidFill>
                <a:latin typeface="Microsoft YaHei" panose="020B0503020204020204" pitchFamily="34" charset="-122"/>
              </a:rPr>
              <a:t>2026</a:t>
            </a:r>
            <a:endParaRPr lang="zh-CN" altLang="en-US" sz="11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6" name="era-new-t">
            <a:extLst>
              <a:ext uri="{FF2B5EF4-FFF2-40B4-BE49-F238E27FC236}">
                <a16:creationId xmlns:a16="http://schemas.microsoft.com/office/drawing/2014/main" id="{EF26B9CC-FE63-963B-237B-9309E9BD7FFB}"/>
              </a:ext>
            </a:extLst>
          </p:cNvPr>
          <p:cNvSpPr txBox="1"/>
          <p:nvPr/>
        </p:nvSpPr>
        <p:spPr>
          <a:xfrm>
            <a:off x="7200900" y="805180"/>
            <a:ext cx="447802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294858"/>
                </a:solidFill>
                <a:latin typeface="Microsoft YaHei" panose="020B0503020204020204" pitchFamily="34" charset="-122"/>
              </a:rPr>
              <a:t>持续能力经营</a:t>
            </a:r>
          </a:p>
        </p:txBody>
      </p:sp>
      <p:sp>
        <p:nvSpPr>
          <p:cNvPr id="17" name="era-new-s">
            <a:extLst>
              <a:ext uri="{FF2B5EF4-FFF2-40B4-BE49-F238E27FC236}">
                <a16:creationId xmlns:a16="http://schemas.microsoft.com/office/drawing/2014/main" id="{3359DEF0-6CFA-0326-4259-83F077FAAF59}"/>
              </a:ext>
            </a:extLst>
          </p:cNvPr>
          <p:cNvSpPr txBox="1"/>
          <p:nvPr/>
        </p:nvSpPr>
        <p:spPr>
          <a:xfrm>
            <a:off x="7200900" y="1033780"/>
            <a:ext cx="447802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统一供给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持续运营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47780"/>
                </a:solidFill>
                <a:latin typeface="Microsoft YaHei" panose="020B0503020204020204" pitchFamily="34" charset="-122"/>
              </a:rPr>
              <a:t>各领域目标 </a:t>
            </a:r>
            <a:r>
              <a:rPr lang="en-US" altLang="zh-CN" sz="600">
                <a:solidFill>
                  <a:srgbClr val="647780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64778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" name="special-bg">
            <a:extLst>
              <a:ext uri="{FF2B5EF4-FFF2-40B4-BE49-F238E27FC236}">
                <a16:creationId xmlns:a16="http://schemas.microsoft.com/office/drawing/2014/main" id="{3BCCD089-CB90-04D4-E450-4E72E88188DF}"/>
              </a:ext>
            </a:extLst>
          </p:cNvPr>
          <p:cNvSpPr/>
          <p:nvPr/>
        </p:nvSpPr>
        <p:spPr>
          <a:xfrm>
            <a:off x="472440" y="1196340"/>
            <a:ext cx="11308080" cy="624840"/>
          </a:xfrm>
          <a:prstGeom prst="rect">
            <a:avLst/>
          </a:prstGeom>
          <a:solidFill>
            <a:srgbClr val="E4EEEE"/>
          </a:solidFill>
          <a:ln w="7620">
            <a:solidFill>
              <a:srgbClr val="C9D9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" name="special-div">
            <a:extLst>
              <a:ext uri="{FF2B5EF4-FFF2-40B4-BE49-F238E27FC236}">
                <a16:creationId xmlns:a16="http://schemas.microsoft.com/office/drawing/2014/main" id="{148537B9-5E48-7719-E552-D7D304C20EE4}"/>
              </a:ext>
            </a:extLst>
          </p:cNvPr>
          <p:cNvSpPr/>
          <p:nvPr/>
        </p:nvSpPr>
        <p:spPr>
          <a:xfrm>
            <a:off x="2034540" y="1196340"/>
            <a:ext cx="7620" cy="624840"/>
          </a:xfrm>
          <a:prstGeom prst="rect">
            <a:avLst/>
          </a:prstGeom>
          <a:solidFill>
            <a:srgbClr val="C9D9D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0" name="special-title">
            <a:extLst>
              <a:ext uri="{FF2B5EF4-FFF2-40B4-BE49-F238E27FC236}">
                <a16:creationId xmlns:a16="http://schemas.microsoft.com/office/drawing/2014/main" id="{0A21F472-AAAF-14EE-47FA-635E664C53A4}"/>
              </a:ext>
            </a:extLst>
          </p:cNvPr>
          <p:cNvSpPr txBox="1"/>
          <p:nvPr/>
        </p:nvSpPr>
        <p:spPr>
          <a:xfrm>
            <a:off x="548640" y="1272540"/>
            <a:ext cx="14478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200" b="1">
                <a:solidFill>
                  <a:srgbClr val="1F555A"/>
                </a:solidFill>
                <a:latin typeface="Microsoft YaHei" panose="020B0503020204020204" pitchFamily="34" charset="-122"/>
              </a:rPr>
              <a:t>专项价值</a:t>
            </a:r>
          </a:p>
        </p:txBody>
      </p:sp>
      <p:sp>
        <p:nvSpPr>
          <p:cNvPr id="21" name="special-desc">
            <a:extLst>
              <a:ext uri="{FF2B5EF4-FFF2-40B4-BE49-F238E27FC236}">
                <a16:creationId xmlns:a16="http://schemas.microsoft.com/office/drawing/2014/main" id="{1545C79D-96DE-2FBA-F8F0-AE2C93A06999}"/>
              </a:ext>
            </a:extLst>
          </p:cNvPr>
          <p:cNvSpPr txBox="1"/>
          <p:nvPr/>
        </p:nvSpPr>
        <p:spPr>
          <a:xfrm>
            <a:off x="548640" y="1526540"/>
            <a:ext cx="14478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5D747C"/>
                </a:solidFill>
                <a:latin typeface="Microsoft YaHei" panose="020B0503020204020204" pitchFamily="34" charset="-122"/>
              </a:rPr>
              <a:t>成熟度不止输出得分，更把差距转为能力交付、业务改进与资源决策。</a:t>
            </a:r>
          </a:p>
        </p:txBody>
      </p:sp>
      <p:sp>
        <p:nvSpPr>
          <p:cNvPr id="22" name="role1-bg">
            <a:extLst>
              <a:ext uri="{FF2B5EF4-FFF2-40B4-BE49-F238E27FC236}">
                <a16:creationId xmlns:a16="http://schemas.microsoft.com/office/drawing/2014/main" id="{1FE3FACD-0360-9940-A670-CFD45E85FEE0}"/>
              </a:ext>
            </a:extLst>
          </p:cNvPr>
          <p:cNvSpPr/>
          <p:nvPr/>
        </p:nvSpPr>
        <p:spPr>
          <a:xfrm>
            <a:off x="2110740" y="1272540"/>
            <a:ext cx="3163993" cy="472440"/>
          </a:xfrm>
          <a:prstGeom prst="rect">
            <a:avLst/>
          </a:prstGeom>
          <a:solidFill>
            <a:srgbClr val="F7F9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role1-top">
            <a:extLst>
              <a:ext uri="{FF2B5EF4-FFF2-40B4-BE49-F238E27FC236}">
                <a16:creationId xmlns:a16="http://schemas.microsoft.com/office/drawing/2014/main" id="{24AF9F36-00CC-67AA-96AD-35411FC6D5AE}"/>
              </a:ext>
            </a:extLst>
          </p:cNvPr>
          <p:cNvSpPr/>
          <p:nvPr/>
        </p:nvSpPr>
        <p:spPr>
          <a:xfrm>
            <a:off x="2110740" y="1272540"/>
            <a:ext cx="3163993" cy="25400"/>
          </a:xfrm>
          <a:prstGeom prst="rect">
            <a:avLst/>
          </a:prstGeom>
          <a:solidFill>
            <a:srgbClr val="76A9A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role1-ico1">
            <a:extLst>
              <a:ext uri="{FF2B5EF4-FFF2-40B4-BE49-F238E27FC236}">
                <a16:creationId xmlns:a16="http://schemas.microsoft.com/office/drawing/2014/main" id="{7739BC0A-0FB5-B528-6138-039FE0F427F7}"/>
              </a:ext>
            </a:extLst>
          </p:cNvPr>
          <p:cNvSpPr/>
          <p:nvPr/>
        </p:nvSpPr>
        <p:spPr>
          <a:xfrm>
            <a:off x="2174240" y="1424940"/>
            <a:ext cx="88900" cy="88900"/>
          </a:xfrm>
          <a:prstGeom prst="ellipse">
            <a:avLst/>
          </a:prstGeom>
          <a:noFill/>
          <a:ln w="1143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role1-ico3">
            <a:extLst>
              <a:ext uri="{FF2B5EF4-FFF2-40B4-BE49-F238E27FC236}">
                <a16:creationId xmlns:a16="http://schemas.microsoft.com/office/drawing/2014/main" id="{F24A8D91-BB16-760A-FCD6-29DD8EA09B01}"/>
              </a:ext>
            </a:extLst>
          </p:cNvPr>
          <p:cNvSpPr/>
          <p:nvPr/>
        </p:nvSpPr>
        <p:spPr>
          <a:xfrm>
            <a:off x="2174240" y="1539240"/>
            <a:ext cx="152400" cy="63500"/>
          </a:xfrm>
          <a:prstGeom prst="roundRect">
            <a:avLst/>
          </a:prstGeom>
          <a:noFill/>
          <a:ln w="1143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role1-t">
            <a:extLst>
              <a:ext uri="{FF2B5EF4-FFF2-40B4-BE49-F238E27FC236}">
                <a16:creationId xmlns:a16="http://schemas.microsoft.com/office/drawing/2014/main" id="{B870D80A-FA38-F2F4-7B6C-2982EC68C79D}"/>
              </a:ext>
            </a:extLst>
          </p:cNvPr>
          <p:cNvSpPr txBox="1"/>
          <p:nvPr/>
        </p:nvSpPr>
        <p:spPr>
          <a:xfrm>
            <a:off x="2364740" y="1323340"/>
            <a:ext cx="28591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科组 </a:t>
            </a:r>
            <a:r>
              <a:rPr lang="en-US" altLang="zh-CN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/ </a:t>
            </a:r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部门</a:t>
            </a:r>
          </a:p>
        </p:txBody>
      </p:sp>
      <p:sp>
        <p:nvSpPr>
          <p:cNvPr id="27" name="role1-p">
            <a:extLst>
              <a:ext uri="{FF2B5EF4-FFF2-40B4-BE49-F238E27FC236}">
                <a16:creationId xmlns:a16="http://schemas.microsoft.com/office/drawing/2014/main" id="{CE4E57E6-F418-8025-9B0E-52EC473ACE2F}"/>
              </a:ext>
            </a:extLst>
          </p:cNvPr>
          <p:cNvSpPr txBox="1"/>
          <p:nvPr/>
        </p:nvSpPr>
        <p:spPr>
          <a:xfrm>
            <a:off x="2364740" y="1475740"/>
            <a:ext cx="28591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看清建设差距，明确补齐项和落地计划。</a:t>
            </a:r>
          </a:p>
        </p:txBody>
      </p:sp>
      <p:sp>
        <p:nvSpPr>
          <p:cNvPr id="28" name="role2-bg">
            <a:extLst>
              <a:ext uri="{FF2B5EF4-FFF2-40B4-BE49-F238E27FC236}">
                <a16:creationId xmlns:a16="http://schemas.microsoft.com/office/drawing/2014/main" id="{E43596BE-0560-5CDA-E4B5-CF5F4291CB41}"/>
              </a:ext>
            </a:extLst>
          </p:cNvPr>
          <p:cNvSpPr/>
          <p:nvPr/>
        </p:nvSpPr>
        <p:spPr>
          <a:xfrm>
            <a:off x="5350933" y="1272540"/>
            <a:ext cx="3163994" cy="472440"/>
          </a:xfrm>
          <a:prstGeom prst="rect">
            <a:avLst/>
          </a:prstGeom>
          <a:solidFill>
            <a:srgbClr val="F7F9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role2-top">
            <a:extLst>
              <a:ext uri="{FF2B5EF4-FFF2-40B4-BE49-F238E27FC236}">
                <a16:creationId xmlns:a16="http://schemas.microsoft.com/office/drawing/2014/main" id="{0203DACF-7A70-3958-7E6C-DBFC3BBE40A7}"/>
              </a:ext>
            </a:extLst>
          </p:cNvPr>
          <p:cNvSpPr/>
          <p:nvPr/>
        </p:nvSpPr>
        <p:spPr>
          <a:xfrm>
            <a:off x="5350933" y="1272540"/>
            <a:ext cx="3163994" cy="25400"/>
          </a:xfrm>
          <a:prstGeom prst="rect">
            <a:avLst/>
          </a:prstGeom>
          <a:solidFill>
            <a:srgbClr val="91A6A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role2-ico1">
            <a:extLst>
              <a:ext uri="{FF2B5EF4-FFF2-40B4-BE49-F238E27FC236}">
                <a16:creationId xmlns:a16="http://schemas.microsoft.com/office/drawing/2014/main" id="{C83DABA2-23AB-6D5A-E17C-1451664EE285}"/>
              </a:ext>
            </a:extLst>
          </p:cNvPr>
          <p:cNvSpPr/>
          <p:nvPr/>
        </p:nvSpPr>
        <p:spPr>
          <a:xfrm>
            <a:off x="5414433" y="1424940"/>
            <a:ext cx="88900" cy="88900"/>
          </a:xfrm>
          <a:prstGeom prst="ellipse">
            <a:avLst/>
          </a:prstGeom>
          <a:noFill/>
          <a:ln w="1143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1" name="role2-ico3">
            <a:extLst>
              <a:ext uri="{FF2B5EF4-FFF2-40B4-BE49-F238E27FC236}">
                <a16:creationId xmlns:a16="http://schemas.microsoft.com/office/drawing/2014/main" id="{CF5CB00B-0AA8-E4FD-64D0-0A1BFA82732B}"/>
              </a:ext>
            </a:extLst>
          </p:cNvPr>
          <p:cNvSpPr/>
          <p:nvPr/>
        </p:nvSpPr>
        <p:spPr>
          <a:xfrm>
            <a:off x="5414433" y="1539240"/>
            <a:ext cx="152400" cy="63500"/>
          </a:xfrm>
          <a:prstGeom prst="roundRect">
            <a:avLst/>
          </a:prstGeom>
          <a:noFill/>
          <a:ln w="1143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2" name="role2-t">
            <a:extLst>
              <a:ext uri="{FF2B5EF4-FFF2-40B4-BE49-F238E27FC236}">
                <a16:creationId xmlns:a16="http://schemas.microsoft.com/office/drawing/2014/main" id="{8872D4C2-B4C2-0554-D42B-F1A6041B87D7}"/>
              </a:ext>
            </a:extLst>
          </p:cNvPr>
          <p:cNvSpPr txBox="1"/>
          <p:nvPr/>
        </p:nvSpPr>
        <p:spPr>
          <a:xfrm>
            <a:off x="5604933" y="1323340"/>
            <a:ext cx="28591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能力 </a:t>
            </a:r>
            <a:r>
              <a:rPr lang="en-US" altLang="zh-CN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Owner</a:t>
            </a:r>
            <a:endParaRPr lang="zh-CN" altLang="en-US" sz="600" b="1">
              <a:solidFill>
                <a:srgbClr val="29485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33" name="role2-p">
            <a:extLst>
              <a:ext uri="{FF2B5EF4-FFF2-40B4-BE49-F238E27FC236}">
                <a16:creationId xmlns:a16="http://schemas.microsoft.com/office/drawing/2014/main" id="{602176F3-940E-FBAC-313A-85F50C123BC6}"/>
              </a:ext>
            </a:extLst>
          </p:cNvPr>
          <p:cNvSpPr txBox="1"/>
          <p:nvPr/>
        </p:nvSpPr>
        <p:spPr>
          <a:xfrm>
            <a:off x="5604933" y="1475740"/>
            <a:ext cx="28591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审视交付进度，推动 </a:t>
            </a:r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SP/BP 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目标兑现。</a:t>
            </a:r>
          </a:p>
        </p:txBody>
      </p:sp>
      <p:sp>
        <p:nvSpPr>
          <p:cNvPr id="34" name="role3-bg">
            <a:extLst>
              <a:ext uri="{FF2B5EF4-FFF2-40B4-BE49-F238E27FC236}">
                <a16:creationId xmlns:a16="http://schemas.microsoft.com/office/drawing/2014/main" id="{24639617-6E71-95E6-29C8-A06438C082FC}"/>
              </a:ext>
            </a:extLst>
          </p:cNvPr>
          <p:cNvSpPr/>
          <p:nvPr/>
        </p:nvSpPr>
        <p:spPr>
          <a:xfrm>
            <a:off x="8591127" y="1272540"/>
            <a:ext cx="3163993" cy="472440"/>
          </a:xfrm>
          <a:prstGeom prst="rect">
            <a:avLst/>
          </a:prstGeom>
          <a:solidFill>
            <a:srgbClr val="F7F9F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5" name="role3-top">
            <a:extLst>
              <a:ext uri="{FF2B5EF4-FFF2-40B4-BE49-F238E27FC236}">
                <a16:creationId xmlns:a16="http://schemas.microsoft.com/office/drawing/2014/main" id="{31EF8E24-2E5A-EB23-35A6-3B275D39DFB9}"/>
              </a:ext>
            </a:extLst>
          </p:cNvPr>
          <p:cNvSpPr/>
          <p:nvPr/>
        </p:nvSpPr>
        <p:spPr>
          <a:xfrm>
            <a:off x="8591127" y="1272540"/>
            <a:ext cx="3163993" cy="25400"/>
          </a:xfrm>
          <a:prstGeom prst="rect">
            <a:avLst/>
          </a:prstGeom>
          <a:solidFill>
            <a:srgbClr val="C2A16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6" name="role3-ico1">
            <a:extLst>
              <a:ext uri="{FF2B5EF4-FFF2-40B4-BE49-F238E27FC236}">
                <a16:creationId xmlns:a16="http://schemas.microsoft.com/office/drawing/2014/main" id="{A562FB7F-E448-2B62-ADA8-F7EBB4D4D5F3}"/>
              </a:ext>
            </a:extLst>
          </p:cNvPr>
          <p:cNvSpPr/>
          <p:nvPr/>
        </p:nvSpPr>
        <p:spPr>
          <a:xfrm>
            <a:off x="8654627" y="1424940"/>
            <a:ext cx="88900" cy="88900"/>
          </a:xfrm>
          <a:prstGeom prst="ellipse">
            <a:avLst/>
          </a:prstGeom>
          <a:noFill/>
          <a:ln w="1143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role3-ico3">
            <a:extLst>
              <a:ext uri="{FF2B5EF4-FFF2-40B4-BE49-F238E27FC236}">
                <a16:creationId xmlns:a16="http://schemas.microsoft.com/office/drawing/2014/main" id="{0AE94C3A-1C31-3016-3ED8-50F08CB91D1A}"/>
              </a:ext>
            </a:extLst>
          </p:cNvPr>
          <p:cNvSpPr/>
          <p:nvPr/>
        </p:nvSpPr>
        <p:spPr>
          <a:xfrm>
            <a:off x="8654627" y="1539240"/>
            <a:ext cx="152400" cy="63500"/>
          </a:xfrm>
          <a:prstGeom prst="roundRect">
            <a:avLst/>
          </a:prstGeom>
          <a:noFill/>
          <a:ln w="11430" cap="flat" cmpd="sng" algn="ctr">
            <a:solidFill>
              <a:srgbClr val="506C7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8" name="role3-t">
            <a:extLst>
              <a:ext uri="{FF2B5EF4-FFF2-40B4-BE49-F238E27FC236}">
                <a16:creationId xmlns:a16="http://schemas.microsoft.com/office/drawing/2014/main" id="{A2D24D34-3C3E-A49B-B241-2DE66351FAFF}"/>
              </a:ext>
            </a:extLst>
          </p:cNvPr>
          <p:cNvSpPr txBox="1"/>
          <p:nvPr/>
        </p:nvSpPr>
        <p:spPr>
          <a:xfrm>
            <a:off x="8845127" y="1323340"/>
            <a:ext cx="28591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测试管理者</a:t>
            </a:r>
          </a:p>
        </p:txBody>
      </p:sp>
      <p:sp>
        <p:nvSpPr>
          <p:cNvPr id="39" name="role3-p">
            <a:extLst>
              <a:ext uri="{FF2B5EF4-FFF2-40B4-BE49-F238E27FC236}">
                <a16:creationId xmlns:a16="http://schemas.microsoft.com/office/drawing/2014/main" id="{91917301-8950-F7D1-67E0-20A8C1D271F0}"/>
              </a:ext>
            </a:extLst>
          </p:cNvPr>
          <p:cNvSpPr txBox="1"/>
          <p:nvPr/>
        </p:nvSpPr>
        <p:spPr>
          <a:xfrm>
            <a:off x="8845127" y="1475740"/>
            <a:ext cx="2859193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掌握整体进度，支撑规划与资源选择。</a:t>
            </a:r>
          </a:p>
        </p:txBody>
      </p:sp>
      <p:sp>
        <p:nvSpPr>
          <p:cNvPr id="40" name="m-corner">
            <a:extLst>
              <a:ext uri="{FF2B5EF4-FFF2-40B4-BE49-F238E27FC236}">
                <a16:creationId xmlns:a16="http://schemas.microsoft.com/office/drawing/2014/main" id="{78469D7D-55DF-A3CA-7B26-BFF34405F0D7}"/>
              </a:ext>
            </a:extLst>
          </p:cNvPr>
          <p:cNvSpPr/>
          <p:nvPr/>
        </p:nvSpPr>
        <p:spPr>
          <a:xfrm>
            <a:off x="472440" y="1912620"/>
            <a:ext cx="899160" cy="220980"/>
          </a:xfrm>
          <a:prstGeom prst="rect">
            <a:avLst/>
          </a:prstGeom>
          <a:solidFill>
            <a:srgbClr val="D8DFE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1" name="m-head-old">
            <a:extLst>
              <a:ext uri="{FF2B5EF4-FFF2-40B4-BE49-F238E27FC236}">
                <a16:creationId xmlns:a16="http://schemas.microsoft.com/office/drawing/2014/main" id="{23F31D3F-B267-25D9-1EF4-135656B51E97}"/>
              </a:ext>
            </a:extLst>
          </p:cNvPr>
          <p:cNvSpPr/>
          <p:nvPr/>
        </p:nvSpPr>
        <p:spPr>
          <a:xfrm>
            <a:off x="1371600" y="1912620"/>
            <a:ext cx="4358640" cy="220980"/>
          </a:xfrm>
          <a:prstGeom prst="rect">
            <a:avLst/>
          </a:prstGeom>
          <a:solidFill>
            <a:srgbClr val="E1E5E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2" name="m-head-old-t">
            <a:extLst>
              <a:ext uri="{FF2B5EF4-FFF2-40B4-BE49-F238E27FC236}">
                <a16:creationId xmlns:a16="http://schemas.microsoft.com/office/drawing/2014/main" id="{75DD6A13-52A8-664C-69BA-817320FBF6DE}"/>
              </a:ext>
            </a:extLst>
          </p:cNvPr>
          <p:cNvSpPr txBox="1"/>
          <p:nvPr/>
        </p:nvSpPr>
        <p:spPr>
          <a:xfrm>
            <a:off x="1371600" y="1945962"/>
            <a:ext cx="435864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900" b="1">
                <a:solidFill>
                  <a:srgbClr val="405863"/>
                </a:solidFill>
                <a:latin typeface="Microsoft YaHei" panose="020B0503020204020204" pitchFamily="34" charset="-122"/>
              </a:rPr>
              <a:t>2025 · </a:t>
            </a:r>
            <a:r>
              <a:rPr lang="zh-CN" altLang="en-US" sz="900" b="1">
                <a:solidFill>
                  <a:srgbClr val="405863"/>
                </a:solidFill>
                <a:latin typeface="Microsoft YaHei" panose="020B0503020204020204" pitchFamily="34" charset="-122"/>
              </a:rPr>
              <a:t>专项评分</a:t>
            </a:r>
          </a:p>
        </p:txBody>
      </p:sp>
      <p:sp>
        <p:nvSpPr>
          <p:cNvPr id="43" name="m-head-new">
            <a:extLst>
              <a:ext uri="{FF2B5EF4-FFF2-40B4-BE49-F238E27FC236}">
                <a16:creationId xmlns:a16="http://schemas.microsoft.com/office/drawing/2014/main" id="{447DCA82-A175-EC0B-43C1-31ECF6464D44}"/>
              </a:ext>
            </a:extLst>
          </p:cNvPr>
          <p:cNvSpPr/>
          <p:nvPr/>
        </p:nvSpPr>
        <p:spPr>
          <a:xfrm>
            <a:off x="5730240" y="1912620"/>
            <a:ext cx="6050280" cy="220980"/>
          </a:xfrm>
          <a:prstGeom prst="rect">
            <a:avLst/>
          </a:prstGeom>
          <a:solidFill>
            <a:srgbClr val="D8EBE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4" name="m-head-new-t">
            <a:extLst>
              <a:ext uri="{FF2B5EF4-FFF2-40B4-BE49-F238E27FC236}">
                <a16:creationId xmlns:a16="http://schemas.microsoft.com/office/drawing/2014/main" id="{AFD15C06-F056-21EE-ABCE-2347D6918D09}"/>
              </a:ext>
            </a:extLst>
          </p:cNvPr>
          <p:cNvSpPr txBox="1"/>
          <p:nvPr/>
        </p:nvSpPr>
        <p:spPr>
          <a:xfrm>
            <a:off x="5730240" y="1945962"/>
            <a:ext cx="6050280" cy="164148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900" b="1">
                <a:solidFill>
                  <a:srgbClr val="176B65"/>
                </a:solidFill>
                <a:latin typeface="Microsoft YaHei" panose="020B0503020204020204" pitchFamily="34" charset="-122"/>
              </a:rPr>
              <a:t>2026 · </a:t>
            </a:r>
            <a:r>
              <a:rPr lang="zh-CN" altLang="en-US" sz="900" b="1">
                <a:solidFill>
                  <a:srgbClr val="176B65"/>
                </a:solidFill>
                <a:latin typeface="Microsoft YaHei" panose="020B0503020204020204" pitchFamily="34" charset="-122"/>
              </a:rPr>
              <a:t>持续能力经营</a:t>
            </a:r>
          </a:p>
        </p:txBody>
      </p:sp>
      <p:sp>
        <p:nvSpPr>
          <p:cNvPr id="45" name="lab-design-bg">
            <a:extLst>
              <a:ext uri="{FF2B5EF4-FFF2-40B4-BE49-F238E27FC236}">
                <a16:creationId xmlns:a16="http://schemas.microsoft.com/office/drawing/2014/main" id="{6F5F8C42-BE7F-1142-8A7A-90EE807401D6}"/>
              </a:ext>
            </a:extLst>
          </p:cNvPr>
          <p:cNvSpPr/>
          <p:nvPr/>
        </p:nvSpPr>
        <p:spPr>
          <a:xfrm>
            <a:off x="472440" y="2133600"/>
            <a:ext cx="899160" cy="617220"/>
          </a:xfrm>
          <a:prstGeom prst="rect">
            <a:avLst/>
          </a:prstGeom>
          <a:solidFill>
            <a:srgbClr val="EDF0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6" name="lab-design-t">
            <a:extLst>
              <a:ext uri="{FF2B5EF4-FFF2-40B4-BE49-F238E27FC236}">
                <a16:creationId xmlns:a16="http://schemas.microsoft.com/office/drawing/2014/main" id="{2EB6B84A-4E58-AAD0-C306-624FC9204CD3}"/>
              </a:ext>
            </a:extLst>
          </p:cNvPr>
          <p:cNvSpPr txBox="1"/>
          <p:nvPr/>
        </p:nvSpPr>
        <p:spPr>
          <a:xfrm>
            <a:off x="523240" y="2184400"/>
            <a:ext cx="79756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173650"/>
                </a:solidFill>
                <a:latin typeface="Microsoft YaHei" panose="020B0503020204020204" pitchFamily="34" charset="-122"/>
              </a:rPr>
              <a:t>能力设计</a:t>
            </a:r>
          </a:p>
        </p:txBody>
      </p:sp>
      <p:sp>
        <p:nvSpPr>
          <p:cNvPr id="47" name="lab-design-s">
            <a:extLst>
              <a:ext uri="{FF2B5EF4-FFF2-40B4-BE49-F238E27FC236}">
                <a16:creationId xmlns:a16="http://schemas.microsoft.com/office/drawing/2014/main" id="{19ECC32B-52E3-2762-4C38-7A152D5E9B01}"/>
              </a:ext>
            </a:extLst>
          </p:cNvPr>
          <p:cNvSpPr txBox="1"/>
          <p:nvPr/>
        </p:nvSpPr>
        <p:spPr>
          <a:xfrm>
            <a:off x="523240" y="2387600"/>
            <a:ext cx="79756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供给、领域与目标</a:t>
            </a:r>
          </a:p>
        </p:txBody>
      </p:sp>
      <p:sp>
        <p:nvSpPr>
          <p:cNvPr id="48" name="lab-ops-bg">
            <a:extLst>
              <a:ext uri="{FF2B5EF4-FFF2-40B4-BE49-F238E27FC236}">
                <a16:creationId xmlns:a16="http://schemas.microsoft.com/office/drawing/2014/main" id="{78404652-D2DF-F900-3C84-56370B5D7E8A}"/>
              </a:ext>
            </a:extLst>
          </p:cNvPr>
          <p:cNvSpPr/>
          <p:nvPr/>
        </p:nvSpPr>
        <p:spPr>
          <a:xfrm>
            <a:off x="472440" y="2750820"/>
            <a:ext cx="899160" cy="518160"/>
          </a:xfrm>
          <a:prstGeom prst="rect">
            <a:avLst/>
          </a:prstGeom>
          <a:solidFill>
            <a:srgbClr val="EDF0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lab-ops-t">
            <a:extLst>
              <a:ext uri="{FF2B5EF4-FFF2-40B4-BE49-F238E27FC236}">
                <a16:creationId xmlns:a16="http://schemas.microsoft.com/office/drawing/2014/main" id="{11E4C2A5-CAEE-A06A-9B41-94BC8BC0C499}"/>
              </a:ext>
            </a:extLst>
          </p:cNvPr>
          <p:cNvSpPr txBox="1"/>
          <p:nvPr/>
        </p:nvSpPr>
        <p:spPr>
          <a:xfrm>
            <a:off x="523240" y="2801620"/>
            <a:ext cx="79756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173650"/>
                </a:solidFill>
                <a:latin typeface="Microsoft YaHei" panose="020B0503020204020204" pitchFamily="34" charset="-122"/>
              </a:rPr>
              <a:t>监控运营</a:t>
            </a:r>
          </a:p>
        </p:txBody>
      </p:sp>
      <p:sp>
        <p:nvSpPr>
          <p:cNvPr id="50" name="lab-ops-s">
            <a:extLst>
              <a:ext uri="{FF2B5EF4-FFF2-40B4-BE49-F238E27FC236}">
                <a16:creationId xmlns:a16="http://schemas.microsoft.com/office/drawing/2014/main" id="{0C8C2C80-B865-0CDE-B0CF-F07525842F91}"/>
              </a:ext>
            </a:extLst>
          </p:cNvPr>
          <p:cNvSpPr txBox="1"/>
          <p:nvPr/>
        </p:nvSpPr>
        <p:spPr>
          <a:xfrm>
            <a:off x="523240" y="3004820"/>
            <a:ext cx="79756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跟踪、验收与辅导</a:t>
            </a:r>
          </a:p>
        </p:txBody>
      </p:sp>
      <p:sp>
        <p:nvSpPr>
          <p:cNvPr id="51" name="lab-val-bg">
            <a:extLst>
              <a:ext uri="{FF2B5EF4-FFF2-40B4-BE49-F238E27FC236}">
                <a16:creationId xmlns:a16="http://schemas.microsoft.com/office/drawing/2014/main" id="{79F8B7BB-738B-4B78-4910-B1AF07D5BE0E}"/>
              </a:ext>
            </a:extLst>
          </p:cNvPr>
          <p:cNvSpPr/>
          <p:nvPr/>
        </p:nvSpPr>
        <p:spPr>
          <a:xfrm>
            <a:off x="472440" y="3268980"/>
            <a:ext cx="899160" cy="960120"/>
          </a:xfrm>
          <a:prstGeom prst="rect">
            <a:avLst/>
          </a:prstGeom>
          <a:solidFill>
            <a:srgbClr val="EDF0F1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2" name="lab-val-t">
            <a:extLst>
              <a:ext uri="{FF2B5EF4-FFF2-40B4-BE49-F238E27FC236}">
                <a16:creationId xmlns:a16="http://schemas.microsoft.com/office/drawing/2014/main" id="{4B928C95-80B9-0034-8CFF-88BE702225D4}"/>
              </a:ext>
            </a:extLst>
          </p:cNvPr>
          <p:cNvSpPr txBox="1"/>
          <p:nvPr/>
        </p:nvSpPr>
        <p:spPr>
          <a:xfrm>
            <a:off x="523240" y="3319780"/>
            <a:ext cx="797560" cy="179536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1000" b="1">
                <a:solidFill>
                  <a:srgbClr val="173650"/>
                </a:solidFill>
                <a:latin typeface="Microsoft YaHei" panose="020B0503020204020204" pitchFamily="34" charset="-122"/>
              </a:rPr>
              <a:t>价值兑现</a:t>
            </a:r>
          </a:p>
        </p:txBody>
      </p:sp>
      <p:sp>
        <p:nvSpPr>
          <p:cNvPr id="53" name="lab-val-s">
            <a:extLst>
              <a:ext uri="{FF2B5EF4-FFF2-40B4-BE49-F238E27FC236}">
                <a16:creationId xmlns:a16="http://schemas.microsoft.com/office/drawing/2014/main" id="{408951B8-B18A-71D8-4D15-E87D84E59A0A}"/>
              </a:ext>
            </a:extLst>
          </p:cNvPr>
          <p:cNvSpPr txBox="1"/>
          <p:nvPr/>
        </p:nvSpPr>
        <p:spPr>
          <a:xfrm>
            <a:off x="523240" y="3522980"/>
            <a:ext cx="79756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能力建设与业务升级</a:t>
            </a:r>
          </a:p>
        </p:txBody>
      </p:sp>
      <p:sp>
        <p:nvSpPr>
          <p:cNvPr id="54" name="cell-d-old">
            <a:extLst>
              <a:ext uri="{FF2B5EF4-FFF2-40B4-BE49-F238E27FC236}">
                <a16:creationId xmlns:a16="http://schemas.microsoft.com/office/drawing/2014/main" id="{E6477855-0A06-D5E4-A68D-15E888491D7C}"/>
              </a:ext>
            </a:extLst>
          </p:cNvPr>
          <p:cNvSpPr/>
          <p:nvPr/>
        </p:nvSpPr>
        <p:spPr>
          <a:xfrm>
            <a:off x="1371600" y="2133600"/>
            <a:ext cx="4358640" cy="617220"/>
          </a:xfrm>
          <a:prstGeom prst="rect">
            <a:avLst/>
          </a:prstGeom>
          <a:solidFill>
            <a:srgbClr val="F1F3F3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5" name="mod-d0">
            <a:extLst>
              <a:ext uri="{FF2B5EF4-FFF2-40B4-BE49-F238E27FC236}">
                <a16:creationId xmlns:a16="http://schemas.microsoft.com/office/drawing/2014/main" id="{56EF8949-F062-39A1-2DA5-1E6115AE8A6F}"/>
              </a:ext>
            </a:extLst>
          </p:cNvPr>
          <p:cNvSpPr/>
          <p:nvPr/>
        </p:nvSpPr>
        <p:spPr>
          <a:xfrm>
            <a:off x="1447800" y="226060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6" name="mod-d0-top">
            <a:extLst>
              <a:ext uri="{FF2B5EF4-FFF2-40B4-BE49-F238E27FC236}">
                <a16:creationId xmlns:a16="http://schemas.microsoft.com/office/drawing/2014/main" id="{EBB7F846-3C65-A90D-8F8C-BFA2C6A09BF5}"/>
              </a:ext>
            </a:extLst>
          </p:cNvPr>
          <p:cNvSpPr/>
          <p:nvPr/>
        </p:nvSpPr>
        <p:spPr>
          <a:xfrm>
            <a:off x="1447800" y="2260600"/>
            <a:ext cx="1359747" cy="25400"/>
          </a:xfrm>
          <a:prstGeom prst="rect">
            <a:avLst/>
          </a:prstGeom>
          <a:solidFill>
            <a:srgbClr val="B979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7" name="mod-d0-t">
            <a:extLst>
              <a:ext uri="{FF2B5EF4-FFF2-40B4-BE49-F238E27FC236}">
                <a16:creationId xmlns:a16="http://schemas.microsoft.com/office/drawing/2014/main" id="{6DC85F46-EB81-9D07-A2B3-BB5C76FC33E1}"/>
              </a:ext>
            </a:extLst>
          </p:cNvPr>
          <p:cNvSpPr txBox="1"/>
          <p:nvPr/>
        </p:nvSpPr>
        <p:spPr>
          <a:xfrm>
            <a:off x="1447800" y="231140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科组自选范围</a:t>
            </a:r>
          </a:p>
        </p:txBody>
      </p:sp>
      <p:sp>
        <p:nvSpPr>
          <p:cNvPr id="58" name="mod-d0-s">
            <a:extLst>
              <a:ext uri="{FF2B5EF4-FFF2-40B4-BE49-F238E27FC236}">
                <a16:creationId xmlns:a16="http://schemas.microsoft.com/office/drawing/2014/main" id="{90D3C70A-534B-7794-15C3-FBBCE47FE489}"/>
              </a:ext>
            </a:extLst>
          </p:cNvPr>
          <p:cNvSpPr txBox="1"/>
          <p:nvPr/>
        </p:nvSpPr>
        <p:spPr>
          <a:xfrm>
            <a:off x="1447800" y="251460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各组自行圈定能力</a:t>
            </a:r>
          </a:p>
        </p:txBody>
      </p:sp>
      <p:sp>
        <p:nvSpPr>
          <p:cNvPr id="59" name="mod-d1">
            <a:extLst>
              <a:ext uri="{FF2B5EF4-FFF2-40B4-BE49-F238E27FC236}">
                <a16:creationId xmlns:a16="http://schemas.microsoft.com/office/drawing/2014/main" id="{819A479F-D5FC-20B9-2648-0F87962F8F6F}"/>
              </a:ext>
            </a:extLst>
          </p:cNvPr>
          <p:cNvSpPr/>
          <p:nvPr/>
        </p:nvSpPr>
        <p:spPr>
          <a:xfrm>
            <a:off x="2871047" y="226060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mod-d1-top">
            <a:extLst>
              <a:ext uri="{FF2B5EF4-FFF2-40B4-BE49-F238E27FC236}">
                <a16:creationId xmlns:a16="http://schemas.microsoft.com/office/drawing/2014/main" id="{2D095291-98D5-B291-F27B-35ED8E0E9193}"/>
              </a:ext>
            </a:extLst>
          </p:cNvPr>
          <p:cNvSpPr/>
          <p:nvPr/>
        </p:nvSpPr>
        <p:spPr>
          <a:xfrm>
            <a:off x="2871047" y="2260600"/>
            <a:ext cx="1359747" cy="25400"/>
          </a:xfrm>
          <a:prstGeom prst="rect">
            <a:avLst/>
          </a:prstGeom>
          <a:solidFill>
            <a:srgbClr val="89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1" name="mod-d1-t">
            <a:extLst>
              <a:ext uri="{FF2B5EF4-FFF2-40B4-BE49-F238E27FC236}">
                <a16:creationId xmlns:a16="http://schemas.microsoft.com/office/drawing/2014/main" id="{349BC10B-2979-C51F-D063-A93A115C1642}"/>
              </a:ext>
            </a:extLst>
          </p:cNvPr>
          <p:cNvSpPr txBox="1"/>
          <p:nvPr/>
        </p:nvSpPr>
        <p:spPr>
          <a:xfrm>
            <a:off x="2871047" y="231140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目标自行选取</a:t>
            </a:r>
          </a:p>
        </p:txBody>
      </p:sp>
      <p:sp>
        <p:nvSpPr>
          <p:cNvPr id="62" name="mod-d1-s">
            <a:extLst>
              <a:ext uri="{FF2B5EF4-FFF2-40B4-BE49-F238E27FC236}">
                <a16:creationId xmlns:a16="http://schemas.microsoft.com/office/drawing/2014/main" id="{CC7687CA-68B9-8EFA-A58A-1644AD031650}"/>
              </a:ext>
            </a:extLst>
          </p:cNvPr>
          <p:cNvSpPr txBox="1"/>
          <p:nvPr/>
        </p:nvSpPr>
        <p:spPr>
          <a:xfrm>
            <a:off x="2871047" y="251460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建设口径不一致</a:t>
            </a:r>
          </a:p>
        </p:txBody>
      </p:sp>
      <p:sp>
        <p:nvSpPr>
          <p:cNvPr id="63" name="mod-d2">
            <a:extLst>
              <a:ext uri="{FF2B5EF4-FFF2-40B4-BE49-F238E27FC236}">
                <a16:creationId xmlns:a16="http://schemas.microsoft.com/office/drawing/2014/main" id="{F59BE076-FD9C-42D1-EC4F-0AE1ECA7F403}"/>
              </a:ext>
            </a:extLst>
          </p:cNvPr>
          <p:cNvSpPr/>
          <p:nvPr/>
        </p:nvSpPr>
        <p:spPr>
          <a:xfrm>
            <a:off x="4294293" y="226060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4" name="mod-d2-top">
            <a:extLst>
              <a:ext uri="{FF2B5EF4-FFF2-40B4-BE49-F238E27FC236}">
                <a16:creationId xmlns:a16="http://schemas.microsoft.com/office/drawing/2014/main" id="{3BA1B900-3C5B-3EAB-FF9D-AB8BFAA5EA06}"/>
              </a:ext>
            </a:extLst>
          </p:cNvPr>
          <p:cNvSpPr/>
          <p:nvPr/>
        </p:nvSpPr>
        <p:spPr>
          <a:xfrm>
            <a:off x="4294293" y="2260600"/>
            <a:ext cx="1359747" cy="25400"/>
          </a:xfrm>
          <a:prstGeom prst="rect">
            <a:avLst/>
          </a:prstGeom>
          <a:solidFill>
            <a:srgbClr val="B89A6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5" name="mod-d2-t">
            <a:extLst>
              <a:ext uri="{FF2B5EF4-FFF2-40B4-BE49-F238E27FC236}">
                <a16:creationId xmlns:a16="http://schemas.microsoft.com/office/drawing/2014/main" id="{6C6D8BD9-062A-E3E4-F70B-6D9F552F9188}"/>
              </a:ext>
            </a:extLst>
          </p:cNvPr>
          <p:cNvSpPr txBox="1"/>
          <p:nvPr/>
        </p:nvSpPr>
        <p:spPr>
          <a:xfrm>
            <a:off x="4294293" y="231140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结果无法对比</a:t>
            </a:r>
          </a:p>
        </p:txBody>
      </p:sp>
      <p:sp>
        <p:nvSpPr>
          <p:cNvPr id="66" name="mod-d2-s">
            <a:extLst>
              <a:ext uri="{FF2B5EF4-FFF2-40B4-BE49-F238E27FC236}">
                <a16:creationId xmlns:a16="http://schemas.microsoft.com/office/drawing/2014/main" id="{D0123970-B57D-AFCD-3487-1239E21347D6}"/>
              </a:ext>
            </a:extLst>
          </p:cNvPr>
          <p:cNvSpPr txBox="1"/>
          <p:nvPr/>
        </p:nvSpPr>
        <p:spPr>
          <a:xfrm>
            <a:off x="4294293" y="251460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跨组织得分失去参照</a:t>
            </a:r>
          </a:p>
        </p:txBody>
      </p:sp>
      <p:sp>
        <p:nvSpPr>
          <p:cNvPr id="67" name="cell-d-new">
            <a:extLst>
              <a:ext uri="{FF2B5EF4-FFF2-40B4-BE49-F238E27FC236}">
                <a16:creationId xmlns:a16="http://schemas.microsoft.com/office/drawing/2014/main" id="{7AFDA13D-970C-FD8F-C538-51B7C0D434B6}"/>
              </a:ext>
            </a:extLst>
          </p:cNvPr>
          <p:cNvSpPr/>
          <p:nvPr/>
        </p:nvSpPr>
        <p:spPr>
          <a:xfrm>
            <a:off x="5730240" y="2133600"/>
            <a:ext cx="6050280" cy="617220"/>
          </a:xfrm>
          <a:prstGeom prst="rect">
            <a:avLst/>
          </a:prstGeom>
          <a:solidFill>
            <a:srgbClr val="FFFFFF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8" name="owner-flow">
            <a:extLst>
              <a:ext uri="{FF2B5EF4-FFF2-40B4-BE49-F238E27FC236}">
                <a16:creationId xmlns:a16="http://schemas.microsoft.com/office/drawing/2014/main" id="{1D333D47-2D8B-2CE8-03F9-BF1C92BC4027}"/>
              </a:ext>
            </a:extLst>
          </p:cNvPr>
          <p:cNvSpPr/>
          <p:nvPr/>
        </p:nvSpPr>
        <p:spPr>
          <a:xfrm>
            <a:off x="5781040" y="2209800"/>
            <a:ext cx="1796128" cy="48768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9" name="owner-flow-top">
            <a:extLst>
              <a:ext uri="{FF2B5EF4-FFF2-40B4-BE49-F238E27FC236}">
                <a16:creationId xmlns:a16="http://schemas.microsoft.com/office/drawing/2014/main" id="{81A0299A-7D53-A81E-7DF0-FE240D0A2A61}"/>
              </a:ext>
            </a:extLst>
          </p:cNvPr>
          <p:cNvSpPr/>
          <p:nvPr/>
        </p:nvSpPr>
        <p:spPr>
          <a:xfrm>
            <a:off x="5781040" y="2209800"/>
            <a:ext cx="1796128" cy="254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0" name="owner-src">
            <a:extLst>
              <a:ext uri="{FF2B5EF4-FFF2-40B4-BE49-F238E27FC236}">
                <a16:creationId xmlns:a16="http://schemas.microsoft.com/office/drawing/2014/main" id="{9BF6A021-A800-D870-1730-E1917CACD56F}"/>
              </a:ext>
            </a:extLst>
          </p:cNvPr>
          <p:cNvSpPr txBox="1"/>
          <p:nvPr/>
        </p:nvSpPr>
        <p:spPr>
          <a:xfrm>
            <a:off x="5819140" y="2235200"/>
            <a:ext cx="1719928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能力 </a:t>
            </a:r>
            <a:r>
              <a:rPr lang="en-US" altLang="zh-CN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Owner</a:t>
            </a:r>
            <a:endParaRPr lang="zh-CN" altLang="en-US" sz="600" b="1">
              <a:solidFill>
                <a:srgbClr val="176B65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71" name="owner-dims">
            <a:extLst>
              <a:ext uri="{FF2B5EF4-FFF2-40B4-BE49-F238E27FC236}">
                <a16:creationId xmlns:a16="http://schemas.microsoft.com/office/drawing/2014/main" id="{8EDA5FAF-6B0E-D4E4-0EDF-4E84E96074B7}"/>
              </a:ext>
            </a:extLst>
          </p:cNvPr>
          <p:cNvSpPr txBox="1"/>
          <p:nvPr/>
        </p:nvSpPr>
        <p:spPr>
          <a:xfrm>
            <a:off x="5806440" y="2374900"/>
            <a:ext cx="1745328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500" b="1">
                <a:solidFill>
                  <a:srgbClr val="405B67"/>
                </a:solidFill>
                <a:latin typeface="Microsoft YaHei" panose="020B0503020204020204" pitchFamily="34" charset="-122"/>
              </a:rPr>
              <a:t>设计  方案  用例  执行  自动化</a:t>
            </a:r>
          </a:p>
        </p:txBody>
      </p:sp>
      <p:cxnSp>
        <p:nvCxnSpPr>
          <p:cNvPr id="72" name="owner-sep">
            <a:extLst>
              <a:ext uri="{FF2B5EF4-FFF2-40B4-BE49-F238E27FC236}">
                <a16:creationId xmlns:a16="http://schemas.microsoft.com/office/drawing/2014/main" id="{87B9640C-83D9-0E31-6993-27CBE42528BB}"/>
              </a:ext>
            </a:extLst>
          </p:cNvPr>
          <p:cNvCxnSpPr/>
          <p:nvPr/>
        </p:nvCxnSpPr>
        <p:spPr>
          <a:xfrm>
            <a:off x="5844540" y="2540000"/>
            <a:ext cx="1669128" cy="0"/>
          </a:xfrm>
          <a:prstGeom prst="line">
            <a:avLst/>
          </a:prstGeom>
          <a:ln w="8890">
            <a:solidFill>
              <a:srgbClr val="6F9D9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owner-teams">
            <a:extLst>
              <a:ext uri="{FF2B5EF4-FFF2-40B4-BE49-F238E27FC236}">
                <a16:creationId xmlns:a16="http://schemas.microsoft.com/office/drawing/2014/main" id="{1EFDDD91-339F-12D5-6B88-DBEFF68D6B7B}"/>
              </a:ext>
            </a:extLst>
          </p:cNvPr>
          <p:cNvSpPr txBox="1"/>
          <p:nvPr/>
        </p:nvSpPr>
        <p:spPr>
          <a:xfrm>
            <a:off x="5819140" y="2565400"/>
            <a:ext cx="1719928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↓ 统一分发至各涉域科组</a:t>
            </a:r>
          </a:p>
        </p:txBody>
      </p:sp>
      <p:sp>
        <p:nvSpPr>
          <p:cNvPr id="74" name="domains-bg">
            <a:extLst>
              <a:ext uri="{FF2B5EF4-FFF2-40B4-BE49-F238E27FC236}">
                <a16:creationId xmlns:a16="http://schemas.microsoft.com/office/drawing/2014/main" id="{37AF086B-1860-DC6E-DA63-92AD37D76E92}"/>
              </a:ext>
            </a:extLst>
          </p:cNvPr>
          <p:cNvSpPr/>
          <p:nvPr/>
        </p:nvSpPr>
        <p:spPr>
          <a:xfrm>
            <a:off x="7627968" y="2235200"/>
            <a:ext cx="1923502" cy="464820"/>
          </a:xfrm>
          <a:prstGeom prst="rect">
            <a:avLst/>
          </a:prstGeom>
          <a:solidFill>
            <a:srgbClr val="EEF3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5" name="domains-top">
            <a:extLst>
              <a:ext uri="{FF2B5EF4-FFF2-40B4-BE49-F238E27FC236}">
                <a16:creationId xmlns:a16="http://schemas.microsoft.com/office/drawing/2014/main" id="{04B3D27C-65D8-9814-7888-7B2170638D9A}"/>
              </a:ext>
            </a:extLst>
          </p:cNvPr>
          <p:cNvSpPr/>
          <p:nvPr/>
        </p:nvSpPr>
        <p:spPr>
          <a:xfrm>
            <a:off x="7627968" y="2235200"/>
            <a:ext cx="1923502" cy="2540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6" name="domains-cap">
            <a:extLst>
              <a:ext uri="{FF2B5EF4-FFF2-40B4-BE49-F238E27FC236}">
                <a16:creationId xmlns:a16="http://schemas.microsoft.com/office/drawing/2014/main" id="{0559D539-4B6C-BBA9-317E-45BC088119A7}"/>
              </a:ext>
            </a:extLst>
          </p:cNvPr>
          <p:cNvSpPr txBox="1"/>
          <p:nvPr/>
        </p:nvSpPr>
        <p:spPr>
          <a:xfrm>
            <a:off x="7627968" y="2260600"/>
            <a:ext cx="1923502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新增六大领域 </a:t>
            </a:r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同域统一口径</a:t>
            </a:r>
          </a:p>
        </p:txBody>
      </p:sp>
      <p:sp>
        <p:nvSpPr>
          <p:cNvPr id="77" name="dom0">
            <a:extLst>
              <a:ext uri="{FF2B5EF4-FFF2-40B4-BE49-F238E27FC236}">
                <a16:creationId xmlns:a16="http://schemas.microsoft.com/office/drawing/2014/main" id="{9EB686A8-6288-BAEA-5ABD-078E0BEE2CF0}"/>
              </a:ext>
            </a:extLst>
          </p:cNvPr>
          <p:cNvSpPr/>
          <p:nvPr/>
        </p:nvSpPr>
        <p:spPr>
          <a:xfrm>
            <a:off x="7678768" y="2438400"/>
            <a:ext cx="278250" cy="228600"/>
          </a:xfrm>
          <a:prstGeom prst="rect">
            <a:avLst/>
          </a:prstGeom>
          <a:solidFill>
            <a:srgbClr val="D8EBE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78" name="dom0-t">
            <a:extLst>
              <a:ext uri="{FF2B5EF4-FFF2-40B4-BE49-F238E27FC236}">
                <a16:creationId xmlns:a16="http://schemas.microsoft.com/office/drawing/2014/main" id="{18505C92-25C2-E262-6670-960B5503E3BE}"/>
              </a:ext>
            </a:extLst>
          </p:cNvPr>
          <p:cNvSpPr txBox="1"/>
          <p:nvPr/>
        </p:nvSpPr>
        <p:spPr>
          <a:xfrm>
            <a:off x="7678768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软件</a:t>
            </a:r>
          </a:p>
        </p:txBody>
      </p:sp>
      <p:sp>
        <p:nvSpPr>
          <p:cNvPr id="79" name="dom1">
            <a:extLst>
              <a:ext uri="{FF2B5EF4-FFF2-40B4-BE49-F238E27FC236}">
                <a16:creationId xmlns:a16="http://schemas.microsoft.com/office/drawing/2014/main" id="{F9398DA6-75B7-25B4-86B4-46EA54BFA903}"/>
              </a:ext>
            </a:extLst>
          </p:cNvPr>
          <p:cNvSpPr/>
          <p:nvPr/>
        </p:nvSpPr>
        <p:spPr>
          <a:xfrm>
            <a:off x="7982418" y="2438400"/>
            <a:ext cx="278251" cy="228600"/>
          </a:xfrm>
          <a:prstGeom prst="rect">
            <a:avLst/>
          </a:prstGeom>
          <a:solidFill>
            <a:srgbClr val="E7E3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0" name="dom1-t">
            <a:extLst>
              <a:ext uri="{FF2B5EF4-FFF2-40B4-BE49-F238E27FC236}">
                <a16:creationId xmlns:a16="http://schemas.microsoft.com/office/drawing/2014/main" id="{57AAD7BE-9E2F-1C30-71FA-DB309A9F6F44}"/>
              </a:ext>
            </a:extLst>
          </p:cNvPr>
          <p:cNvSpPr txBox="1"/>
          <p:nvPr/>
        </p:nvSpPr>
        <p:spPr>
          <a:xfrm>
            <a:off x="7982418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硬件</a:t>
            </a:r>
          </a:p>
        </p:txBody>
      </p:sp>
      <p:sp>
        <p:nvSpPr>
          <p:cNvPr id="81" name="dom2">
            <a:extLst>
              <a:ext uri="{FF2B5EF4-FFF2-40B4-BE49-F238E27FC236}">
                <a16:creationId xmlns:a16="http://schemas.microsoft.com/office/drawing/2014/main" id="{54A38F88-3A33-BE3F-8047-D7E5D52F7346}"/>
              </a:ext>
            </a:extLst>
          </p:cNvPr>
          <p:cNvSpPr/>
          <p:nvPr/>
        </p:nvSpPr>
        <p:spPr>
          <a:xfrm>
            <a:off x="8286069" y="2438400"/>
            <a:ext cx="278250" cy="228600"/>
          </a:xfrm>
          <a:prstGeom prst="rect">
            <a:avLst/>
          </a:prstGeom>
          <a:solidFill>
            <a:srgbClr val="EFE5D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2" name="dom2-t">
            <a:extLst>
              <a:ext uri="{FF2B5EF4-FFF2-40B4-BE49-F238E27FC236}">
                <a16:creationId xmlns:a16="http://schemas.microsoft.com/office/drawing/2014/main" id="{17A1AF9C-FC87-1B19-11F0-C3251F6C8AE7}"/>
              </a:ext>
            </a:extLst>
          </p:cNvPr>
          <p:cNvSpPr txBox="1"/>
          <p:nvPr/>
        </p:nvSpPr>
        <p:spPr>
          <a:xfrm>
            <a:off x="8286069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机械</a:t>
            </a:r>
          </a:p>
        </p:txBody>
      </p:sp>
      <p:sp>
        <p:nvSpPr>
          <p:cNvPr id="83" name="dom3">
            <a:extLst>
              <a:ext uri="{FF2B5EF4-FFF2-40B4-BE49-F238E27FC236}">
                <a16:creationId xmlns:a16="http://schemas.microsoft.com/office/drawing/2014/main" id="{69D5C6FA-C992-EA2C-FACB-5160B311C601}"/>
              </a:ext>
            </a:extLst>
          </p:cNvPr>
          <p:cNvSpPr/>
          <p:nvPr/>
        </p:nvSpPr>
        <p:spPr>
          <a:xfrm>
            <a:off x="8589718" y="2438400"/>
            <a:ext cx="278251" cy="228600"/>
          </a:xfrm>
          <a:prstGeom prst="rect">
            <a:avLst/>
          </a:prstGeom>
          <a:solidFill>
            <a:srgbClr val="DCE7E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4" name="dom3-t">
            <a:extLst>
              <a:ext uri="{FF2B5EF4-FFF2-40B4-BE49-F238E27FC236}">
                <a16:creationId xmlns:a16="http://schemas.microsoft.com/office/drawing/2014/main" id="{1760877D-AC95-F9F0-87D2-7E244382C206}"/>
              </a:ext>
            </a:extLst>
          </p:cNvPr>
          <p:cNvSpPr txBox="1"/>
          <p:nvPr/>
        </p:nvSpPr>
        <p:spPr>
          <a:xfrm>
            <a:off x="8589718" y="2564074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en-US" altLang="zh-CN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EMC</a:t>
            </a:r>
            <a:endParaRPr lang="zh-CN" altLang="en-US" sz="600" b="1">
              <a:solidFill>
                <a:srgbClr val="31535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85" name="dom4">
            <a:extLst>
              <a:ext uri="{FF2B5EF4-FFF2-40B4-BE49-F238E27FC236}">
                <a16:creationId xmlns:a16="http://schemas.microsoft.com/office/drawing/2014/main" id="{E894E900-B141-CF06-4BF9-446E68912573}"/>
              </a:ext>
            </a:extLst>
          </p:cNvPr>
          <p:cNvSpPr/>
          <p:nvPr/>
        </p:nvSpPr>
        <p:spPr>
          <a:xfrm>
            <a:off x="8893369" y="2438400"/>
            <a:ext cx="278250" cy="228600"/>
          </a:xfrm>
          <a:prstGeom prst="rect">
            <a:avLst/>
          </a:prstGeom>
          <a:solidFill>
            <a:srgbClr val="ECDFD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6" name="dom4-t">
            <a:extLst>
              <a:ext uri="{FF2B5EF4-FFF2-40B4-BE49-F238E27FC236}">
                <a16:creationId xmlns:a16="http://schemas.microsoft.com/office/drawing/2014/main" id="{2C59E45F-4A6F-F3CB-708E-3BD55E9467F3}"/>
              </a:ext>
            </a:extLst>
          </p:cNvPr>
          <p:cNvSpPr txBox="1"/>
          <p:nvPr/>
        </p:nvSpPr>
        <p:spPr>
          <a:xfrm>
            <a:off x="8893369" y="2517908"/>
            <a:ext cx="2782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合规</a:t>
            </a:r>
          </a:p>
        </p:txBody>
      </p:sp>
      <p:sp>
        <p:nvSpPr>
          <p:cNvPr id="87" name="dom5">
            <a:extLst>
              <a:ext uri="{FF2B5EF4-FFF2-40B4-BE49-F238E27FC236}">
                <a16:creationId xmlns:a16="http://schemas.microsoft.com/office/drawing/2014/main" id="{3277692F-2E3B-2B33-6D08-926AF80A13F8}"/>
              </a:ext>
            </a:extLst>
          </p:cNvPr>
          <p:cNvSpPr/>
          <p:nvPr/>
        </p:nvSpPr>
        <p:spPr>
          <a:xfrm>
            <a:off x="9197019" y="2438400"/>
            <a:ext cx="278251" cy="228600"/>
          </a:xfrm>
          <a:prstGeom prst="rect">
            <a:avLst/>
          </a:prstGeom>
          <a:solidFill>
            <a:srgbClr val="E2EBD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8" name="dom5-t">
            <a:extLst>
              <a:ext uri="{FF2B5EF4-FFF2-40B4-BE49-F238E27FC236}">
                <a16:creationId xmlns:a16="http://schemas.microsoft.com/office/drawing/2014/main" id="{D32A8956-5610-015D-A8F7-23303EAA3CC4}"/>
              </a:ext>
            </a:extLst>
          </p:cNvPr>
          <p:cNvSpPr txBox="1"/>
          <p:nvPr/>
        </p:nvSpPr>
        <p:spPr>
          <a:xfrm>
            <a:off x="9197019" y="2517908"/>
            <a:ext cx="27825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pPr algn="ctr"/>
            <a:r>
              <a:rPr lang="zh-CN" altLang="en-US" sz="600" b="1">
                <a:solidFill>
                  <a:srgbClr val="31535A"/>
                </a:solidFill>
                <a:latin typeface="Microsoft YaHei" panose="020B0503020204020204" pitchFamily="34" charset="-122"/>
              </a:rPr>
              <a:t>可靠性</a:t>
            </a:r>
          </a:p>
        </p:txBody>
      </p:sp>
      <p:sp>
        <p:nvSpPr>
          <p:cNvPr id="89" name="target-flow">
            <a:extLst>
              <a:ext uri="{FF2B5EF4-FFF2-40B4-BE49-F238E27FC236}">
                <a16:creationId xmlns:a16="http://schemas.microsoft.com/office/drawing/2014/main" id="{478D6206-8EAE-208C-AADC-E4089CC3D25E}"/>
              </a:ext>
            </a:extLst>
          </p:cNvPr>
          <p:cNvSpPr/>
          <p:nvPr/>
        </p:nvSpPr>
        <p:spPr>
          <a:xfrm>
            <a:off x="9602270" y="2235200"/>
            <a:ext cx="2127450" cy="464820"/>
          </a:xfrm>
          <a:prstGeom prst="rect">
            <a:avLst/>
          </a:prstGeom>
          <a:solidFill>
            <a:srgbClr val="F2EEE7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0" name="target-top">
            <a:extLst>
              <a:ext uri="{FF2B5EF4-FFF2-40B4-BE49-F238E27FC236}">
                <a16:creationId xmlns:a16="http://schemas.microsoft.com/office/drawing/2014/main" id="{F162D5AC-0024-2EB7-7AA8-E53277529672}"/>
              </a:ext>
            </a:extLst>
          </p:cNvPr>
          <p:cNvSpPr/>
          <p:nvPr/>
        </p:nvSpPr>
        <p:spPr>
          <a:xfrm>
            <a:off x="9602270" y="2235200"/>
            <a:ext cx="2127450" cy="254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1" name="target-cap">
            <a:extLst>
              <a:ext uri="{FF2B5EF4-FFF2-40B4-BE49-F238E27FC236}">
                <a16:creationId xmlns:a16="http://schemas.microsoft.com/office/drawing/2014/main" id="{AB1866FE-0E40-82E0-EE98-3AE3A4CC6CE3}"/>
              </a:ext>
            </a:extLst>
          </p:cNvPr>
          <p:cNvSpPr txBox="1"/>
          <p:nvPr/>
        </p:nvSpPr>
        <p:spPr>
          <a:xfrm>
            <a:off x="9602270" y="2247900"/>
            <a:ext cx="212745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应用范围不同 </a:t>
            </a:r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同一能力目标一致</a:t>
            </a:r>
          </a:p>
        </p:txBody>
      </p:sp>
      <p:sp>
        <p:nvSpPr>
          <p:cNvPr id="92" name="scene1">
            <a:extLst>
              <a:ext uri="{FF2B5EF4-FFF2-40B4-BE49-F238E27FC236}">
                <a16:creationId xmlns:a16="http://schemas.microsoft.com/office/drawing/2014/main" id="{9337DDB4-1B6D-2705-5F22-EF72987F0FC1}"/>
              </a:ext>
            </a:extLst>
          </p:cNvPr>
          <p:cNvSpPr/>
          <p:nvPr/>
        </p:nvSpPr>
        <p:spPr>
          <a:xfrm>
            <a:off x="9640370" y="2413000"/>
            <a:ext cx="1000225" cy="279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scene1-tbar">
            <a:extLst>
              <a:ext uri="{FF2B5EF4-FFF2-40B4-BE49-F238E27FC236}">
                <a16:creationId xmlns:a16="http://schemas.microsoft.com/office/drawing/2014/main" id="{75CFE411-446C-B78D-5A84-39C0730E5C65}"/>
              </a:ext>
            </a:extLst>
          </p:cNvPr>
          <p:cNvSpPr/>
          <p:nvPr/>
        </p:nvSpPr>
        <p:spPr>
          <a:xfrm>
            <a:off x="9640370" y="2413000"/>
            <a:ext cx="1000225" cy="1524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scene1-t">
            <a:extLst>
              <a:ext uri="{FF2B5EF4-FFF2-40B4-BE49-F238E27FC236}">
                <a16:creationId xmlns:a16="http://schemas.microsoft.com/office/drawing/2014/main" id="{0D415827-79C1-E7D4-96DC-0E99546D7044}"/>
              </a:ext>
            </a:extLst>
          </p:cNvPr>
          <p:cNvSpPr txBox="1"/>
          <p:nvPr/>
        </p:nvSpPr>
        <p:spPr>
          <a:xfrm>
            <a:off x="9640370" y="2413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目标：试点</a:t>
            </a:r>
          </a:p>
        </p:txBody>
      </p:sp>
      <p:sp>
        <p:nvSpPr>
          <p:cNvPr id="95" name="scene1-g">
            <a:extLst>
              <a:ext uri="{FF2B5EF4-FFF2-40B4-BE49-F238E27FC236}">
                <a16:creationId xmlns:a16="http://schemas.microsoft.com/office/drawing/2014/main" id="{BC598C46-7F48-0CD2-868A-49ACC756DC54}"/>
              </a:ext>
            </a:extLst>
          </p:cNvPr>
          <p:cNvSpPr txBox="1"/>
          <p:nvPr/>
        </p:nvSpPr>
        <p:spPr>
          <a:xfrm>
            <a:off x="9640370" y="2540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各科组 </a:t>
            </a:r>
            <a:r>
              <a:rPr lang="en-US" altLang="zh-CN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3.0 · </a:t>
            </a:r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部分项目</a:t>
            </a:r>
          </a:p>
        </p:txBody>
      </p:sp>
      <p:sp>
        <p:nvSpPr>
          <p:cNvPr id="96" name="scene2">
            <a:extLst>
              <a:ext uri="{FF2B5EF4-FFF2-40B4-BE49-F238E27FC236}">
                <a16:creationId xmlns:a16="http://schemas.microsoft.com/office/drawing/2014/main" id="{246CEE77-76ED-D8E0-0D30-023DA6CEB634}"/>
              </a:ext>
            </a:extLst>
          </p:cNvPr>
          <p:cNvSpPr/>
          <p:nvPr/>
        </p:nvSpPr>
        <p:spPr>
          <a:xfrm>
            <a:off x="10678695" y="2413000"/>
            <a:ext cx="1000225" cy="27940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7" name="scene2-tbar">
            <a:extLst>
              <a:ext uri="{FF2B5EF4-FFF2-40B4-BE49-F238E27FC236}">
                <a16:creationId xmlns:a16="http://schemas.microsoft.com/office/drawing/2014/main" id="{63AFCE30-43DD-D430-1AA9-56A1751519C9}"/>
              </a:ext>
            </a:extLst>
          </p:cNvPr>
          <p:cNvSpPr/>
          <p:nvPr/>
        </p:nvSpPr>
        <p:spPr>
          <a:xfrm>
            <a:off x="10678695" y="2413000"/>
            <a:ext cx="1000225" cy="1524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8" name="scene2-t">
            <a:extLst>
              <a:ext uri="{FF2B5EF4-FFF2-40B4-BE49-F238E27FC236}">
                <a16:creationId xmlns:a16="http://schemas.microsoft.com/office/drawing/2014/main" id="{2A5993E0-5C7B-98D3-C328-0C696D5146B4}"/>
              </a:ext>
            </a:extLst>
          </p:cNvPr>
          <p:cNvSpPr txBox="1"/>
          <p:nvPr/>
        </p:nvSpPr>
        <p:spPr>
          <a:xfrm>
            <a:off x="10678695" y="2413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294858"/>
                </a:solidFill>
                <a:latin typeface="Microsoft YaHei" panose="020B0503020204020204" pitchFamily="34" charset="-122"/>
              </a:rPr>
              <a:t>目标：全面落地</a:t>
            </a:r>
          </a:p>
        </p:txBody>
      </p:sp>
      <p:sp>
        <p:nvSpPr>
          <p:cNvPr id="99" name="scene2-g">
            <a:extLst>
              <a:ext uri="{FF2B5EF4-FFF2-40B4-BE49-F238E27FC236}">
                <a16:creationId xmlns:a16="http://schemas.microsoft.com/office/drawing/2014/main" id="{426C8B1A-C85E-F43B-A4AB-A058CFD04110}"/>
              </a:ext>
            </a:extLst>
          </p:cNvPr>
          <p:cNvSpPr txBox="1"/>
          <p:nvPr/>
        </p:nvSpPr>
        <p:spPr>
          <a:xfrm>
            <a:off x="10678695" y="2540000"/>
            <a:ext cx="1000225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各科组 </a:t>
            </a:r>
            <a:r>
              <a:rPr lang="en-US" altLang="zh-CN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3.0 · </a:t>
            </a:r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所有项目</a:t>
            </a:r>
          </a:p>
        </p:txBody>
      </p:sp>
      <p:sp>
        <p:nvSpPr>
          <p:cNvPr id="100" name="p1m0">
            <a:extLst>
              <a:ext uri="{FF2B5EF4-FFF2-40B4-BE49-F238E27FC236}">
                <a16:creationId xmlns:a16="http://schemas.microsoft.com/office/drawing/2014/main" id="{07F5C7C1-C14C-7213-6F97-32C88FE7D70B}"/>
              </a:ext>
            </a:extLst>
          </p:cNvPr>
          <p:cNvSpPr/>
          <p:nvPr/>
        </p:nvSpPr>
        <p:spPr>
          <a:xfrm>
            <a:off x="9703870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1" name="p2m0">
            <a:extLst>
              <a:ext uri="{FF2B5EF4-FFF2-40B4-BE49-F238E27FC236}">
                <a16:creationId xmlns:a16="http://schemas.microsoft.com/office/drawing/2014/main" id="{42C0CD03-F563-B8FD-C43E-22FC5025CE3A}"/>
              </a:ext>
            </a:extLst>
          </p:cNvPr>
          <p:cNvSpPr/>
          <p:nvPr/>
        </p:nvSpPr>
        <p:spPr>
          <a:xfrm>
            <a:off x="107040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2" name="p1m1">
            <a:extLst>
              <a:ext uri="{FF2B5EF4-FFF2-40B4-BE49-F238E27FC236}">
                <a16:creationId xmlns:a16="http://schemas.microsoft.com/office/drawing/2014/main" id="{616E3A05-672A-547B-67F8-EAF40479F43E}"/>
              </a:ext>
            </a:extLst>
          </p:cNvPr>
          <p:cNvSpPr/>
          <p:nvPr/>
        </p:nvSpPr>
        <p:spPr>
          <a:xfrm>
            <a:off x="9805470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3" name="p2m1">
            <a:extLst>
              <a:ext uri="{FF2B5EF4-FFF2-40B4-BE49-F238E27FC236}">
                <a16:creationId xmlns:a16="http://schemas.microsoft.com/office/drawing/2014/main" id="{5A7976DD-9D42-02FB-2CC2-CF73555737CC}"/>
              </a:ext>
            </a:extLst>
          </p:cNvPr>
          <p:cNvSpPr/>
          <p:nvPr/>
        </p:nvSpPr>
        <p:spPr>
          <a:xfrm>
            <a:off x="108056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4" name="p1m2">
            <a:extLst>
              <a:ext uri="{FF2B5EF4-FFF2-40B4-BE49-F238E27FC236}">
                <a16:creationId xmlns:a16="http://schemas.microsoft.com/office/drawing/2014/main" id="{8A575DDD-1897-B647-BD2D-80E12B1B2C1C}"/>
              </a:ext>
            </a:extLst>
          </p:cNvPr>
          <p:cNvSpPr/>
          <p:nvPr/>
        </p:nvSpPr>
        <p:spPr>
          <a:xfrm>
            <a:off x="9907070" y="2667000"/>
            <a:ext cx="76200" cy="38100"/>
          </a:xfrm>
          <a:prstGeom prst="rect">
            <a:avLst/>
          </a:prstGeom>
          <a:solidFill>
            <a:srgbClr val="D5DCD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5" name="p2m2">
            <a:extLst>
              <a:ext uri="{FF2B5EF4-FFF2-40B4-BE49-F238E27FC236}">
                <a16:creationId xmlns:a16="http://schemas.microsoft.com/office/drawing/2014/main" id="{02595AED-6E86-9911-D548-FB6A65C2509E}"/>
              </a:ext>
            </a:extLst>
          </p:cNvPr>
          <p:cNvSpPr/>
          <p:nvPr/>
        </p:nvSpPr>
        <p:spPr>
          <a:xfrm>
            <a:off x="109072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6" name="p1m3">
            <a:extLst>
              <a:ext uri="{FF2B5EF4-FFF2-40B4-BE49-F238E27FC236}">
                <a16:creationId xmlns:a16="http://schemas.microsoft.com/office/drawing/2014/main" id="{E9B71AE0-09CF-CDF8-D187-BC10C2258988}"/>
              </a:ext>
            </a:extLst>
          </p:cNvPr>
          <p:cNvSpPr/>
          <p:nvPr/>
        </p:nvSpPr>
        <p:spPr>
          <a:xfrm>
            <a:off x="10008670" y="2667000"/>
            <a:ext cx="76200" cy="38100"/>
          </a:xfrm>
          <a:prstGeom prst="rect">
            <a:avLst/>
          </a:prstGeom>
          <a:solidFill>
            <a:srgbClr val="D5DCD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7" name="p2m3">
            <a:extLst>
              <a:ext uri="{FF2B5EF4-FFF2-40B4-BE49-F238E27FC236}">
                <a16:creationId xmlns:a16="http://schemas.microsoft.com/office/drawing/2014/main" id="{A23F06B1-E0CF-C84F-82ED-2C1C585832D5}"/>
              </a:ext>
            </a:extLst>
          </p:cNvPr>
          <p:cNvSpPr/>
          <p:nvPr/>
        </p:nvSpPr>
        <p:spPr>
          <a:xfrm>
            <a:off x="11008895" y="2667000"/>
            <a:ext cx="76200" cy="381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8" name="cell-o-old">
            <a:extLst>
              <a:ext uri="{FF2B5EF4-FFF2-40B4-BE49-F238E27FC236}">
                <a16:creationId xmlns:a16="http://schemas.microsoft.com/office/drawing/2014/main" id="{42942906-6F3B-36F8-F816-21D9F45B057E}"/>
              </a:ext>
            </a:extLst>
          </p:cNvPr>
          <p:cNvSpPr/>
          <p:nvPr/>
        </p:nvSpPr>
        <p:spPr>
          <a:xfrm>
            <a:off x="1371600" y="2750820"/>
            <a:ext cx="4358640" cy="518160"/>
          </a:xfrm>
          <a:prstGeom prst="rect">
            <a:avLst/>
          </a:prstGeom>
          <a:solidFill>
            <a:srgbClr val="F1F3F3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09" name="op-old0">
            <a:extLst>
              <a:ext uri="{FF2B5EF4-FFF2-40B4-BE49-F238E27FC236}">
                <a16:creationId xmlns:a16="http://schemas.microsoft.com/office/drawing/2014/main" id="{AA819AD2-6B31-C093-29B2-3C6FBCA4755F}"/>
              </a:ext>
            </a:extLst>
          </p:cNvPr>
          <p:cNvSpPr/>
          <p:nvPr/>
        </p:nvSpPr>
        <p:spPr>
          <a:xfrm>
            <a:off x="1435100" y="2827020"/>
            <a:ext cx="1359747" cy="34290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0" name="op-old0-ico">
            <a:extLst>
              <a:ext uri="{FF2B5EF4-FFF2-40B4-BE49-F238E27FC236}">
                <a16:creationId xmlns:a16="http://schemas.microsoft.com/office/drawing/2014/main" id="{420464A5-3F66-AF6D-011B-145CACF1C639}"/>
              </a:ext>
            </a:extLst>
          </p:cNvPr>
          <p:cNvSpPr/>
          <p:nvPr/>
        </p:nvSpPr>
        <p:spPr>
          <a:xfrm>
            <a:off x="1485900" y="2928620"/>
            <a:ext cx="177800" cy="177800"/>
          </a:xfrm>
          <a:prstGeom prst="ellipse">
            <a:avLst/>
          </a:prstGeom>
          <a:solidFill>
            <a:srgbClr val="87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1" name="op-old0-t">
            <a:extLst>
              <a:ext uri="{FF2B5EF4-FFF2-40B4-BE49-F238E27FC236}">
                <a16:creationId xmlns:a16="http://schemas.microsoft.com/office/drawing/2014/main" id="{D9C71A09-A363-B182-DD16-231AAEDF8394}"/>
              </a:ext>
            </a:extLst>
          </p:cNvPr>
          <p:cNvSpPr txBox="1"/>
          <p:nvPr/>
        </p:nvSpPr>
        <p:spPr>
          <a:xfrm>
            <a:off x="1689100" y="28524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405863"/>
                </a:solidFill>
                <a:latin typeface="Microsoft YaHei" panose="020B0503020204020204" pitchFamily="34" charset="-122"/>
              </a:rPr>
              <a:t>季度跟踪</a:t>
            </a:r>
          </a:p>
        </p:txBody>
      </p:sp>
      <p:sp>
        <p:nvSpPr>
          <p:cNvPr id="112" name="op-old0-s">
            <a:extLst>
              <a:ext uri="{FF2B5EF4-FFF2-40B4-BE49-F238E27FC236}">
                <a16:creationId xmlns:a16="http://schemas.microsoft.com/office/drawing/2014/main" id="{080D89D7-AB7C-BD8F-3199-993DBDDDAC0E}"/>
              </a:ext>
            </a:extLst>
          </p:cNvPr>
          <p:cNvSpPr txBox="1"/>
          <p:nvPr/>
        </p:nvSpPr>
        <p:spPr>
          <a:xfrm>
            <a:off x="1689100" y="30302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过程状态更新不及时</a:t>
            </a:r>
          </a:p>
        </p:txBody>
      </p:sp>
      <p:sp>
        <p:nvSpPr>
          <p:cNvPr id="113" name="op-old1">
            <a:extLst>
              <a:ext uri="{FF2B5EF4-FFF2-40B4-BE49-F238E27FC236}">
                <a16:creationId xmlns:a16="http://schemas.microsoft.com/office/drawing/2014/main" id="{F1EE5C70-175A-7F75-FEB1-CD507D758C90}"/>
              </a:ext>
            </a:extLst>
          </p:cNvPr>
          <p:cNvSpPr/>
          <p:nvPr/>
        </p:nvSpPr>
        <p:spPr>
          <a:xfrm>
            <a:off x="2858347" y="2827020"/>
            <a:ext cx="1359747" cy="34290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4" name="op-old1-ico">
            <a:extLst>
              <a:ext uri="{FF2B5EF4-FFF2-40B4-BE49-F238E27FC236}">
                <a16:creationId xmlns:a16="http://schemas.microsoft.com/office/drawing/2014/main" id="{A5A647EB-78B2-0CC3-4004-D3613BCB3382}"/>
              </a:ext>
            </a:extLst>
          </p:cNvPr>
          <p:cNvSpPr/>
          <p:nvPr/>
        </p:nvSpPr>
        <p:spPr>
          <a:xfrm>
            <a:off x="2909147" y="2928620"/>
            <a:ext cx="177800" cy="177800"/>
          </a:xfrm>
          <a:prstGeom prst="ellipse">
            <a:avLst/>
          </a:prstGeom>
          <a:solidFill>
            <a:srgbClr val="87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5" name="op-old1-t">
            <a:extLst>
              <a:ext uri="{FF2B5EF4-FFF2-40B4-BE49-F238E27FC236}">
                <a16:creationId xmlns:a16="http://schemas.microsoft.com/office/drawing/2014/main" id="{3034625E-3541-073A-0DF8-DDE700E01291}"/>
              </a:ext>
            </a:extLst>
          </p:cNvPr>
          <p:cNvSpPr txBox="1"/>
          <p:nvPr/>
        </p:nvSpPr>
        <p:spPr>
          <a:xfrm>
            <a:off x="3112347" y="28524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405863"/>
                </a:solidFill>
                <a:latin typeface="Microsoft YaHei" panose="020B0503020204020204" pitchFamily="34" charset="-122"/>
              </a:rPr>
              <a:t>年底集中验收</a:t>
            </a:r>
          </a:p>
        </p:txBody>
      </p:sp>
      <p:sp>
        <p:nvSpPr>
          <p:cNvPr id="116" name="op-old1-s">
            <a:extLst>
              <a:ext uri="{FF2B5EF4-FFF2-40B4-BE49-F238E27FC236}">
                <a16:creationId xmlns:a16="http://schemas.microsoft.com/office/drawing/2014/main" id="{A136021A-A763-8FC8-C518-05DF42CE7322}"/>
              </a:ext>
            </a:extLst>
          </p:cNvPr>
          <p:cNvSpPr txBox="1"/>
          <p:nvPr/>
        </p:nvSpPr>
        <p:spPr>
          <a:xfrm>
            <a:off x="3112347" y="30302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问题发现与纠偏滞后</a:t>
            </a:r>
          </a:p>
        </p:txBody>
      </p:sp>
      <p:sp>
        <p:nvSpPr>
          <p:cNvPr id="117" name="op-old2">
            <a:extLst>
              <a:ext uri="{FF2B5EF4-FFF2-40B4-BE49-F238E27FC236}">
                <a16:creationId xmlns:a16="http://schemas.microsoft.com/office/drawing/2014/main" id="{606A898F-45ED-D31F-4E99-07E59B8223DA}"/>
              </a:ext>
            </a:extLst>
          </p:cNvPr>
          <p:cNvSpPr/>
          <p:nvPr/>
        </p:nvSpPr>
        <p:spPr>
          <a:xfrm>
            <a:off x="4281593" y="2827020"/>
            <a:ext cx="1359747" cy="34290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8" name="op-old2-ico">
            <a:extLst>
              <a:ext uri="{FF2B5EF4-FFF2-40B4-BE49-F238E27FC236}">
                <a16:creationId xmlns:a16="http://schemas.microsoft.com/office/drawing/2014/main" id="{5D8ED601-02F9-4FF5-E0B7-5CCA8AF48D4E}"/>
              </a:ext>
            </a:extLst>
          </p:cNvPr>
          <p:cNvSpPr/>
          <p:nvPr/>
        </p:nvSpPr>
        <p:spPr>
          <a:xfrm>
            <a:off x="4332393" y="2928620"/>
            <a:ext cx="177800" cy="177800"/>
          </a:xfrm>
          <a:prstGeom prst="ellipse">
            <a:avLst/>
          </a:prstGeom>
          <a:solidFill>
            <a:srgbClr val="87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9" name="op-old2-t">
            <a:extLst>
              <a:ext uri="{FF2B5EF4-FFF2-40B4-BE49-F238E27FC236}">
                <a16:creationId xmlns:a16="http://schemas.microsoft.com/office/drawing/2014/main" id="{759020AA-464B-1C41-4FE3-B09B868E34B1}"/>
              </a:ext>
            </a:extLst>
          </p:cNvPr>
          <p:cNvSpPr txBox="1"/>
          <p:nvPr/>
        </p:nvSpPr>
        <p:spPr>
          <a:xfrm>
            <a:off x="4535593" y="28524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405863"/>
                </a:solidFill>
                <a:latin typeface="Microsoft YaHei" panose="020B0503020204020204" pitchFamily="34" charset="-122"/>
              </a:rPr>
              <a:t>偏重进度管理</a:t>
            </a:r>
          </a:p>
        </p:txBody>
      </p:sp>
      <p:sp>
        <p:nvSpPr>
          <p:cNvPr id="120" name="op-old2-s">
            <a:extLst>
              <a:ext uri="{FF2B5EF4-FFF2-40B4-BE49-F238E27FC236}">
                <a16:creationId xmlns:a16="http://schemas.microsoft.com/office/drawing/2014/main" id="{E8E96299-DB0D-645C-C44A-B9A1E93E990D}"/>
              </a:ext>
            </a:extLst>
          </p:cNvPr>
          <p:cNvSpPr txBox="1"/>
          <p:nvPr/>
        </p:nvSpPr>
        <p:spPr>
          <a:xfrm>
            <a:off x="4535593" y="3030220"/>
            <a:ext cx="10803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看进度多、落地辅导少</a:t>
            </a:r>
          </a:p>
        </p:txBody>
      </p:sp>
      <p:sp>
        <p:nvSpPr>
          <p:cNvPr id="121" name="cell-o-new">
            <a:extLst>
              <a:ext uri="{FF2B5EF4-FFF2-40B4-BE49-F238E27FC236}">
                <a16:creationId xmlns:a16="http://schemas.microsoft.com/office/drawing/2014/main" id="{4BA514B8-DDEA-11FA-9E47-CB7ADBD38821}"/>
              </a:ext>
            </a:extLst>
          </p:cNvPr>
          <p:cNvSpPr/>
          <p:nvPr/>
        </p:nvSpPr>
        <p:spPr>
          <a:xfrm>
            <a:off x="5730240" y="2750820"/>
            <a:ext cx="6050280" cy="518160"/>
          </a:xfrm>
          <a:prstGeom prst="rect">
            <a:avLst/>
          </a:prstGeom>
          <a:solidFill>
            <a:srgbClr val="FFFFFF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2" name="op-new0">
            <a:extLst>
              <a:ext uri="{FF2B5EF4-FFF2-40B4-BE49-F238E27FC236}">
                <a16:creationId xmlns:a16="http://schemas.microsoft.com/office/drawing/2014/main" id="{D7105F5C-8583-05F7-9B82-B17BDDC02A03}"/>
              </a:ext>
            </a:extLst>
          </p:cNvPr>
          <p:cNvSpPr/>
          <p:nvPr/>
        </p:nvSpPr>
        <p:spPr>
          <a:xfrm>
            <a:off x="5793740" y="2827020"/>
            <a:ext cx="1923627" cy="34290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3" name="op-new0-ico">
            <a:extLst>
              <a:ext uri="{FF2B5EF4-FFF2-40B4-BE49-F238E27FC236}">
                <a16:creationId xmlns:a16="http://schemas.microsoft.com/office/drawing/2014/main" id="{163E8F06-28C0-75D1-850E-BE2C5977B375}"/>
              </a:ext>
            </a:extLst>
          </p:cNvPr>
          <p:cNvSpPr/>
          <p:nvPr/>
        </p:nvSpPr>
        <p:spPr>
          <a:xfrm>
            <a:off x="5844540" y="2928620"/>
            <a:ext cx="177800" cy="177800"/>
          </a:xfrm>
          <a:prstGeom prst="ellipse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◎</a:t>
            </a:r>
          </a:p>
        </p:txBody>
      </p:sp>
      <p:sp>
        <p:nvSpPr>
          <p:cNvPr id="124" name="op-new0-t">
            <a:extLst>
              <a:ext uri="{FF2B5EF4-FFF2-40B4-BE49-F238E27FC236}">
                <a16:creationId xmlns:a16="http://schemas.microsoft.com/office/drawing/2014/main" id="{62AC3BA4-CEF7-4696-0835-F835C3207268}"/>
              </a:ext>
            </a:extLst>
          </p:cNvPr>
          <p:cNvSpPr txBox="1"/>
          <p:nvPr/>
        </p:nvSpPr>
        <p:spPr>
          <a:xfrm>
            <a:off x="6047740" y="28524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实时跟踪</a:t>
            </a:r>
          </a:p>
        </p:txBody>
      </p:sp>
      <p:sp>
        <p:nvSpPr>
          <p:cNvPr id="125" name="op-new0-s">
            <a:extLst>
              <a:ext uri="{FF2B5EF4-FFF2-40B4-BE49-F238E27FC236}">
                <a16:creationId xmlns:a16="http://schemas.microsoft.com/office/drawing/2014/main" id="{89C76586-8FD3-6396-3A0B-3EF1A5D0D624}"/>
              </a:ext>
            </a:extLst>
          </p:cNvPr>
          <p:cNvSpPr txBox="1"/>
          <p:nvPr/>
        </p:nvSpPr>
        <p:spPr>
          <a:xfrm>
            <a:off x="6047740" y="30302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目标、进度、差距持续可见</a:t>
            </a:r>
          </a:p>
        </p:txBody>
      </p:sp>
      <p:sp>
        <p:nvSpPr>
          <p:cNvPr id="126" name="op-new1">
            <a:extLst>
              <a:ext uri="{FF2B5EF4-FFF2-40B4-BE49-F238E27FC236}">
                <a16:creationId xmlns:a16="http://schemas.microsoft.com/office/drawing/2014/main" id="{D84B00D0-90E1-A10F-E810-ED6CF030C0DD}"/>
              </a:ext>
            </a:extLst>
          </p:cNvPr>
          <p:cNvSpPr/>
          <p:nvPr/>
        </p:nvSpPr>
        <p:spPr>
          <a:xfrm>
            <a:off x="7780867" y="2827020"/>
            <a:ext cx="1923627" cy="34290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27" name="op-new1-ico">
            <a:extLst>
              <a:ext uri="{FF2B5EF4-FFF2-40B4-BE49-F238E27FC236}">
                <a16:creationId xmlns:a16="http://schemas.microsoft.com/office/drawing/2014/main" id="{06BBBBC5-FAE2-0602-53A9-4BFD22CA0E8E}"/>
              </a:ext>
            </a:extLst>
          </p:cNvPr>
          <p:cNvSpPr/>
          <p:nvPr/>
        </p:nvSpPr>
        <p:spPr>
          <a:xfrm>
            <a:off x="7831667" y="2928620"/>
            <a:ext cx="177800" cy="177800"/>
          </a:xfrm>
          <a:prstGeom prst="ellipse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✓</a:t>
            </a:r>
          </a:p>
        </p:txBody>
      </p:sp>
      <p:sp>
        <p:nvSpPr>
          <p:cNvPr id="128" name="op-new1-t">
            <a:extLst>
              <a:ext uri="{FF2B5EF4-FFF2-40B4-BE49-F238E27FC236}">
                <a16:creationId xmlns:a16="http://schemas.microsoft.com/office/drawing/2014/main" id="{C6C8F6A8-105E-C75B-CB71-7F87B22669E2}"/>
              </a:ext>
            </a:extLst>
          </p:cNvPr>
          <p:cNvSpPr txBox="1"/>
          <p:nvPr/>
        </p:nvSpPr>
        <p:spPr>
          <a:xfrm>
            <a:off x="8034867" y="28524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达成即验收</a:t>
            </a:r>
          </a:p>
        </p:txBody>
      </p:sp>
      <p:sp>
        <p:nvSpPr>
          <p:cNvPr id="129" name="op-new1-s">
            <a:extLst>
              <a:ext uri="{FF2B5EF4-FFF2-40B4-BE49-F238E27FC236}">
                <a16:creationId xmlns:a16="http://schemas.microsoft.com/office/drawing/2014/main" id="{0016C49B-7878-2A81-B8F4-3287C887A4D3}"/>
              </a:ext>
            </a:extLst>
          </p:cNvPr>
          <p:cNvSpPr txBox="1"/>
          <p:nvPr/>
        </p:nvSpPr>
        <p:spPr>
          <a:xfrm>
            <a:off x="8034867" y="30302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完成后及时确认结果</a:t>
            </a:r>
          </a:p>
        </p:txBody>
      </p:sp>
      <p:sp>
        <p:nvSpPr>
          <p:cNvPr id="130" name="op-new2">
            <a:extLst>
              <a:ext uri="{FF2B5EF4-FFF2-40B4-BE49-F238E27FC236}">
                <a16:creationId xmlns:a16="http://schemas.microsoft.com/office/drawing/2014/main" id="{B98C7355-95E5-9A30-0872-18D0032072CE}"/>
              </a:ext>
            </a:extLst>
          </p:cNvPr>
          <p:cNvSpPr/>
          <p:nvPr/>
        </p:nvSpPr>
        <p:spPr>
          <a:xfrm>
            <a:off x="9767994" y="2827020"/>
            <a:ext cx="1923626" cy="342900"/>
          </a:xfrm>
          <a:prstGeom prst="rect">
            <a:avLst/>
          </a:prstGeom>
          <a:solidFill>
            <a:srgbClr val="E7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1" name="op-new2-ico">
            <a:extLst>
              <a:ext uri="{FF2B5EF4-FFF2-40B4-BE49-F238E27FC236}">
                <a16:creationId xmlns:a16="http://schemas.microsoft.com/office/drawing/2014/main" id="{C880A391-E3EA-EF43-95E3-5EDE1D006C34}"/>
              </a:ext>
            </a:extLst>
          </p:cNvPr>
          <p:cNvSpPr/>
          <p:nvPr/>
        </p:nvSpPr>
        <p:spPr>
          <a:xfrm>
            <a:off x="9818794" y="2928620"/>
            <a:ext cx="177800" cy="177800"/>
          </a:xfrm>
          <a:prstGeom prst="ellipse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0" rIns="0" bIns="0" rtlCol="0" anchor="ctr"/>
          <a:lstStyle/>
          <a:p>
            <a:pPr algn="ctr"/>
            <a:r>
              <a:rPr lang="zh-CN" altLang="en-US" sz="800" b="1">
                <a:solidFill>
                  <a:srgbClr val="FFFFFF"/>
                </a:solidFill>
                <a:latin typeface="Microsoft YaHei" panose="020B0503020204020204" pitchFamily="34" charset="-122"/>
              </a:rPr>
              <a:t>↗</a:t>
            </a:r>
          </a:p>
        </p:txBody>
      </p:sp>
      <p:sp>
        <p:nvSpPr>
          <p:cNvPr id="132" name="op-new2-t">
            <a:extLst>
              <a:ext uri="{FF2B5EF4-FFF2-40B4-BE49-F238E27FC236}">
                <a16:creationId xmlns:a16="http://schemas.microsoft.com/office/drawing/2014/main" id="{2461C491-4FE3-9949-F050-DD5E4101A68E}"/>
              </a:ext>
            </a:extLst>
          </p:cNvPr>
          <p:cNvSpPr txBox="1"/>
          <p:nvPr/>
        </p:nvSpPr>
        <p:spPr>
          <a:xfrm>
            <a:off x="10021994" y="28524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76B65"/>
                </a:solidFill>
                <a:latin typeface="Microsoft YaHei" panose="020B0503020204020204" pitchFamily="34" charset="-122"/>
              </a:rPr>
              <a:t>落地辅导</a:t>
            </a:r>
          </a:p>
        </p:txBody>
      </p:sp>
      <p:sp>
        <p:nvSpPr>
          <p:cNvPr id="133" name="op-new2-s">
            <a:extLst>
              <a:ext uri="{FF2B5EF4-FFF2-40B4-BE49-F238E27FC236}">
                <a16:creationId xmlns:a16="http://schemas.microsoft.com/office/drawing/2014/main" id="{9AA3961F-F368-6A00-A191-3226CA08E232}"/>
              </a:ext>
            </a:extLst>
          </p:cNvPr>
          <p:cNvSpPr txBox="1"/>
          <p:nvPr/>
        </p:nvSpPr>
        <p:spPr>
          <a:xfrm>
            <a:off x="10021994" y="3030220"/>
            <a:ext cx="164422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结合业务需求给出建议</a:t>
            </a:r>
          </a:p>
        </p:txBody>
      </p:sp>
      <p:sp>
        <p:nvSpPr>
          <p:cNvPr id="134" name="cell-v-old">
            <a:extLst>
              <a:ext uri="{FF2B5EF4-FFF2-40B4-BE49-F238E27FC236}">
                <a16:creationId xmlns:a16="http://schemas.microsoft.com/office/drawing/2014/main" id="{8070DAA3-87A0-F3BC-85B5-96E60D3AAE5E}"/>
              </a:ext>
            </a:extLst>
          </p:cNvPr>
          <p:cNvSpPr/>
          <p:nvPr/>
        </p:nvSpPr>
        <p:spPr>
          <a:xfrm>
            <a:off x="1371600" y="3268980"/>
            <a:ext cx="4358640" cy="960120"/>
          </a:xfrm>
          <a:prstGeom prst="rect">
            <a:avLst/>
          </a:prstGeom>
          <a:solidFill>
            <a:srgbClr val="F1F3F3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5" name="vold0">
            <a:extLst>
              <a:ext uri="{FF2B5EF4-FFF2-40B4-BE49-F238E27FC236}">
                <a16:creationId xmlns:a16="http://schemas.microsoft.com/office/drawing/2014/main" id="{70FEE4E8-DB8D-CF8A-5C87-000A285FAC85}"/>
              </a:ext>
            </a:extLst>
          </p:cNvPr>
          <p:cNvSpPr/>
          <p:nvPr/>
        </p:nvSpPr>
        <p:spPr>
          <a:xfrm>
            <a:off x="1447800" y="344678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6" name="vold0-top">
            <a:extLst>
              <a:ext uri="{FF2B5EF4-FFF2-40B4-BE49-F238E27FC236}">
                <a16:creationId xmlns:a16="http://schemas.microsoft.com/office/drawing/2014/main" id="{E403EF66-7A86-2058-511B-7A37316D67FB}"/>
              </a:ext>
            </a:extLst>
          </p:cNvPr>
          <p:cNvSpPr/>
          <p:nvPr/>
        </p:nvSpPr>
        <p:spPr>
          <a:xfrm>
            <a:off x="1447800" y="3446780"/>
            <a:ext cx="1359747" cy="25400"/>
          </a:xfrm>
          <a:prstGeom prst="rect">
            <a:avLst/>
          </a:prstGeom>
          <a:solidFill>
            <a:srgbClr val="89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vold0-t">
            <a:extLst>
              <a:ext uri="{FF2B5EF4-FFF2-40B4-BE49-F238E27FC236}">
                <a16:creationId xmlns:a16="http://schemas.microsoft.com/office/drawing/2014/main" id="{B242DE8F-5E3D-87B0-01E7-313D4F96EDB5}"/>
              </a:ext>
            </a:extLst>
          </p:cNvPr>
          <p:cNvSpPr txBox="1"/>
          <p:nvPr/>
        </p:nvSpPr>
        <p:spPr>
          <a:xfrm>
            <a:off x="1447800" y="349758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SP/BP </a:t>
            </a:r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拆解</a:t>
            </a:r>
          </a:p>
        </p:txBody>
      </p:sp>
      <p:sp>
        <p:nvSpPr>
          <p:cNvPr id="138" name="vold0-s">
            <a:extLst>
              <a:ext uri="{FF2B5EF4-FFF2-40B4-BE49-F238E27FC236}">
                <a16:creationId xmlns:a16="http://schemas.microsoft.com/office/drawing/2014/main" id="{9AB2364F-30F1-C948-0D78-FAA962172274}"/>
              </a:ext>
            </a:extLst>
          </p:cNvPr>
          <p:cNvSpPr txBox="1"/>
          <p:nvPr/>
        </p:nvSpPr>
        <p:spPr>
          <a:xfrm>
            <a:off x="1447800" y="370078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形成能力细分项</a:t>
            </a:r>
          </a:p>
        </p:txBody>
      </p:sp>
      <p:sp>
        <p:nvSpPr>
          <p:cNvPr id="139" name="vold1">
            <a:extLst>
              <a:ext uri="{FF2B5EF4-FFF2-40B4-BE49-F238E27FC236}">
                <a16:creationId xmlns:a16="http://schemas.microsoft.com/office/drawing/2014/main" id="{7AF28EAE-7E16-CC6E-CD33-B28A4780BFE0}"/>
              </a:ext>
            </a:extLst>
          </p:cNvPr>
          <p:cNvSpPr/>
          <p:nvPr/>
        </p:nvSpPr>
        <p:spPr>
          <a:xfrm>
            <a:off x="2871047" y="344678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0" name="vold1-top">
            <a:extLst>
              <a:ext uri="{FF2B5EF4-FFF2-40B4-BE49-F238E27FC236}">
                <a16:creationId xmlns:a16="http://schemas.microsoft.com/office/drawing/2014/main" id="{C8437438-2F83-B7C7-C064-98DB8404C498}"/>
              </a:ext>
            </a:extLst>
          </p:cNvPr>
          <p:cNvSpPr/>
          <p:nvPr/>
        </p:nvSpPr>
        <p:spPr>
          <a:xfrm>
            <a:off x="2871047" y="3446780"/>
            <a:ext cx="1359747" cy="25400"/>
          </a:xfrm>
          <a:prstGeom prst="rect">
            <a:avLst/>
          </a:prstGeom>
          <a:solidFill>
            <a:srgbClr val="8998A0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1" name="vold1-t">
            <a:extLst>
              <a:ext uri="{FF2B5EF4-FFF2-40B4-BE49-F238E27FC236}">
                <a16:creationId xmlns:a16="http://schemas.microsoft.com/office/drawing/2014/main" id="{5AB726E0-64DE-9FBA-368D-810644486DC7}"/>
              </a:ext>
            </a:extLst>
          </p:cNvPr>
          <p:cNvSpPr txBox="1"/>
          <p:nvPr/>
        </p:nvSpPr>
        <p:spPr>
          <a:xfrm>
            <a:off x="2871047" y="349758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KPI </a:t>
            </a:r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关联</a:t>
            </a:r>
          </a:p>
        </p:txBody>
      </p:sp>
      <p:sp>
        <p:nvSpPr>
          <p:cNvPr id="142" name="vold1-s">
            <a:extLst>
              <a:ext uri="{FF2B5EF4-FFF2-40B4-BE49-F238E27FC236}">
                <a16:creationId xmlns:a16="http://schemas.microsoft.com/office/drawing/2014/main" id="{707C949C-83F0-6314-6E5A-FDFE65C7A3A4}"/>
              </a:ext>
            </a:extLst>
          </p:cNvPr>
          <p:cNvSpPr txBox="1"/>
          <p:nvPr/>
        </p:nvSpPr>
        <p:spPr>
          <a:xfrm>
            <a:off x="2871047" y="370078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衡量年度交付结果</a:t>
            </a:r>
          </a:p>
        </p:txBody>
      </p:sp>
      <p:sp>
        <p:nvSpPr>
          <p:cNvPr id="143" name="vold2">
            <a:extLst>
              <a:ext uri="{FF2B5EF4-FFF2-40B4-BE49-F238E27FC236}">
                <a16:creationId xmlns:a16="http://schemas.microsoft.com/office/drawing/2014/main" id="{5375DA50-C7C8-63DF-D2F3-FF62347F01B2}"/>
              </a:ext>
            </a:extLst>
          </p:cNvPr>
          <p:cNvSpPr/>
          <p:nvPr/>
        </p:nvSpPr>
        <p:spPr>
          <a:xfrm>
            <a:off x="4294293" y="3446780"/>
            <a:ext cx="1359747" cy="373380"/>
          </a:xfrm>
          <a:prstGeom prst="rect">
            <a:avLst/>
          </a:prstGeom>
          <a:solidFill>
            <a:srgbClr val="E5E9E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4" name="vold2-top">
            <a:extLst>
              <a:ext uri="{FF2B5EF4-FFF2-40B4-BE49-F238E27FC236}">
                <a16:creationId xmlns:a16="http://schemas.microsoft.com/office/drawing/2014/main" id="{0FAE41EF-945A-A758-862B-1DE4BAB563B1}"/>
              </a:ext>
            </a:extLst>
          </p:cNvPr>
          <p:cNvSpPr/>
          <p:nvPr/>
        </p:nvSpPr>
        <p:spPr>
          <a:xfrm>
            <a:off x="4294293" y="3446780"/>
            <a:ext cx="1359747" cy="25400"/>
          </a:xfrm>
          <a:prstGeom prst="rect">
            <a:avLst/>
          </a:prstGeom>
          <a:solidFill>
            <a:srgbClr val="B979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5" name="vold2-t">
            <a:extLst>
              <a:ext uri="{FF2B5EF4-FFF2-40B4-BE49-F238E27FC236}">
                <a16:creationId xmlns:a16="http://schemas.microsoft.com/office/drawing/2014/main" id="{300117AC-8ECE-58D7-189B-F658992B6542}"/>
              </a:ext>
            </a:extLst>
          </p:cNvPr>
          <p:cNvSpPr txBox="1"/>
          <p:nvPr/>
        </p:nvSpPr>
        <p:spPr>
          <a:xfrm>
            <a:off x="4294293" y="3497580"/>
            <a:ext cx="1359747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700" b="1">
                <a:solidFill>
                  <a:srgbClr val="425B66"/>
                </a:solidFill>
                <a:latin typeface="Microsoft YaHei" panose="020B0503020204020204" pitchFamily="34" charset="-122"/>
              </a:rPr>
              <a:t>引导不足</a:t>
            </a:r>
          </a:p>
        </p:txBody>
      </p:sp>
      <p:sp>
        <p:nvSpPr>
          <p:cNvPr id="146" name="vold2-s">
            <a:extLst>
              <a:ext uri="{FF2B5EF4-FFF2-40B4-BE49-F238E27FC236}">
                <a16:creationId xmlns:a16="http://schemas.microsoft.com/office/drawing/2014/main" id="{1C2CE5CE-1276-F8F2-CC8D-6914C091ECBE}"/>
              </a:ext>
            </a:extLst>
          </p:cNvPr>
          <p:cNvSpPr txBox="1"/>
          <p:nvPr/>
        </p:nvSpPr>
        <p:spPr>
          <a:xfrm>
            <a:off x="4294293" y="3700780"/>
            <a:ext cx="1359747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>
                <a:solidFill>
                  <a:srgbClr val="75858D"/>
                </a:solidFill>
                <a:latin typeface="Microsoft YaHei" panose="020B0503020204020204" pitchFamily="34" charset="-122"/>
              </a:rPr>
              <a:t>无法驱动业务自我优化升级</a:t>
            </a:r>
          </a:p>
        </p:txBody>
      </p:sp>
      <p:sp>
        <p:nvSpPr>
          <p:cNvPr id="147" name="cell-v-new">
            <a:extLst>
              <a:ext uri="{FF2B5EF4-FFF2-40B4-BE49-F238E27FC236}">
                <a16:creationId xmlns:a16="http://schemas.microsoft.com/office/drawing/2014/main" id="{12E66FAA-FA4A-6912-D1C6-7C064A4FD73C}"/>
              </a:ext>
            </a:extLst>
          </p:cNvPr>
          <p:cNvSpPr/>
          <p:nvPr/>
        </p:nvSpPr>
        <p:spPr>
          <a:xfrm>
            <a:off x="5730240" y="3268980"/>
            <a:ext cx="6050280" cy="960120"/>
          </a:xfrm>
          <a:prstGeom prst="rect">
            <a:avLst/>
          </a:prstGeom>
          <a:solidFill>
            <a:srgbClr val="FFFFFF"/>
          </a:solidFill>
          <a:ln w="6350">
            <a:solidFill>
              <a:srgbClr val="CDD7D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8" name="goal-box">
            <a:extLst>
              <a:ext uri="{FF2B5EF4-FFF2-40B4-BE49-F238E27FC236}">
                <a16:creationId xmlns:a16="http://schemas.microsoft.com/office/drawing/2014/main" id="{76CB51B1-88B6-69F6-1692-AA34711358CF}"/>
              </a:ext>
            </a:extLst>
          </p:cNvPr>
          <p:cNvSpPr/>
          <p:nvPr/>
        </p:nvSpPr>
        <p:spPr>
          <a:xfrm>
            <a:off x="5806440" y="3370580"/>
            <a:ext cx="2438400" cy="708660"/>
          </a:xfrm>
          <a:prstGeom prst="rect">
            <a:avLst/>
          </a:prstGeom>
          <a:noFill/>
          <a:ln w="15240" cap="flat" cmpd="sng" algn="ctr">
            <a:solidFill>
              <a:srgbClr val="C9D5D8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49" name="goal-cap">
            <a:extLst>
              <a:ext uri="{FF2B5EF4-FFF2-40B4-BE49-F238E27FC236}">
                <a16:creationId xmlns:a16="http://schemas.microsoft.com/office/drawing/2014/main" id="{DC0915B2-A01E-6C34-F4D8-579FD338C301}"/>
              </a:ext>
            </a:extLst>
          </p:cNvPr>
          <p:cNvSpPr txBox="1"/>
          <p:nvPr/>
        </p:nvSpPr>
        <p:spPr>
          <a:xfrm>
            <a:off x="5857240" y="3370580"/>
            <a:ext cx="2336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61747E"/>
                </a:solidFill>
                <a:latin typeface="Microsoft YaHei" panose="020B0503020204020204" pitchFamily="34" charset="-122"/>
              </a:rPr>
              <a:t>完整测试能力年度目标合集 </a:t>
            </a:r>
            <a:r>
              <a:rPr lang="en-US" altLang="zh-CN" sz="600" b="1">
                <a:solidFill>
                  <a:srgbClr val="61747E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600" b="1">
                <a:solidFill>
                  <a:srgbClr val="61747E"/>
                </a:solidFill>
                <a:latin typeface="Microsoft YaHei" panose="020B0503020204020204" pitchFamily="34" charset="-122"/>
              </a:rPr>
              <a:t>递进能力阶</a:t>
            </a:r>
          </a:p>
        </p:txBody>
      </p:sp>
      <p:sp>
        <p:nvSpPr>
          <p:cNvPr id="150" name="step0">
            <a:extLst>
              <a:ext uri="{FF2B5EF4-FFF2-40B4-BE49-F238E27FC236}">
                <a16:creationId xmlns:a16="http://schemas.microsoft.com/office/drawing/2014/main" id="{BFF6976A-BC97-7486-8628-C19FB24635B5}"/>
              </a:ext>
            </a:extLst>
          </p:cNvPr>
          <p:cNvSpPr/>
          <p:nvPr/>
        </p:nvSpPr>
        <p:spPr>
          <a:xfrm>
            <a:off x="5831840" y="3764280"/>
            <a:ext cx="774700" cy="213360"/>
          </a:xfrm>
          <a:prstGeom prst="rect">
            <a:avLst/>
          </a:prstGeom>
          <a:solidFill>
            <a:srgbClr val="8398A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12700" rIns="12700" bIns="12700" rtlCol="0" anchor="ctr"/>
          <a:lstStyle/>
          <a:p>
            <a:pPr algn="ctr"/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2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级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`n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基础基底</a:t>
            </a:r>
          </a:p>
        </p:txBody>
      </p:sp>
      <p:sp>
        <p:nvSpPr>
          <p:cNvPr id="151" name="step1">
            <a:extLst>
              <a:ext uri="{FF2B5EF4-FFF2-40B4-BE49-F238E27FC236}">
                <a16:creationId xmlns:a16="http://schemas.microsoft.com/office/drawing/2014/main" id="{5BF93E5C-CFAD-BB7B-F56F-479255F60A43}"/>
              </a:ext>
            </a:extLst>
          </p:cNvPr>
          <p:cNvSpPr/>
          <p:nvPr/>
        </p:nvSpPr>
        <p:spPr>
          <a:xfrm>
            <a:off x="6644640" y="3619500"/>
            <a:ext cx="774700" cy="35814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12700" rIns="12700" bIns="12700" rtlCol="0" anchor="ctr"/>
          <a:lstStyle/>
          <a:p>
            <a:pPr algn="ctr"/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3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级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`n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年度重点</a:t>
            </a:r>
          </a:p>
        </p:txBody>
      </p:sp>
      <p:sp>
        <p:nvSpPr>
          <p:cNvPr id="152" name="step2">
            <a:extLst>
              <a:ext uri="{FF2B5EF4-FFF2-40B4-BE49-F238E27FC236}">
                <a16:creationId xmlns:a16="http://schemas.microsoft.com/office/drawing/2014/main" id="{C6F4378F-152B-36D0-3DC9-C5165DC16985}"/>
              </a:ext>
            </a:extLst>
          </p:cNvPr>
          <p:cNvSpPr/>
          <p:nvPr/>
        </p:nvSpPr>
        <p:spPr>
          <a:xfrm>
            <a:off x="7457440" y="3482340"/>
            <a:ext cx="774700" cy="4953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2700" tIns="12700" rIns="12700" bIns="12700" rtlCol="0" anchor="ctr"/>
          <a:lstStyle/>
          <a:p>
            <a:pPr algn="ctr"/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4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级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`n</a:t>
            </a:r>
            <a:r>
              <a:rPr lang="zh-CN" altLang="en-US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数字化 </a:t>
            </a:r>
            <a:r>
              <a:rPr lang="en-US" altLang="zh-CN" sz="600" b="1">
                <a:solidFill>
                  <a:srgbClr val="FFFFFF"/>
                </a:solidFill>
                <a:latin typeface="Microsoft YaHei" panose="020B0503020204020204" pitchFamily="34" charset="-122"/>
              </a:rPr>
              <a:t>/ AI</a:t>
            </a:r>
            <a:endParaRPr lang="zh-CN" altLang="en-US" sz="600" b="1">
              <a:solidFill>
                <a:srgbClr val="FFFFF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53" name="out0">
            <a:extLst>
              <a:ext uri="{FF2B5EF4-FFF2-40B4-BE49-F238E27FC236}">
                <a16:creationId xmlns:a16="http://schemas.microsoft.com/office/drawing/2014/main" id="{B5581CAA-101A-7928-1B2A-BDFA1887B96A}"/>
              </a:ext>
            </a:extLst>
          </p:cNvPr>
          <p:cNvSpPr/>
          <p:nvPr/>
        </p:nvSpPr>
        <p:spPr>
          <a:xfrm>
            <a:off x="8295640" y="3370580"/>
            <a:ext cx="1102360" cy="708660"/>
          </a:xfrm>
          <a:prstGeom prst="rect">
            <a:avLst/>
          </a:prstGeom>
          <a:solidFill>
            <a:srgbClr val="EEF4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4" name="out0-top">
            <a:extLst>
              <a:ext uri="{FF2B5EF4-FFF2-40B4-BE49-F238E27FC236}">
                <a16:creationId xmlns:a16="http://schemas.microsoft.com/office/drawing/2014/main" id="{35545C39-0368-B71F-35F7-EF220EDD806F}"/>
              </a:ext>
            </a:extLst>
          </p:cNvPr>
          <p:cNvSpPr/>
          <p:nvPr/>
        </p:nvSpPr>
        <p:spPr>
          <a:xfrm>
            <a:off x="8295640" y="3370580"/>
            <a:ext cx="1102360" cy="3048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5" name="out0-t">
            <a:extLst>
              <a:ext uri="{FF2B5EF4-FFF2-40B4-BE49-F238E27FC236}">
                <a16:creationId xmlns:a16="http://schemas.microsoft.com/office/drawing/2014/main" id="{D6ED9069-A639-5B3A-2365-0E20E91FB3D2}"/>
              </a:ext>
            </a:extLst>
          </p:cNvPr>
          <p:cNvSpPr txBox="1"/>
          <p:nvPr/>
        </p:nvSpPr>
        <p:spPr>
          <a:xfrm>
            <a:off x="8295640" y="3446780"/>
            <a:ext cx="110236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176B65"/>
                </a:solidFill>
                <a:latin typeface="Microsoft YaHei" panose="020B0503020204020204" pitchFamily="34" charset="-122"/>
              </a:rPr>
              <a:t>可诊断</a:t>
            </a:r>
          </a:p>
        </p:txBody>
      </p:sp>
      <p:sp>
        <p:nvSpPr>
          <p:cNvPr id="156" name="out0-s">
            <a:extLst>
              <a:ext uri="{FF2B5EF4-FFF2-40B4-BE49-F238E27FC236}">
                <a16:creationId xmlns:a16="http://schemas.microsoft.com/office/drawing/2014/main" id="{E3731C05-7C21-AD3E-BB45-89DD33A37587}"/>
              </a:ext>
            </a:extLst>
          </p:cNvPr>
          <p:cNvSpPr txBox="1"/>
          <p:nvPr/>
        </p:nvSpPr>
        <p:spPr>
          <a:xfrm>
            <a:off x="8295640" y="3624580"/>
            <a:ext cx="110236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0747E"/>
                </a:solidFill>
                <a:latin typeface="Microsoft YaHei" panose="020B0503020204020204" pitchFamily="34" charset="-122"/>
              </a:rPr>
              <a:t>识别能力当前达成情况与年度目标差距。</a:t>
            </a:r>
          </a:p>
        </p:txBody>
      </p:sp>
      <p:sp>
        <p:nvSpPr>
          <p:cNvPr id="157" name="out1">
            <a:extLst>
              <a:ext uri="{FF2B5EF4-FFF2-40B4-BE49-F238E27FC236}">
                <a16:creationId xmlns:a16="http://schemas.microsoft.com/office/drawing/2014/main" id="{E54EE8C1-B18C-1F2F-FA62-3242FE8D6EDA}"/>
              </a:ext>
            </a:extLst>
          </p:cNvPr>
          <p:cNvSpPr/>
          <p:nvPr/>
        </p:nvSpPr>
        <p:spPr>
          <a:xfrm>
            <a:off x="9448800" y="3370580"/>
            <a:ext cx="1102360" cy="708660"/>
          </a:xfrm>
          <a:prstGeom prst="rect">
            <a:avLst/>
          </a:prstGeom>
          <a:solidFill>
            <a:srgbClr val="EEF4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out1-top">
            <a:extLst>
              <a:ext uri="{FF2B5EF4-FFF2-40B4-BE49-F238E27FC236}">
                <a16:creationId xmlns:a16="http://schemas.microsoft.com/office/drawing/2014/main" id="{8215A065-1D5E-04C6-B6A8-ED487DEAF76D}"/>
              </a:ext>
            </a:extLst>
          </p:cNvPr>
          <p:cNvSpPr/>
          <p:nvPr/>
        </p:nvSpPr>
        <p:spPr>
          <a:xfrm>
            <a:off x="9448800" y="3370580"/>
            <a:ext cx="1102360" cy="3048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9" name="out1-t">
            <a:extLst>
              <a:ext uri="{FF2B5EF4-FFF2-40B4-BE49-F238E27FC236}">
                <a16:creationId xmlns:a16="http://schemas.microsoft.com/office/drawing/2014/main" id="{0FF77E46-9D29-9C59-E4C2-8DFF962A23FF}"/>
              </a:ext>
            </a:extLst>
          </p:cNvPr>
          <p:cNvSpPr txBox="1"/>
          <p:nvPr/>
        </p:nvSpPr>
        <p:spPr>
          <a:xfrm>
            <a:off x="9448800" y="3446780"/>
            <a:ext cx="110236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176B65"/>
                </a:solidFill>
                <a:latin typeface="Microsoft YaHei" panose="020B0503020204020204" pitchFamily="34" charset="-122"/>
              </a:rPr>
              <a:t>可对比</a:t>
            </a:r>
          </a:p>
        </p:txBody>
      </p:sp>
      <p:sp>
        <p:nvSpPr>
          <p:cNvPr id="160" name="out1-s">
            <a:extLst>
              <a:ext uri="{FF2B5EF4-FFF2-40B4-BE49-F238E27FC236}">
                <a16:creationId xmlns:a16="http://schemas.microsoft.com/office/drawing/2014/main" id="{FE3664DE-29DA-640E-D259-51122D1DA4B6}"/>
              </a:ext>
            </a:extLst>
          </p:cNvPr>
          <p:cNvSpPr txBox="1"/>
          <p:nvPr/>
        </p:nvSpPr>
        <p:spPr>
          <a:xfrm>
            <a:off x="9448800" y="3624580"/>
            <a:ext cx="110236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0747E"/>
                </a:solidFill>
                <a:latin typeface="Microsoft YaHei" panose="020B0503020204020204" pitchFamily="34" charset="-122"/>
              </a:rPr>
              <a:t>比较不同科组、部门、业务的能力得分差距。</a:t>
            </a:r>
          </a:p>
        </p:txBody>
      </p:sp>
      <p:sp>
        <p:nvSpPr>
          <p:cNvPr id="161" name="out2">
            <a:extLst>
              <a:ext uri="{FF2B5EF4-FFF2-40B4-BE49-F238E27FC236}">
                <a16:creationId xmlns:a16="http://schemas.microsoft.com/office/drawing/2014/main" id="{28D39F4B-4800-0707-7AA8-B86F59D817A7}"/>
              </a:ext>
            </a:extLst>
          </p:cNvPr>
          <p:cNvSpPr/>
          <p:nvPr/>
        </p:nvSpPr>
        <p:spPr>
          <a:xfrm>
            <a:off x="10601960" y="3370580"/>
            <a:ext cx="1102360" cy="708660"/>
          </a:xfrm>
          <a:prstGeom prst="rect">
            <a:avLst/>
          </a:prstGeom>
          <a:solidFill>
            <a:srgbClr val="EEF4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2" name="out2-top">
            <a:extLst>
              <a:ext uri="{FF2B5EF4-FFF2-40B4-BE49-F238E27FC236}">
                <a16:creationId xmlns:a16="http://schemas.microsoft.com/office/drawing/2014/main" id="{535A9430-E398-3D8E-7E73-EDF8D06E500A}"/>
              </a:ext>
            </a:extLst>
          </p:cNvPr>
          <p:cNvSpPr/>
          <p:nvPr/>
        </p:nvSpPr>
        <p:spPr>
          <a:xfrm>
            <a:off x="10601960" y="3370580"/>
            <a:ext cx="1102360" cy="3048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3" name="out2-t">
            <a:extLst>
              <a:ext uri="{FF2B5EF4-FFF2-40B4-BE49-F238E27FC236}">
                <a16:creationId xmlns:a16="http://schemas.microsoft.com/office/drawing/2014/main" id="{F9D200A5-C1A0-0370-3A13-42B3E1C2C938}"/>
              </a:ext>
            </a:extLst>
          </p:cNvPr>
          <p:cNvSpPr txBox="1"/>
          <p:nvPr/>
        </p:nvSpPr>
        <p:spPr>
          <a:xfrm>
            <a:off x="10601960" y="3446780"/>
            <a:ext cx="110236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700" b="1">
                <a:solidFill>
                  <a:srgbClr val="176B65"/>
                </a:solidFill>
                <a:latin typeface="Microsoft YaHei" panose="020B0503020204020204" pitchFamily="34" charset="-122"/>
              </a:rPr>
              <a:t>可引导</a:t>
            </a:r>
          </a:p>
        </p:txBody>
      </p:sp>
      <p:sp>
        <p:nvSpPr>
          <p:cNvPr id="164" name="out2-s">
            <a:extLst>
              <a:ext uri="{FF2B5EF4-FFF2-40B4-BE49-F238E27FC236}">
                <a16:creationId xmlns:a16="http://schemas.microsoft.com/office/drawing/2014/main" id="{6D88B5B4-FA5D-21E6-89B4-5D848997F37F}"/>
              </a:ext>
            </a:extLst>
          </p:cNvPr>
          <p:cNvSpPr txBox="1"/>
          <p:nvPr/>
        </p:nvSpPr>
        <p:spPr>
          <a:xfrm>
            <a:off x="10601960" y="3624580"/>
            <a:ext cx="110236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0747E"/>
                </a:solidFill>
                <a:latin typeface="Microsoft YaHei" panose="020B0503020204020204" pitchFamily="34" charset="-122"/>
              </a:rPr>
              <a:t>按目标差距与对比结果形成分层改进建议。</a:t>
            </a:r>
          </a:p>
        </p:txBody>
      </p:sp>
      <p:sp>
        <p:nvSpPr>
          <p:cNvPr id="165" name="ex-bg">
            <a:extLst>
              <a:ext uri="{FF2B5EF4-FFF2-40B4-BE49-F238E27FC236}">
                <a16:creationId xmlns:a16="http://schemas.microsoft.com/office/drawing/2014/main" id="{EA10A0C0-1925-F85F-9DAF-116C9789487D}"/>
              </a:ext>
            </a:extLst>
          </p:cNvPr>
          <p:cNvSpPr/>
          <p:nvPr/>
        </p:nvSpPr>
        <p:spPr>
          <a:xfrm>
            <a:off x="472440" y="4343400"/>
            <a:ext cx="11308080" cy="225552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6" name="ex-top">
            <a:extLst>
              <a:ext uri="{FF2B5EF4-FFF2-40B4-BE49-F238E27FC236}">
                <a16:creationId xmlns:a16="http://schemas.microsoft.com/office/drawing/2014/main" id="{4C37D6E2-7221-F9AC-B2C1-1D74D3038390}"/>
              </a:ext>
            </a:extLst>
          </p:cNvPr>
          <p:cNvSpPr/>
          <p:nvPr/>
        </p:nvSpPr>
        <p:spPr>
          <a:xfrm>
            <a:off x="472440" y="4343400"/>
            <a:ext cx="11308080" cy="254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67" name="ex-head">
            <a:extLst>
              <a:ext uri="{FF2B5EF4-FFF2-40B4-BE49-F238E27FC236}">
                <a16:creationId xmlns:a16="http://schemas.microsoft.com/office/drawing/2014/main" id="{262339DB-5ADF-AFE0-295F-63193317AC96}"/>
              </a:ext>
            </a:extLst>
          </p:cNvPr>
          <p:cNvSpPr txBox="1"/>
          <p:nvPr/>
        </p:nvSpPr>
        <p:spPr>
          <a:xfrm>
            <a:off x="548640" y="4376742"/>
            <a:ext cx="11155680" cy="194925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1100" b="1">
                <a:solidFill>
                  <a:srgbClr val="173650"/>
                </a:solidFill>
                <a:latin typeface="Microsoft YaHei" panose="020B0503020204020204" pitchFamily="34" charset="-122"/>
              </a:rPr>
              <a:t>测试能力成熟度管理示例</a:t>
            </a:r>
          </a:p>
        </p:txBody>
      </p:sp>
      <p:cxnSp>
        <p:nvCxnSpPr>
          <p:cNvPr id="168" name="ex-div">
            <a:extLst>
              <a:ext uri="{FF2B5EF4-FFF2-40B4-BE49-F238E27FC236}">
                <a16:creationId xmlns:a16="http://schemas.microsoft.com/office/drawing/2014/main" id="{D9BF8062-384E-266C-AFF1-1706E02DBA67}"/>
              </a:ext>
            </a:extLst>
          </p:cNvPr>
          <p:cNvCxnSpPr/>
          <p:nvPr/>
        </p:nvCxnSpPr>
        <p:spPr>
          <a:xfrm>
            <a:off x="472440" y="4610100"/>
            <a:ext cx="11308080" cy="0"/>
          </a:xfrm>
          <a:prstGeom prst="line">
            <a:avLst/>
          </a:prstGeom>
          <a:ln w="7620">
            <a:solidFill>
              <a:srgbClr val="D7D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9" name="panel0">
            <a:extLst>
              <a:ext uri="{FF2B5EF4-FFF2-40B4-BE49-F238E27FC236}">
                <a16:creationId xmlns:a16="http://schemas.microsoft.com/office/drawing/2014/main" id="{D81C29FA-FAA2-105A-B2D4-A449594457C1}"/>
              </a:ext>
            </a:extLst>
          </p:cNvPr>
          <p:cNvSpPr/>
          <p:nvPr/>
        </p:nvSpPr>
        <p:spPr>
          <a:xfrm>
            <a:off x="535940" y="4673600"/>
            <a:ext cx="28575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0" name="panel0-top">
            <a:extLst>
              <a:ext uri="{FF2B5EF4-FFF2-40B4-BE49-F238E27FC236}">
                <a16:creationId xmlns:a16="http://schemas.microsoft.com/office/drawing/2014/main" id="{23818DB3-E0D4-29ED-077C-A5E316A3F2F4}"/>
              </a:ext>
            </a:extLst>
          </p:cNvPr>
          <p:cNvSpPr/>
          <p:nvPr/>
        </p:nvSpPr>
        <p:spPr>
          <a:xfrm>
            <a:off x="535940" y="4673600"/>
            <a:ext cx="2857500" cy="2540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1" name="panel0-h">
            <a:extLst>
              <a:ext uri="{FF2B5EF4-FFF2-40B4-BE49-F238E27FC236}">
                <a16:creationId xmlns:a16="http://schemas.microsoft.com/office/drawing/2014/main" id="{ED276F18-9EF6-314C-C0F5-04E34EEB509F}"/>
              </a:ext>
            </a:extLst>
          </p:cNvPr>
          <p:cNvSpPr txBox="1"/>
          <p:nvPr/>
        </p:nvSpPr>
        <p:spPr>
          <a:xfrm>
            <a:off x="586740" y="4711700"/>
            <a:ext cx="27559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科组视角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运控测试组</a:t>
            </a:r>
          </a:p>
        </p:txBody>
      </p:sp>
      <p:sp>
        <p:nvSpPr>
          <p:cNvPr id="172" name="panel0-s">
            <a:extLst>
              <a:ext uri="{FF2B5EF4-FFF2-40B4-BE49-F238E27FC236}">
                <a16:creationId xmlns:a16="http://schemas.microsoft.com/office/drawing/2014/main" id="{E0A3697A-F40A-7BF2-5F51-3E368D9FFB98}"/>
              </a:ext>
            </a:extLst>
          </p:cNvPr>
          <p:cNvSpPr txBox="1"/>
          <p:nvPr/>
        </p:nvSpPr>
        <p:spPr>
          <a:xfrm>
            <a:off x="586740" y="4851400"/>
            <a:ext cx="27559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各维度目标 </a:t>
            </a:r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73" name="panel1">
            <a:extLst>
              <a:ext uri="{FF2B5EF4-FFF2-40B4-BE49-F238E27FC236}">
                <a16:creationId xmlns:a16="http://schemas.microsoft.com/office/drawing/2014/main" id="{D972DDF0-2BD3-03F2-40AC-9AD3CCE6AA08}"/>
              </a:ext>
            </a:extLst>
          </p:cNvPr>
          <p:cNvSpPr/>
          <p:nvPr/>
        </p:nvSpPr>
        <p:spPr>
          <a:xfrm>
            <a:off x="3454400" y="4673600"/>
            <a:ext cx="26289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4" name="panel1-top">
            <a:extLst>
              <a:ext uri="{FF2B5EF4-FFF2-40B4-BE49-F238E27FC236}">
                <a16:creationId xmlns:a16="http://schemas.microsoft.com/office/drawing/2014/main" id="{1592EC95-EB02-251D-F9C1-CD4E382AAFB2}"/>
              </a:ext>
            </a:extLst>
          </p:cNvPr>
          <p:cNvSpPr/>
          <p:nvPr/>
        </p:nvSpPr>
        <p:spPr>
          <a:xfrm>
            <a:off x="3454400" y="4673600"/>
            <a:ext cx="2628900" cy="25400"/>
          </a:xfrm>
          <a:prstGeom prst="rect">
            <a:avLst/>
          </a:prstGeom>
          <a:solidFill>
            <a:srgbClr val="8398A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5" name="panel1-h">
            <a:extLst>
              <a:ext uri="{FF2B5EF4-FFF2-40B4-BE49-F238E27FC236}">
                <a16:creationId xmlns:a16="http://schemas.microsoft.com/office/drawing/2014/main" id="{427121F1-7CEF-FEFE-E740-B4F4E2B35A4F}"/>
              </a:ext>
            </a:extLst>
          </p:cNvPr>
          <p:cNvSpPr txBox="1"/>
          <p:nvPr/>
        </p:nvSpPr>
        <p:spPr>
          <a:xfrm>
            <a:off x="3505200" y="4711700"/>
            <a:ext cx="25273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部门视角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驱动测试部</a:t>
            </a:r>
          </a:p>
        </p:txBody>
      </p:sp>
      <p:sp>
        <p:nvSpPr>
          <p:cNvPr id="176" name="panel1-s">
            <a:extLst>
              <a:ext uri="{FF2B5EF4-FFF2-40B4-BE49-F238E27FC236}">
                <a16:creationId xmlns:a16="http://schemas.microsoft.com/office/drawing/2014/main" id="{D3C3A57F-7587-FDBB-2A6E-C7B42667CF46}"/>
              </a:ext>
            </a:extLst>
          </p:cNvPr>
          <p:cNvSpPr txBox="1"/>
          <p:nvPr/>
        </p:nvSpPr>
        <p:spPr>
          <a:xfrm>
            <a:off x="3505200" y="4851400"/>
            <a:ext cx="2527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同部门科组对比</a:t>
            </a:r>
          </a:p>
        </p:txBody>
      </p:sp>
      <p:sp>
        <p:nvSpPr>
          <p:cNvPr id="177" name="panel2">
            <a:extLst>
              <a:ext uri="{FF2B5EF4-FFF2-40B4-BE49-F238E27FC236}">
                <a16:creationId xmlns:a16="http://schemas.microsoft.com/office/drawing/2014/main" id="{97628ED8-FB73-36CF-E9CD-2D10CED3F3B6}"/>
              </a:ext>
            </a:extLst>
          </p:cNvPr>
          <p:cNvSpPr/>
          <p:nvPr/>
        </p:nvSpPr>
        <p:spPr>
          <a:xfrm>
            <a:off x="6144260" y="4673600"/>
            <a:ext cx="27813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8" name="panel2-top">
            <a:extLst>
              <a:ext uri="{FF2B5EF4-FFF2-40B4-BE49-F238E27FC236}">
                <a16:creationId xmlns:a16="http://schemas.microsoft.com/office/drawing/2014/main" id="{A3135449-CE75-CC5C-FABB-5213E44DCA3C}"/>
              </a:ext>
            </a:extLst>
          </p:cNvPr>
          <p:cNvSpPr/>
          <p:nvPr/>
        </p:nvSpPr>
        <p:spPr>
          <a:xfrm>
            <a:off x="6144260" y="4673600"/>
            <a:ext cx="2781300" cy="2540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9" name="panel2-h">
            <a:extLst>
              <a:ext uri="{FF2B5EF4-FFF2-40B4-BE49-F238E27FC236}">
                <a16:creationId xmlns:a16="http://schemas.microsoft.com/office/drawing/2014/main" id="{BF3C3F63-CFCE-ED37-082A-565BF6A1E840}"/>
              </a:ext>
            </a:extLst>
          </p:cNvPr>
          <p:cNvSpPr txBox="1"/>
          <p:nvPr/>
        </p:nvSpPr>
        <p:spPr>
          <a:xfrm>
            <a:off x="6195060" y="4711700"/>
            <a:ext cx="26797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业务视角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伺服产品业务</a:t>
            </a:r>
          </a:p>
        </p:txBody>
      </p:sp>
      <p:sp>
        <p:nvSpPr>
          <p:cNvPr id="180" name="panel2-s">
            <a:extLst>
              <a:ext uri="{FF2B5EF4-FFF2-40B4-BE49-F238E27FC236}">
                <a16:creationId xmlns:a16="http://schemas.microsoft.com/office/drawing/2014/main" id="{B1A41EC1-F8B8-3E59-CEBA-F3042EDC884A}"/>
              </a:ext>
            </a:extLst>
          </p:cNvPr>
          <p:cNvSpPr txBox="1"/>
          <p:nvPr/>
        </p:nvSpPr>
        <p:spPr>
          <a:xfrm>
            <a:off x="6195060" y="4851400"/>
            <a:ext cx="2679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六领域对比</a:t>
            </a:r>
          </a:p>
        </p:txBody>
      </p:sp>
      <p:sp>
        <p:nvSpPr>
          <p:cNvPr id="181" name="panel3">
            <a:extLst>
              <a:ext uri="{FF2B5EF4-FFF2-40B4-BE49-F238E27FC236}">
                <a16:creationId xmlns:a16="http://schemas.microsoft.com/office/drawing/2014/main" id="{A9D1AD2E-AD5B-9962-EA11-042313064B28}"/>
              </a:ext>
            </a:extLst>
          </p:cNvPr>
          <p:cNvSpPr/>
          <p:nvPr/>
        </p:nvSpPr>
        <p:spPr>
          <a:xfrm>
            <a:off x="8986520" y="4673600"/>
            <a:ext cx="2730500" cy="1861820"/>
          </a:xfrm>
          <a:prstGeom prst="rect">
            <a:avLst/>
          </a:prstGeom>
          <a:solidFill>
            <a:srgbClr val="F5F7F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2" name="panel3-top">
            <a:extLst>
              <a:ext uri="{FF2B5EF4-FFF2-40B4-BE49-F238E27FC236}">
                <a16:creationId xmlns:a16="http://schemas.microsoft.com/office/drawing/2014/main" id="{8C9E7022-A0E0-CCFC-2225-C2CE2412528E}"/>
              </a:ext>
            </a:extLst>
          </p:cNvPr>
          <p:cNvSpPr/>
          <p:nvPr/>
        </p:nvSpPr>
        <p:spPr>
          <a:xfrm>
            <a:off x="8986520" y="4673600"/>
            <a:ext cx="2730500" cy="254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3" name="panel3-h">
            <a:extLst>
              <a:ext uri="{FF2B5EF4-FFF2-40B4-BE49-F238E27FC236}">
                <a16:creationId xmlns:a16="http://schemas.microsoft.com/office/drawing/2014/main" id="{ED151807-1101-2F6C-573B-077F49395F2E}"/>
              </a:ext>
            </a:extLst>
          </p:cNvPr>
          <p:cNvSpPr txBox="1"/>
          <p:nvPr/>
        </p:nvSpPr>
        <p:spPr>
          <a:xfrm>
            <a:off x="9037320" y="4711700"/>
            <a:ext cx="2628900" cy="148759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改进建议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·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预计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12 </a:t>
            </a:r>
            <a:r>
              <a:rPr lang="zh-CN" altLang="en-US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月达到 </a:t>
            </a:r>
            <a:r>
              <a:rPr lang="en-US" altLang="zh-CN" sz="800" b="1">
                <a:solidFill>
                  <a:srgbClr val="294858"/>
                </a:solidFill>
                <a:latin typeface="Microsoft YaHei" panose="020B0503020204020204" pitchFamily="34" charset="-122"/>
              </a:rPr>
              <a:t>3.0+</a:t>
            </a:r>
            <a:endParaRPr lang="zh-CN" altLang="en-US" sz="800" b="1">
              <a:solidFill>
                <a:srgbClr val="29485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84" name="radar-outer">
            <a:extLst>
              <a:ext uri="{FF2B5EF4-FFF2-40B4-BE49-F238E27FC236}">
                <a16:creationId xmlns:a16="http://schemas.microsoft.com/office/drawing/2014/main" id="{8616320C-2598-8C48-BAE1-8C2E393BC13E}"/>
              </a:ext>
            </a:extLst>
          </p:cNvPr>
          <p:cNvSpPr/>
          <p:nvPr/>
        </p:nvSpPr>
        <p:spPr>
          <a:xfrm>
            <a:off x="751384" y="5160412"/>
            <a:ext cx="737513" cy="821353"/>
          </a:xfrm>
          <a:custGeom>
            <a:avLst/>
            <a:gdLst/>
            <a:ahLst/>
            <a:cxnLst/>
            <a:rect l="0" t="0" r="0" b="0"/>
            <a:pathLst>
              <a:path w="737513" h="821353">
                <a:moveTo>
                  <a:pt x="366281" y="0"/>
                </a:moveTo>
                <a:lnTo>
                  <a:pt x="737512" y="310161"/>
                </a:lnTo>
                <a:lnTo>
                  <a:pt x="593969" y="821352"/>
                </a:lnTo>
                <a:lnTo>
                  <a:pt x="138593" y="821352"/>
                </a:lnTo>
                <a:lnTo>
                  <a:pt x="0" y="310161"/>
                </a:lnTo>
                <a:close/>
              </a:path>
            </a:pathLst>
          </a:custGeom>
          <a:noFill/>
          <a:ln w="9525" cap="flat" cmpd="sng" algn="ctr">
            <a:solidFill>
              <a:srgbClr val="D2DCD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5" name="radar-inner">
            <a:extLst>
              <a:ext uri="{FF2B5EF4-FFF2-40B4-BE49-F238E27FC236}">
                <a16:creationId xmlns:a16="http://schemas.microsoft.com/office/drawing/2014/main" id="{DFB4852A-6E07-7503-85B7-7BB37D87EA25}"/>
              </a:ext>
            </a:extLst>
          </p:cNvPr>
          <p:cNvSpPr/>
          <p:nvPr/>
        </p:nvSpPr>
        <p:spPr>
          <a:xfrm>
            <a:off x="959273" y="5390161"/>
            <a:ext cx="311835" cy="344624"/>
          </a:xfrm>
          <a:custGeom>
            <a:avLst/>
            <a:gdLst/>
            <a:ahLst/>
            <a:cxnLst/>
            <a:rect l="0" t="0" r="0" b="0"/>
            <a:pathLst>
              <a:path w="311835" h="344624">
                <a:moveTo>
                  <a:pt x="158392" y="0"/>
                </a:moveTo>
                <a:lnTo>
                  <a:pt x="311834" y="126362"/>
                </a:lnTo>
                <a:lnTo>
                  <a:pt x="257387" y="344623"/>
                </a:lnTo>
                <a:lnTo>
                  <a:pt x="59397" y="344623"/>
                </a:lnTo>
                <a:lnTo>
                  <a:pt x="0" y="126362"/>
                </a:lnTo>
                <a:close/>
              </a:path>
            </a:pathLst>
          </a:custGeom>
          <a:noFill/>
          <a:ln w="9525" cap="flat" cmpd="sng" algn="ctr">
            <a:solidFill>
              <a:srgbClr val="DCE4E6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86" name="radar-gold">
            <a:extLst>
              <a:ext uri="{FF2B5EF4-FFF2-40B4-BE49-F238E27FC236}">
                <a16:creationId xmlns:a16="http://schemas.microsoft.com/office/drawing/2014/main" id="{8AE5C8F6-51B9-8150-F7AD-2696BFBDB5C4}"/>
              </a:ext>
            </a:extLst>
          </p:cNvPr>
          <p:cNvSpPr/>
          <p:nvPr/>
        </p:nvSpPr>
        <p:spPr>
          <a:xfrm>
            <a:off x="855329" y="5275287"/>
            <a:ext cx="524674" cy="585860"/>
          </a:xfrm>
          <a:custGeom>
            <a:avLst/>
            <a:gdLst/>
            <a:ahLst/>
            <a:cxnLst/>
            <a:rect l="0" t="0" r="0" b="0"/>
            <a:pathLst>
              <a:path w="524674" h="585860">
                <a:moveTo>
                  <a:pt x="262336" y="0"/>
                </a:moveTo>
                <a:lnTo>
                  <a:pt x="524673" y="218261"/>
                </a:lnTo>
                <a:lnTo>
                  <a:pt x="425678" y="585859"/>
                </a:lnTo>
                <a:lnTo>
                  <a:pt x="98995" y="585859"/>
                </a:lnTo>
                <a:lnTo>
                  <a:pt x="0" y="218261"/>
                </a:lnTo>
                <a:close/>
              </a:path>
            </a:pathLst>
          </a:custGeom>
          <a:noFill/>
          <a:ln w="15240" cap="flat" cmpd="sng" algn="ctr">
            <a:solidFill>
              <a:srgbClr val="B49A69"/>
            </a:solidFill>
            <a:prstDash val="dash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187" name="radar-spk0">
            <a:extLst>
              <a:ext uri="{FF2B5EF4-FFF2-40B4-BE49-F238E27FC236}">
                <a16:creationId xmlns:a16="http://schemas.microsoft.com/office/drawing/2014/main" id="{B574EB4B-9F68-9089-BC74-A071E8D83D93}"/>
              </a:ext>
            </a:extLst>
          </p:cNvPr>
          <p:cNvCxnSpPr/>
          <p:nvPr/>
        </p:nvCxnSpPr>
        <p:spPr>
          <a:xfrm flipV="1">
            <a:off x="1117665" y="5160412"/>
            <a:ext cx="0" cy="442267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radar-spk1">
            <a:extLst>
              <a:ext uri="{FF2B5EF4-FFF2-40B4-BE49-F238E27FC236}">
                <a16:creationId xmlns:a16="http://schemas.microsoft.com/office/drawing/2014/main" id="{8DB510D4-0F3D-40B0-2CFF-94E2AE1C5DAF}"/>
              </a:ext>
            </a:extLst>
          </p:cNvPr>
          <p:cNvCxnSpPr/>
          <p:nvPr/>
        </p:nvCxnSpPr>
        <p:spPr>
          <a:xfrm flipV="1">
            <a:off x="1117665" y="5470573"/>
            <a:ext cx="371231" cy="132106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9" name="radar-spk2">
            <a:extLst>
              <a:ext uri="{FF2B5EF4-FFF2-40B4-BE49-F238E27FC236}">
                <a16:creationId xmlns:a16="http://schemas.microsoft.com/office/drawing/2014/main" id="{42C0274A-3CAA-FB84-596C-AD0D567F2A91}"/>
              </a:ext>
            </a:extLst>
          </p:cNvPr>
          <p:cNvCxnSpPr/>
          <p:nvPr/>
        </p:nvCxnSpPr>
        <p:spPr>
          <a:xfrm>
            <a:off x="1117665" y="5602679"/>
            <a:ext cx="227688" cy="379085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radar-spk3">
            <a:extLst>
              <a:ext uri="{FF2B5EF4-FFF2-40B4-BE49-F238E27FC236}">
                <a16:creationId xmlns:a16="http://schemas.microsoft.com/office/drawing/2014/main" id="{0C762FBC-E2D9-1709-2E6E-0C07F658350D}"/>
              </a:ext>
            </a:extLst>
          </p:cNvPr>
          <p:cNvCxnSpPr/>
          <p:nvPr/>
        </p:nvCxnSpPr>
        <p:spPr>
          <a:xfrm flipH="1">
            <a:off x="889977" y="5602679"/>
            <a:ext cx="227688" cy="379085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radar-spk4">
            <a:extLst>
              <a:ext uri="{FF2B5EF4-FFF2-40B4-BE49-F238E27FC236}">
                <a16:creationId xmlns:a16="http://schemas.microsoft.com/office/drawing/2014/main" id="{0E7B9655-E871-A3A4-BE85-6395EF6B2FFD}"/>
              </a:ext>
            </a:extLst>
          </p:cNvPr>
          <p:cNvCxnSpPr/>
          <p:nvPr/>
        </p:nvCxnSpPr>
        <p:spPr>
          <a:xfrm flipH="1" flipV="1">
            <a:off x="751384" y="5470573"/>
            <a:ext cx="366281" cy="132106"/>
          </a:xfrm>
          <a:prstGeom prst="line">
            <a:avLst/>
          </a:prstGeom>
          <a:ln w="8890">
            <a:solidFill>
              <a:srgbClr val="D2DCDF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2" name="radar-data">
            <a:extLst>
              <a:ext uri="{FF2B5EF4-FFF2-40B4-BE49-F238E27FC236}">
                <a16:creationId xmlns:a16="http://schemas.microsoft.com/office/drawing/2014/main" id="{4AEDF052-BD3F-9246-1AC5-B46800DBB89A}"/>
              </a:ext>
            </a:extLst>
          </p:cNvPr>
          <p:cNvSpPr/>
          <p:nvPr/>
        </p:nvSpPr>
        <p:spPr>
          <a:xfrm>
            <a:off x="835530" y="5235080"/>
            <a:ext cx="509824" cy="666273"/>
          </a:xfrm>
          <a:custGeom>
            <a:avLst/>
            <a:gdLst/>
            <a:ahLst/>
            <a:cxnLst/>
            <a:rect l="0" t="0" r="0" b="0"/>
            <a:pathLst>
              <a:path w="509824" h="666273">
                <a:moveTo>
                  <a:pt x="282135" y="0"/>
                </a:moveTo>
                <a:lnTo>
                  <a:pt x="509823" y="275699"/>
                </a:lnTo>
                <a:lnTo>
                  <a:pt x="465276" y="666272"/>
                </a:lnTo>
                <a:lnTo>
                  <a:pt x="143542" y="603091"/>
                </a:lnTo>
                <a:lnTo>
                  <a:pt x="0" y="275699"/>
                </a:lnTo>
                <a:close/>
              </a:path>
            </a:pathLst>
          </a:custGeom>
          <a:solidFill>
            <a:srgbClr val="6F9D96">
              <a:alpha val="22000"/>
            </a:srgbClr>
          </a:solidFill>
          <a:ln w="19050">
            <a:solidFill>
              <a:srgbClr val="16837A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3" name="radar-pt0">
            <a:extLst>
              <a:ext uri="{FF2B5EF4-FFF2-40B4-BE49-F238E27FC236}">
                <a16:creationId xmlns:a16="http://schemas.microsoft.com/office/drawing/2014/main" id="{8D21916B-7B16-1F8A-8BE1-283C8552CAA6}"/>
              </a:ext>
            </a:extLst>
          </p:cNvPr>
          <p:cNvSpPr/>
          <p:nvPr/>
        </p:nvSpPr>
        <p:spPr>
          <a:xfrm>
            <a:off x="1094805" y="5212220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4" name="radar-pt1">
            <a:extLst>
              <a:ext uri="{FF2B5EF4-FFF2-40B4-BE49-F238E27FC236}">
                <a16:creationId xmlns:a16="http://schemas.microsoft.com/office/drawing/2014/main" id="{23CF22B4-A029-7EDF-FAD5-86197E0AE54A}"/>
              </a:ext>
            </a:extLst>
          </p:cNvPr>
          <p:cNvSpPr/>
          <p:nvPr/>
        </p:nvSpPr>
        <p:spPr>
          <a:xfrm>
            <a:off x="1322493" y="5487919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5" name="radar-pt2">
            <a:extLst>
              <a:ext uri="{FF2B5EF4-FFF2-40B4-BE49-F238E27FC236}">
                <a16:creationId xmlns:a16="http://schemas.microsoft.com/office/drawing/2014/main" id="{5B37334F-41AC-61AA-E710-8C29640EE207}"/>
              </a:ext>
            </a:extLst>
          </p:cNvPr>
          <p:cNvSpPr/>
          <p:nvPr/>
        </p:nvSpPr>
        <p:spPr>
          <a:xfrm>
            <a:off x="1277946" y="5878492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6" name="radar-pt3">
            <a:extLst>
              <a:ext uri="{FF2B5EF4-FFF2-40B4-BE49-F238E27FC236}">
                <a16:creationId xmlns:a16="http://schemas.microsoft.com/office/drawing/2014/main" id="{33DA5594-2258-D681-8200-7E5E88BC8A9A}"/>
              </a:ext>
            </a:extLst>
          </p:cNvPr>
          <p:cNvSpPr/>
          <p:nvPr/>
        </p:nvSpPr>
        <p:spPr>
          <a:xfrm>
            <a:off x="956212" y="5815311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7" name="radar-pt4">
            <a:extLst>
              <a:ext uri="{FF2B5EF4-FFF2-40B4-BE49-F238E27FC236}">
                <a16:creationId xmlns:a16="http://schemas.microsoft.com/office/drawing/2014/main" id="{08B35AB4-06CB-FF22-1E3C-1D7A6B1C8F1A}"/>
              </a:ext>
            </a:extLst>
          </p:cNvPr>
          <p:cNvSpPr/>
          <p:nvPr/>
        </p:nvSpPr>
        <p:spPr>
          <a:xfrm>
            <a:off x="812670" y="5487919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98" name="radar-l1">
            <a:extLst>
              <a:ext uri="{FF2B5EF4-FFF2-40B4-BE49-F238E27FC236}">
                <a16:creationId xmlns:a16="http://schemas.microsoft.com/office/drawing/2014/main" id="{AAB96E6B-0393-D6A8-3831-AC2D297792DA}"/>
              </a:ext>
            </a:extLst>
          </p:cNvPr>
          <p:cNvSpPr txBox="1"/>
          <p:nvPr/>
        </p:nvSpPr>
        <p:spPr>
          <a:xfrm>
            <a:off x="764540" y="4953000"/>
            <a:ext cx="736600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500">
                <a:solidFill>
                  <a:srgbClr val="526873"/>
                </a:solidFill>
                <a:latin typeface="Microsoft YaHei" panose="020B0503020204020204" pitchFamily="34" charset="-122"/>
              </a:rPr>
              <a:t>测试设计 </a:t>
            </a:r>
            <a:r>
              <a:rPr lang="en-US" altLang="zh-CN" sz="500">
                <a:solidFill>
                  <a:srgbClr val="526873"/>
                </a:solidFill>
                <a:latin typeface="Microsoft YaHei" panose="020B0503020204020204" pitchFamily="34" charset="-122"/>
              </a:rPr>
              <a:t>3.2</a:t>
            </a:r>
            <a:endParaRPr lang="zh-CN" altLang="en-US" sz="5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199" name="radar-l2">
            <a:extLst>
              <a:ext uri="{FF2B5EF4-FFF2-40B4-BE49-F238E27FC236}">
                <a16:creationId xmlns:a16="http://schemas.microsoft.com/office/drawing/2014/main" id="{DED25C30-E2BB-5BA0-3FEB-843FDFE226A1}"/>
              </a:ext>
            </a:extLst>
          </p:cNvPr>
          <p:cNvSpPr txBox="1"/>
          <p:nvPr/>
        </p:nvSpPr>
        <p:spPr>
          <a:xfrm>
            <a:off x="866140" y="5181600"/>
            <a:ext cx="609600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500">
                <a:solidFill>
                  <a:srgbClr val="526873"/>
                </a:solidFill>
                <a:latin typeface="Microsoft YaHei" panose="020B0503020204020204" pitchFamily="34" charset="-122"/>
              </a:rPr>
              <a:t>自动化 </a:t>
            </a:r>
            <a:r>
              <a:rPr lang="en-US" altLang="zh-CN" sz="500">
                <a:solidFill>
                  <a:srgbClr val="526873"/>
                </a:solidFill>
                <a:latin typeface="Microsoft YaHei" panose="020B0503020204020204" pitchFamily="34" charset="-122"/>
              </a:rPr>
              <a:t>2.4</a:t>
            </a:r>
            <a:endParaRPr lang="zh-CN" altLang="en-US" sz="5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0" name="radar-l3">
            <a:extLst>
              <a:ext uri="{FF2B5EF4-FFF2-40B4-BE49-F238E27FC236}">
                <a16:creationId xmlns:a16="http://schemas.microsoft.com/office/drawing/2014/main" id="{81E4C264-D052-3113-475A-F42DD273E24F}"/>
              </a:ext>
            </a:extLst>
          </p:cNvPr>
          <p:cNvSpPr txBox="1"/>
          <p:nvPr/>
        </p:nvSpPr>
        <p:spPr>
          <a:xfrm>
            <a:off x="789940" y="6197600"/>
            <a:ext cx="711200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500">
                <a:solidFill>
                  <a:srgbClr val="526873"/>
                </a:solidFill>
                <a:latin typeface="Microsoft YaHei" panose="020B0503020204020204" pitchFamily="34" charset="-122"/>
              </a:rPr>
              <a:t>测试执行 </a:t>
            </a:r>
            <a:r>
              <a:rPr lang="en-US" altLang="zh-CN" sz="500">
                <a:solidFill>
                  <a:srgbClr val="526873"/>
                </a:solidFill>
                <a:latin typeface="Microsoft YaHei" panose="020B0503020204020204" pitchFamily="34" charset="-122"/>
              </a:rPr>
              <a:t>3.1</a:t>
            </a:r>
            <a:endParaRPr lang="zh-CN" altLang="en-US" sz="5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1" name="radar-l4">
            <a:extLst>
              <a:ext uri="{FF2B5EF4-FFF2-40B4-BE49-F238E27FC236}">
                <a16:creationId xmlns:a16="http://schemas.microsoft.com/office/drawing/2014/main" id="{A58ACE15-4697-2175-A6E1-4479F7421BAB}"/>
              </a:ext>
            </a:extLst>
          </p:cNvPr>
          <p:cNvSpPr txBox="1"/>
          <p:nvPr/>
        </p:nvSpPr>
        <p:spPr>
          <a:xfrm>
            <a:off x="586740" y="6172200"/>
            <a:ext cx="635000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500">
                <a:solidFill>
                  <a:srgbClr val="526873"/>
                </a:solidFill>
                <a:latin typeface="Microsoft YaHei" panose="020B0503020204020204" pitchFamily="34" charset="-122"/>
              </a:rPr>
              <a:t>测试方案 </a:t>
            </a:r>
            <a:r>
              <a:rPr lang="en-US" altLang="zh-CN" sz="500">
                <a:solidFill>
                  <a:srgbClr val="526873"/>
                </a:solidFill>
                <a:latin typeface="Microsoft YaHei" panose="020B0503020204020204" pitchFamily="34" charset="-122"/>
              </a:rPr>
              <a:t>2.2</a:t>
            </a:r>
            <a:endParaRPr lang="zh-CN" altLang="en-US" sz="5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2" name="radar-l5">
            <a:extLst>
              <a:ext uri="{FF2B5EF4-FFF2-40B4-BE49-F238E27FC236}">
                <a16:creationId xmlns:a16="http://schemas.microsoft.com/office/drawing/2014/main" id="{94E52EE3-F74D-957D-77A9-C2BA04F4F297}"/>
              </a:ext>
            </a:extLst>
          </p:cNvPr>
          <p:cNvSpPr txBox="1"/>
          <p:nvPr/>
        </p:nvSpPr>
        <p:spPr>
          <a:xfrm>
            <a:off x="586740" y="5359400"/>
            <a:ext cx="508000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500">
                <a:solidFill>
                  <a:srgbClr val="526873"/>
                </a:solidFill>
                <a:latin typeface="Microsoft YaHei" panose="020B0503020204020204" pitchFamily="34" charset="-122"/>
              </a:rPr>
              <a:t>测试用例 </a:t>
            </a:r>
            <a:r>
              <a:rPr lang="en-US" altLang="zh-CN" sz="500">
                <a:solidFill>
                  <a:srgbClr val="526873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500">
              <a:solidFill>
                <a:srgbClr val="52687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3" name="radar-tgt">
            <a:extLst>
              <a:ext uri="{FF2B5EF4-FFF2-40B4-BE49-F238E27FC236}">
                <a16:creationId xmlns:a16="http://schemas.microsoft.com/office/drawing/2014/main" id="{6191F221-562D-FE52-B513-467EDC5622DA}"/>
              </a:ext>
            </a:extLst>
          </p:cNvPr>
          <p:cNvSpPr txBox="1"/>
          <p:nvPr/>
        </p:nvSpPr>
        <p:spPr>
          <a:xfrm>
            <a:off x="866140" y="5308600"/>
            <a:ext cx="508000" cy="102592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500">
                <a:solidFill>
                  <a:srgbClr val="9B7840"/>
                </a:solidFill>
                <a:latin typeface="Microsoft YaHei" panose="020B0503020204020204" pitchFamily="34" charset="-122"/>
              </a:rPr>
              <a:t>目标 </a:t>
            </a:r>
            <a:r>
              <a:rPr lang="en-US" altLang="zh-CN" sz="500">
                <a:solidFill>
                  <a:srgbClr val="9B7840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500">
              <a:solidFill>
                <a:srgbClr val="9B784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4" name="diag0">
            <a:extLst>
              <a:ext uri="{FF2B5EF4-FFF2-40B4-BE49-F238E27FC236}">
                <a16:creationId xmlns:a16="http://schemas.microsoft.com/office/drawing/2014/main" id="{B6F8DB42-6E5B-76B0-5333-0C95DCFE92CA}"/>
              </a:ext>
            </a:extLst>
          </p:cNvPr>
          <p:cNvSpPr txBox="1"/>
          <p:nvPr/>
        </p:nvSpPr>
        <p:spPr>
          <a:xfrm>
            <a:off x="1704340" y="5029200"/>
            <a:ext cx="1638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达成  </a:t>
            </a:r>
            <a:r>
              <a:rPr lang="en-US" altLang="zh-CN" sz="600">
                <a:solidFill>
                  <a:srgbClr val="294858"/>
                </a:solidFill>
                <a:latin typeface="Microsoft YaHei" panose="020B0503020204020204" pitchFamily="34" charset="-122"/>
              </a:rPr>
              <a:t>3 / 5 </a:t>
            </a:r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个维度达标</a:t>
            </a:r>
          </a:p>
        </p:txBody>
      </p:sp>
      <p:sp>
        <p:nvSpPr>
          <p:cNvPr id="205" name="diag1">
            <a:extLst>
              <a:ext uri="{FF2B5EF4-FFF2-40B4-BE49-F238E27FC236}">
                <a16:creationId xmlns:a16="http://schemas.microsoft.com/office/drawing/2014/main" id="{2C3D0367-9FA2-5390-7F18-1CAC7CEE5380}"/>
              </a:ext>
            </a:extLst>
          </p:cNvPr>
          <p:cNvSpPr txBox="1"/>
          <p:nvPr/>
        </p:nvSpPr>
        <p:spPr>
          <a:xfrm>
            <a:off x="1704340" y="5321300"/>
            <a:ext cx="1638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优势  测试设计、测试执行</a:t>
            </a:r>
          </a:p>
        </p:txBody>
      </p:sp>
      <p:sp>
        <p:nvSpPr>
          <p:cNvPr id="206" name="diag2">
            <a:extLst>
              <a:ext uri="{FF2B5EF4-FFF2-40B4-BE49-F238E27FC236}">
                <a16:creationId xmlns:a16="http://schemas.microsoft.com/office/drawing/2014/main" id="{2F3F27B5-5716-4631-AD15-C60D1FCA7A0A}"/>
              </a:ext>
            </a:extLst>
          </p:cNvPr>
          <p:cNvSpPr txBox="1"/>
          <p:nvPr/>
        </p:nvSpPr>
        <p:spPr>
          <a:xfrm>
            <a:off x="1704340" y="5613400"/>
            <a:ext cx="1638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差距  自动化 </a:t>
            </a:r>
            <a:r>
              <a:rPr lang="en-US" altLang="zh-CN" sz="600">
                <a:solidFill>
                  <a:srgbClr val="294858"/>
                </a:solidFill>
                <a:latin typeface="Microsoft YaHei" panose="020B0503020204020204" pitchFamily="34" charset="-122"/>
              </a:rPr>
              <a:t>-0.6</a:t>
            </a:r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；方案 </a:t>
            </a:r>
            <a:r>
              <a:rPr lang="en-US" altLang="zh-CN" sz="600">
                <a:solidFill>
                  <a:srgbClr val="294858"/>
                </a:solidFill>
                <a:latin typeface="Microsoft YaHei" panose="020B0503020204020204" pitchFamily="34" charset="-122"/>
              </a:rPr>
              <a:t>-0.8</a:t>
            </a:r>
            <a:endParaRPr lang="zh-CN" altLang="en-US" sz="600">
              <a:solidFill>
                <a:srgbClr val="294858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7" name="diag3">
            <a:extLst>
              <a:ext uri="{FF2B5EF4-FFF2-40B4-BE49-F238E27FC236}">
                <a16:creationId xmlns:a16="http://schemas.microsoft.com/office/drawing/2014/main" id="{3491E5DF-F12C-7D87-C780-400B38756336}"/>
              </a:ext>
            </a:extLst>
          </p:cNvPr>
          <p:cNvSpPr txBox="1"/>
          <p:nvPr/>
        </p:nvSpPr>
        <p:spPr>
          <a:xfrm>
            <a:off x="1704340" y="5905500"/>
            <a:ext cx="1638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当前分  </a:t>
            </a:r>
            <a:r>
              <a:rPr lang="en-US" altLang="zh-CN" sz="600">
                <a:solidFill>
                  <a:srgbClr val="294858"/>
                </a:solidFill>
                <a:latin typeface="Microsoft YaHei" panose="020B0503020204020204" pitchFamily="34" charset="-122"/>
              </a:rPr>
              <a:t>2.62</a:t>
            </a:r>
            <a:r>
              <a:rPr lang="zh-CN" altLang="en-US" sz="600">
                <a:solidFill>
                  <a:srgbClr val="294858"/>
                </a:solidFill>
                <a:latin typeface="Microsoft YaHei" panose="020B0503020204020204" pitchFamily="34" charset="-122"/>
              </a:rPr>
              <a:t>，需形成改进计划</a:t>
            </a:r>
          </a:p>
        </p:txBody>
      </p:sp>
      <p:sp>
        <p:nvSpPr>
          <p:cNvPr id="208" name="dept-leg1">
            <a:extLst>
              <a:ext uri="{FF2B5EF4-FFF2-40B4-BE49-F238E27FC236}">
                <a16:creationId xmlns:a16="http://schemas.microsoft.com/office/drawing/2014/main" id="{4045EB5B-0B97-41E0-01AB-62393D4A96B8}"/>
              </a:ext>
            </a:extLst>
          </p:cNvPr>
          <p:cNvSpPr txBox="1"/>
          <p:nvPr/>
        </p:nvSpPr>
        <p:spPr>
          <a:xfrm>
            <a:off x="4686300" y="4851400"/>
            <a:ext cx="660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目标 </a:t>
            </a:r>
            <a:r>
              <a:rPr lang="en-US" altLang="zh-CN" sz="600">
                <a:solidFill>
                  <a:srgbClr val="657881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657881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09" name="dept-leg1k">
            <a:extLst>
              <a:ext uri="{FF2B5EF4-FFF2-40B4-BE49-F238E27FC236}">
                <a16:creationId xmlns:a16="http://schemas.microsoft.com/office/drawing/2014/main" id="{7A9860D3-8D10-04EC-68CF-498F483A59C4}"/>
              </a:ext>
            </a:extLst>
          </p:cNvPr>
          <p:cNvSpPr/>
          <p:nvPr/>
        </p:nvSpPr>
        <p:spPr>
          <a:xfrm>
            <a:off x="4533900" y="4902200"/>
            <a:ext cx="101600" cy="15240"/>
          </a:xfrm>
          <a:prstGeom prst="rect">
            <a:avLst/>
          </a:prstGeom>
          <a:solidFill>
            <a:srgbClr val="B96E6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dept-leg2">
            <a:extLst>
              <a:ext uri="{FF2B5EF4-FFF2-40B4-BE49-F238E27FC236}">
                <a16:creationId xmlns:a16="http://schemas.microsoft.com/office/drawing/2014/main" id="{98D4F3E9-E7DF-5B95-2A2B-93F16B2DD31D}"/>
              </a:ext>
            </a:extLst>
          </p:cNvPr>
          <p:cNvSpPr txBox="1"/>
          <p:nvPr/>
        </p:nvSpPr>
        <p:spPr>
          <a:xfrm>
            <a:off x="5346700" y="4851400"/>
            <a:ext cx="685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部门均值 </a:t>
            </a:r>
            <a:r>
              <a:rPr lang="en-US" altLang="zh-CN" sz="600">
                <a:solidFill>
                  <a:srgbClr val="657881"/>
                </a:solidFill>
                <a:latin typeface="Microsoft YaHei" panose="020B0503020204020204" pitchFamily="34" charset="-122"/>
              </a:rPr>
              <a:t>2.82</a:t>
            </a:r>
            <a:endParaRPr lang="zh-CN" altLang="en-US" sz="600">
              <a:solidFill>
                <a:srgbClr val="657881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1" name="dept-leg2k">
            <a:extLst>
              <a:ext uri="{FF2B5EF4-FFF2-40B4-BE49-F238E27FC236}">
                <a16:creationId xmlns:a16="http://schemas.microsoft.com/office/drawing/2014/main" id="{30800127-D7A6-910A-1644-326A63483763}"/>
              </a:ext>
            </a:extLst>
          </p:cNvPr>
          <p:cNvSpPr/>
          <p:nvPr/>
        </p:nvSpPr>
        <p:spPr>
          <a:xfrm>
            <a:off x="5194300" y="4902200"/>
            <a:ext cx="101600" cy="15240"/>
          </a:xfrm>
          <a:prstGeom prst="rect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2" name="dept-plot">
            <a:extLst>
              <a:ext uri="{FF2B5EF4-FFF2-40B4-BE49-F238E27FC236}">
                <a16:creationId xmlns:a16="http://schemas.microsoft.com/office/drawing/2014/main" id="{69C76296-95C7-4279-E2C8-4775F8BE9B44}"/>
              </a:ext>
            </a:extLst>
          </p:cNvPr>
          <p:cNvSpPr/>
          <p:nvPr/>
        </p:nvSpPr>
        <p:spPr>
          <a:xfrm>
            <a:off x="3683000" y="5003800"/>
            <a:ext cx="2273300" cy="1117600"/>
          </a:xfrm>
          <a:prstGeom prst="rect">
            <a:avLst/>
          </a:prstGeom>
          <a:noFill/>
          <a:ln w="8890" cap="flat" cmpd="sng" algn="ctr">
            <a:solidFill>
              <a:srgbClr val="AAB9BF"/>
            </a:solidFill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13" name="dept-g1">
            <a:extLst>
              <a:ext uri="{FF2B5EF4-FFF2-40B4-BE49-F238E27FC236}">
                <a16:creationId xmlns:a16="http://schemas.microsoft.com/office/drawing/2014/main" id="{A0AA74EC-F063-4402-1039-06CDCAE7D755}"/>
              </a:ext>
            </a:extLst>
          </p:cNvPr>
          <p:cNvCxnSpPr/>
          <p:nvPr/>
        </p:nvCxnSpPr>
        <p:spPr>
          <a:xfrm>
            <a:off x="3683000" y="5842000"/>
            <a:ext cx="2273300" cy="0"/>
          </a:xfrm>
          <a:prstGeom prst="line">
            <a:avLst/>
          </a:prstGeom>
          <a:ln w="6350">
            <a:solidFill>
              <a:srgbClr val="E0E7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dept-g2">
            <a:extLst>
              <a:ext uri="{FF2B5EF4-FFF2-40B4-BE49-F238E27FC236}">
                <a16:creationId xmlns:a16="http://schemas.microsoft.com/office/drawing/2014/main" id="{80D61486-0687-0449-E224-68E1562847EE}"/>
              </a:ext>
            </a:extLst>
          </p:cNvPr>
          <p:cNvCxnSpPr/>
          <p:nvPr/>
        </p:nvCxnSpPr>
        <p:spPr>
          <a:xfrm>
            <a:off x="3683000" y="5562600"/>
            <a:ext cx="2273300" cy="0"/>
          </a:xfrm>
          <a:prstGeom prst="line">
            <a:avLst/>
          </a:prstGeom>
          <a:ln w="6350">
            <a:solidFill>
              <a:srgbClr val="E0E7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dept-g3">
            <a:extLst>
              <a:ext uri="{FF2B5EF4-FFF2-40B4-BE49-F238E27FC236}">
                <a16:creationId xmlns:a16="http://schemas.microsoft.com/office/drawing/2014/main" id="{E9435DF5-0CEF-F97E-E8C7-D5F508CBCE46}"/>
              </a:ext>
            </a:extLst>
          </p:cNvPr>
          <p:cNvCxnSpPr/>
          <p:nvPr/>
        </p:nvCxnSpPr>
        <p:spPr>
          <a:xfrm>
            <a:off x="3683000" y="5283200"/>
            <a:ext cx="2273300" cy="0"/>
          </a:xfrm>
          <a:prstGeom prst="line">
            <a:avLst/>
          </a:prstGeom>
          <a:ln w="6350">
            <a:solidFill>
              <a:srgbClr val="E0E7E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" name="dept-a4">
            <a:extLst>
              <a:ext uri="{FF2B5EF4-FFF2-40B4-BE49-F238E27FC236}">
                <a16:creationId xmlns:a16="http://schemas.microsoft.com/office/drawing/2014/main" id="{F0796139-4370-2CCC-7FE2-760ECCA70160}"/>
              </a:ext>
            </a:extLst>
          </p:cNvPr>
          <p:cNvSpPr txBox="1"/>
          <p:nvPr/>
        </p:nvSpPr>
        <p:spPr>
          <a:xfrm>
            <a:off x="3479800" y="50038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4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7" name="dept-a3">
            <a:extLst>
              <a:ext uri="{FF2B5EF4-FFF2-40B4-BE49-F238E27FC236}">
                <a16:creationId xmlns:a16="http://schemas.microsoft.com/office/drawing/2014/main" id="{3C4FAE7E-7824-4FFA-B0EF-6ED758374E77}"/>
              </a:ext>
            </a:extLst>
          </p:cNvPr>
          <p:cNvSpPr txBox="1"/>
          <p:nvPr/>
        </p:nvSpPr>
        <p:spPr>
          <a:xfrm>
            <a:off x="3479800" y="52832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3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8" name="dept-a2">
            <a:extLst>
              <a:ext uri="{FF2B5EF4-FFF2-40B4-BE49-F238E27FC236}">
                <a16:creationId xmlns:a16="http://schemas.microsoft.com/office/drawing/2014/main" id="{359BB8FF-EE29-A1F1-CBDF-7B8773752BE9}"/>
              </a:ext>
            </a:extLst>
          </p:cNvPr>
          <p:cNvSpPr txBox="1"/>
          <p:nvPr/>
        </p:nvSpPr>
        <p:spPr>
          <a:xfrm>
            <a:off x="3479800" y="55626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2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19" name="dept-a1">
            <a:extLst>
              <a:ext uri="{FF2B5EF4-FFF2-40B4-BE49-F238E27FC236}">
                <a16:creationId xmlns:a16="http://schemas.microsoft.com/office/drawing/2014/main" id="{91D2D5CF-1697-0008-4E5D-6C9BBF93FE18}"/>
              </a:ext>
            </a:extLst>
          </p:cNvPr>
          <p:cNvSpPr txBox="1"/>
          <p:nvPr/>
        </p:nvSpPr>
        <p:spPr>
          <a:xfrm>
            <a:off x="3479800" y="58420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1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0" name="dept-a0">
            <a:extLst>
              <a:ext uri="{FF2B5EF4-FFF2-40B4-BE49-F238E27FC236}">
                <a16:creationId xmlns:a16="http://schemas.microsoft.com/office/drawing/2014/main" id="{F5BC0515-75EE-A56E-3B34-3C494CE2FA72}"/>
              </a:ext>
            </a:extLst>
          </p:cNvPr>
          <p:cNvSpPr txBox="1"/>
          <p:nvPr/>
        </p:nvSpPr>
        <p:spPr>
          <a:xfrm>
            <a:off x="3479800" y="60198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0</a:t>
            </a:r>
            <a:endParaRPr lang="zh-CN" altLang="en-US" sz="600">
              <a:solidFill>
                <a:srgbClr val="71828A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21" name="dept-tline">
            <a:extLst>
              <a:ext uri="{FF2B5EF4-FFF2-40B4-BE49-F238E27FC236}">
                <a16:creationId xmlns:a16="http://schemas.microsoft.com/office/drawing/2014/main" id="{FC3A6755-7440-D1A6-620D-B4D1EDCC960B}"/>
              </a:ext>
            </a:extLst>
          </p:cNvPr>
          <p:cNvCxnSpPr/>
          <p:nvPr/>
        </p:nvCxnSpPr>
        <p:spPr>
          <a:xfrm>
            <a:off x="3683000" y="5283200"/>
            <a:ext cx="2273300" cy="0"/>
          </a:xfrm>
          <a:prstGeom prst="line">
            <a:avLst/>
          </a:prstGeom>
          <a:ln w="1651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2" name="dept-tlab">
            <a:extLst>
              <a:ext uri="{FF2B5EF4-FFF2-40B4-BE49-F238E27FC236}">
                <a16:creationId xmlns:a16="http://schemas.microsoft.com/office/drawing/2014/main" id="{A338E726-7C45-E324-CF8A-3B43ADE591A7}"/>
              </a:ext>
            </a:extLst>
          </p:cNvPr>
          <p:cNvSpPr txBox="1"/>
          <p:nvPr/>
        </p:nvSpPr>
        <p:spPr>
          <a:xfrm>
            <a:off x="5676900" y="5156200"/>
            <a:ext cx="254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r"/>
            <a:r>
              <a:rPr lang="en-US" altLang="zh-CN" sz="600" b="1">
                <a:solidFill>
                  <a:srgbClr val="A55F55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 b="1">
              <a:solidFill>
                <a:srgbClr val="A55F55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23" name="dept-aline">
            <a:extLst>
              <a:ext uri="{FF2B5EF4-FFF2-40B4-BE49-F238E27FC236}">
                <a16:creationId xmlns:a16="http://schemas.microsoft.com/office/drawing/2014/main" id="{505B5010-31FD-4881-B832-003954399255}"/>
              </a:ext>
            </a:extLst>
          </p:cNvPr>
          <p:cNvCxnSpPr/>
          <p:nvPr/>
        </p:nvCxnSpPr>
        <p:spPr>
          <a:xfrm>
            <a:off x="3683000" y="5333492"/>
            <a:ext cx="2273300" cy="0"/>
          </a:xfrm>
          <a:prstGeom prst="line">
            <a:avLst/>
          </a:prstGeom>
          <a:ln w="1651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4" name="dept-alab">
            <a:extLst>
              <a:ext uri="{FF2B5EF4-FFF2-40B4-BE49-F238E27FC236}">
                <a16:creationId xmlns:a16="http://schemas.microsoft.com/office/drawing/2014/main" id="{D29AF4FE-762F-8AA1-92CC-37D5F5251EDF}"/>
              </a:ext>
            </a:extLst>
          </p:cNvPr>
          <p:cNvSpPr txBox="1"/>
          <p:nvPr/>
        </p:nvSpPr>
        <p:spPr>
          <a:xfrm>
            <a:off x="3708400" y="5346192"/>
            <a:ext cx="304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en-US" altLang="zh-CN" sz="600" b="1">
                <a:solidFill>
                  <a:srgbClr val="14766F"/>
                </a:solidFill>
                <a:latin typeface="Microsoft YaHei" panose="020B0503020204020204" pitchFamily="34" charset="-122"/>
              </a:rPr>
              <a:t>2.82</a:t>
            </a:r>
            <a:endParaRPr lang="zh-CN" altLang="en-US" sz="600" b="1">
              <a:solidFill>
                <a:srgbClr val="14766F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5" name="bar0">
            <a:extLst>
              <a:ext uri="{FF2B5EF4-FFF2-40B4-BE49-F238E27FC236}">
                <a16:creationId xmlns:a16="http://schemas.microsoft.com/office/drawing/2014/main" id="{7640E943-0499-C475-CDFC-0B939B948F93}"/>
              </a:ext>
            </a:extLst>
          </p:cNvPr>
          <p:cNvSpPr/>
          <p:nvPr/>
        </p:nvSpPr>
        <p:spPr>
          <a:xfrm>
            <a:off x="3966633" y="5389372"/>
            <a:ext cx="190500" cy="732028"/>
          </a:xfrm>
          <a:prstGeom prst="rect">
            <a:avLst/>
          </a:prstGeom>
          <a:solidFill>
            <a:srgbClr val="C5956D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6" name="bar0-v">
            <a:extLst>
              <a:ext uri="{FF2B5EF4-FFF2-40B4-BE49-F238E27FC236}">
                <a16:creationId xmlns:a16="http://schemas.microsoft.com/office/drawing/2014/main" id="{9104C929-7241-0AA6-1B4A-33A20186272C}"/>
              </a:ext>
            </a:extLst>
          </p:cNvPr>
          <p:cNvSpPr txBox="1"/>
          <p:nvPr/>
        </p:nvSpPr>
        <p:spPr>
          <a:xfrm>
            <a:off x="3890433" y="5249672"/>
            <a:ext cx="34290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173650"/>
                </a:solidFill>
                <a:latin typeface="Microsoft YaHei" panose="020B0503020204020204" pitchFamily="34" charset="-122"/>
              </a:rPr>
              <a:t>2.62</a:t>
            </a:r>
            <a:endParaRPr lang="zh-CN" altLang="en-US" sz="7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27" name="bar0-l">
            <a:extLst>
              <a:ext uri="{FF2B5EF4-FFF2-40B4-BE49-F238E27FC236}">
                <a16:creationId xmlns:a16="http://schemas.microsoft.com/office/drawing/2014/main" id="{3CEBC362-DBC7-6F76-665C-148994E8354F}"/>
              </a:ext>
            </a:extLst>
          </p:cNvPr>
          <p:cNvSpPr txBox="1"/>
          <p:nvPr/>
        </p:nvSpPr>
        <p:spPr>
          <a:xfrm>
            <a:off x="3814233" y="6134100"/>
            <a:ext cx="495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运控测试组</a:t>
            </a:r>
          </a:p>
        </p:txBody>
      </p:sp>
      <p:sp>
        <p:nvSpPr>
          <p:cNvPr id="228" name="bar1">
            <a:extLst>
              <a:ext uri="{FF2B5EF4-FFF2-40B4-BE49-F238E27FC236}">
                <a16:creationId xmlns:a16="http://schemas.microsoft.com/office/drawing/2014/main" id="{E0374A96-B229-92DE-32E7-2ADF76CBCCCA}"/>
              </a:ext>
            </a:extLst>
          </p:cNvPr>
          <p:cNvSpPr/>
          <p:nvPr/>
        </p:nvSpPr>
        <p:spPr>
          <a:xfrm>
            <a:off x="4724400" y="5232908"/>
            <a:ext cx="190500" cy="888492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9" name="bar1-v">
            <a:extLst>
              <a:ext uri="{FF2B5EF4-FFF2-40B4-BE49-F238E27FC236}">
                <a16:creationId xmlns:a16="http://schemas.microsoft.com/office/drawing/2014/main" id="{8EA12CD2-7838-0096-FB0B-27C2E9DC4CC2}"/>
              </a:ext>
            </a:extLst>
          </p:cNvPr>
          <p:cNvSpPr txBox="1"/>
          <p:nvPr/>
        </p:nvSpPr>
        <p:spPr>
          <a:xfrm>
            <a:off x="4648200" y="5093208"/>
            <a:ext cx="34290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173650"/>
                </a:solidFill>
                <a:latin typeface="Microsoft YaHei" panose="020B0503020204020204" pitchFamily="34" charset="-122"/>
              </a:rPr>
              <a:t>3.18</a:t>
            </a:r>
            <a:endParaRPr lang="zh-CN" altLang="en-US" sz="7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30" name="bar1-l">
            <a:extLst>
              <a:ext uri="{FF2B5EF4-FFF2-40B4-BE49-F238E27FC236}">
                <a16:creationId xmlns:a16="http://schemas.microsoft.com/office/drawing/2014/main" id="{EAD85BDC-A13A-1931-56F3-BBFE9527CF3A}"/>
              </a:ext>
            </a:extLst>
          </p:cNvPr>
          <p:cNvSpPr txBox="1"/>
          <p:nvPr/>
        </p:nvSpPr>
        <p:spPr>
          <a:xfrm>
            <a:off x="4572000" y="6134100"/>
            <a:ext cx="495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伺服测试组</a:t>
            </a:r>
          </a:p>
        </p:txBody>
      </p:sp>
      <p:sp>
        <p:nvSpPr>
          <p:cNvPr id="231" name="bar2">
            <a:extLst>
              <a:ext uri="{FF2B5EF4-FFF2-40B4-BE49-F238E27FC236}">
                <a16:creationId xmlns:a16="http://schemas.microsoft.com/office/drawing/2014/main" id="{766683D5-07F1-BAF5-AE1F-1C30782591B3}"/>
              </a:ext>
            </a:extLst>
          </p:cNvPr>
          <p:cNvSpPr/>
          <p:nvPr/>
        </p:nvSpPr>
        <p:spPr>
          <a:xfrm>
            <a:off x="5482167" y="5378196"/>
            <a:ext cx="190500" cy="743204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2" name="bar2-v">
            <a:extLst>
              <a:ext uri="{FF2B5EF4-FFF2-40B4-BE49-F238E27FC236}">
                <a16:creationId xmlns:a16="http://schemas.microsoft.com/office/drawing/2014/main" id="{0D53E1B1-4ED0-E9CF-0856-93CE29F21B1D}"/>
              </a:ext>
            </a:extLst>
          </p:cNvPr>
          <p:cNvSpPr txBox="1"/>
          <p:nvPr/>
        </p:nvSpPr>
        <p:spPr>
          <a:xfrm>
            <a:off x="5405967" y="5238496"/>
            <a:ext cx="342900" cy="133370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700" b="1">
                <a:solidFill>
                  <a:srgbClr val="173650"/>
                </a:solidFill>
                <a:latin typeface="Microsoft YaHei" panose="020B0503020204020204" pitchFamily="34" charset="-122"/>
              </a:rPr>
              <a:t>2.66</a:t>
            </a:r>
            <a:endParaRPr lang="zh-CN" altLang="en-US" sz="700" b="1">
              <a:solidFill>
                <a:srgbClr val="17365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33" name="bar2-l">
            <a:extLst>
              <a:ext uri="{FF2B5EF4-FFF2-40B4-BE49-F238E27FC236}">
                <a16:creationId xmlns:a16="http://schemas.microsoft.com/office/drawing/2014/main" id="{0E4B0F51-045C-97D3-B4DF-2D7496D9FD69}"/>
              </a:ext>
            </a:extLst>
          </p:cNvPr>
          <p:cNvSpPr txBox="1"/>
          <p:nvPr/>
        </p:nvSpPr>
        <p:spPr>
          <a:xfrm>
            <a:off x="5329767" y="6134100"/>
            <a:ext cx="495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变频测试组</a:t>
            </a:r>
          </a:p>
        </p:txBody>
      </p:sp>
      <p:sp>
        <p:nvSpPr>
          <p:cNvPr id="234" name="dept-an">
            <a:extLst>
              <a:ext uri="{FF2B5EF4-FFF2-40B4-BE49-F238E27FC236}">
                <a16:creationId xmlns:a16="http://schemas.microsoft.com/office/drawing/2014/main" id="{96C37090-63E9-483A-40C7-0152D406EF5C}"/>
              </a:ext>
            </a:extLst>
          </p:cNvPr>
          <p:cNvSpPr txBox="1"/>
          <p:nvPr/>
        </p:nvSpPr>
        <p:spPr>
          <a:xfrm>
            <a:off x="3505200" y="6332220"/>
            <a:ext cx="25273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现状分析：科组建设差距清晰可见，可定位同部门标杆。</a:t>
            </a:r>
          </a:p>
        </p:txBody>
      </p:sp>
      <p:sp>
        <p:nvSpPr>
          <p:cNvPr id="235" name="biz-leg1">
            <a:extLst>
              <a:ext uri="{FF2B5EF4-FFF2-40B4-BE49-F238E27FC236}">
                <a16:creationId xmlns:a16="http://schemas.microsoft.com/office/drawing/2014/main" id="{C4980470-02FD-BCBB-237A-2D94D70BF7C2}"/>
              </a:ext>
            </a:extLst>
          </p:cNvPr>
          <p:cNvSpPr txBox="1"/>
          <p:nvPr/>
        </p:nvSpPr>
        <p:spPr>
          <a:xfrm>
            <a:off x="7655560" y="4851400"/>
            <a:ext cx="5588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伺服产品</a:t>
            </a:r>
          </a:p>
        </p:txBody>
      </p:sp>
      <p:sp>
        <p:nvSpPr>
          <p:cNvPr id="236" name="biz-dot1">
            <a:extLst>
              <a:ext uri="{FF2B5EF4-FFF2-40B4-BE49-F238E27FC236}">
                <a16:creationId xmlns:a16="http://schemas.microsoft.com/office/drawing/2014/main" id="{09F1EEDA-469C-1DF1-A2B3-06CDBE8AD555}"/>
              </a:ext>
            </a:extLst>
          </p:cNvPr>
          <p:cNvSpPr/>
          <p:nvPr/>
        </p:nvSpPr>
        <p:spPr>
          <a:xfrm>
            <a:off x="7528560" y="4889500"/>
            <a:ext cx="76200" cy="762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biz-leg2">
            <a:extLst>
              <a:ext uri="{FF2B5EF4-FFF2-40B4-BE49-F238E27FC236}">
                <a16:creationId xmlns:a16="http://schemas.microsoft.com/office/drawing/2014/main" id="{433B3E99-83E6-0498-5ED6-B8481394B22C}"/>
              </a:ext>
            </a:extLst>
          </p:cNvPr>
          <p:cNvSpPr txBox="1"/>
          <p:nvPr/>
        </p:nvSpPr>
        <p:spPr>
          <a:xfrm>
            <a:off x="8265160" y="4851400"/>
            <a:ext cx="6350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同类业务均值</a:t>
            </a:r>
          </a:p>
        </p:txBody>
      </p:sp>
      <p:sp>
        <p:nvSpPr>
          <p:cNvPr id="238" name="biz-dot2">
            <a:extLst>
              <a:ext uri="{FF2B5EF4-FFF2-40B4-BE49-F238E27FC236}">
                <a16:creationId xmlns:a16="http://schemas.microsoft.com/office/drawing/2014/main" id="{7487D157-58D8-6C63-2BD6-8BBAC684BC4E}"/>
              </a:ext>
            </a:extLst>
          </p:cNvPr>
          <p:cNvSpPr/>
          <p:nvPr/>
        </p:nvSpPr>
        <p:spPr>
          <a:xfrm>
            <a:off x="8138160" y="4889500"/>
            <a:ext cx="76200" cy="762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pr0-n">
            <a:extLst>
              <a:ext uri="{FF2B5EF4-FFF2-40B4-BE49-F238E27FC236}">
                <a16:creationId xmlns:a16="http://schemas.microsoft.com/office/drawing/2014/main" id="{268DF34F-6F8E-DFC2-FB05-2BFF62D74829}"/>
              </a:ext>
            </a:extLst>
          </p:cNvPr>
          <p:cNvSpPr txBox="1"/>
          <p:nvPr/>
        </p:nvSpPr>
        <p:spPr>
          <a:xfrm>
            <a:off x="6195060" y="50625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软件</a:t>
            </a:r>
          </a:p>
        </p:txBody>
      </p:sp>
      <p:sp>
        <p:nvSpPr>
          <p:cNvPr id="240" name="pr0-bg">
            <a:extLst>
              <a:ext uri="{FF2B5EF4-FFF2-40B4-BE49-F238E27FC236}">
                <a16:creationId xmlns:a16="http://schemas.microsoft.com/office/drawing/2014/main" id="{CF58D0C9-1111-DC36-37DC-AB402F9E4753}"/>
              </a:ext>
            </a:extLst>
          </p:cNvPr>
          <p:cNvSpPr/>
          <p:nvPr/>
        </p:nvSpPr>
        <p:spPr>
          <a:xfrm>
            <a:off x="6576060" y="504190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1" name="pr0-a">
            <a:extLst>
              <a:ext uri="{FF2B5EF4-FFF2-40B4-BE49-F238E27FC236}">
                <a16:creationId xmlns:a16="http://schemas.microsoft.com/office/drawing/2014/main" id="{86019C7B-4671-ED1E-9C4D-467F426E493F}"/>
              </a:ext>
            </a:extLst>
          </p:cNvPr>
          <p:cNvSpPr/>
          <p:nvPr/>
        </p:nvSpPr>
        <p:spPr>
          <a:xfrm>
            <a:off x="6576060" y="5054600"/>
            <a:ext cx="1534478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2" name="pr0-b">
            <a:extLst>
              <a:ext uri="{FF2B5EF4-FFF2-40B4-BE49-F238E27FC236}">
                <a16:creationId xmlns:a16="http://schemas.microsoft.com/office/drawing/2014/main" id="{8AAC94B0-D8A5-DAB8-859B-798BBE8A420F}"/>
              </a:ext>
            </a:extLst>
          </p:cNvPr>
          <p:cNvSpPr/>
          <p:nvPr/>
        </p:nvSpPr>
        <p:spPr>
          <a:xfrm>
            <a:off x="6576060" y="5118100"/>
            <a:ext cx="1648142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3" name="pr0-t">
            <a:extLst>
              <a:ext uri="{FF2B5EF4-FFF2-40B4-BE49-F238E27FC236}">
                <a16:creationId xmlns:a16="http://schemas.microsoft.com/office/drawing/2014/main" id="{70F7E981-3A0A-BF2B-016F-CD93771F2779}"/>
              </a:ext>
            </a:extLst>
          </p:cNvPr>
          <p:cNvCxnSpPr/>
          <p:nvPr/>
        </p:nvCxnSpPr>
        <p:spPr>
          <a:xfrm>
            <a:off x="8281035" y="504190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pr1-n">
            <a:extLst>
              <a:ext uri="{FF2B5EF4-FFF2-40B4-BE49-F238E27FC236}">
                <a16:creationId xmlns:a16="http://schemas.microsoft.com/office/drawing/2014/main" id="{C5F36DC5-E017-4CD0-9865-52055C130C81}"/>
              </a:ext>
            </a:extLst>
          </p:cNvPr>
          <p:cNvSpPr txBox="1"/>
          <p:nvPr/>
        </p:nvSpPr>
        <p:spPr>
          <a:xfrm>
            <a:off x="6195060" y="522129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硬件</a:t>
            </a:r>
          </a:p>
        </p:txBody>
      </p:sp>
      <p:sp>
        <p:nvSpPr>
          <p:cNvPr id="245" name="pr1-bg">
            <a:extLst>
              <a:ext uri="{FF2B5EF4-FFF2-40B4-BE49-F238E27FC236}">
                <a16:creationId xmlns:a16="http://schemas.microsoft.com/office/drawing/2014/main" id="{5ED0ED1C-E98B-1DF8-EBF2-F5BEA7F93B84}"/>
              </a:ext>
            </a:extLst>
          </p:cNvPr>
          <p:cNvSpPr/>
          <p:nvPr/>
        </p:nvSpPr>
        <p:spPr>
          <a:xfrm>
            <a:off x="6576060" y="520065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6" name="pr1-a">
            <a:extLst>
              <a:ext uri="{FF2B5EF4-FFF2-40B4-BE49-F238E27FC236}">
                <a16:creationId xmlns:a16="http://schemas.microsoft.com/office/drawing/2014/main" id="{4E6FEF3C-F29B-2204-FBB1-FE23C1344C38}"/>
              </a:ext>
            </a:extLst>
          </p:cNvPr>
          <p:cNvSpPr/>
          <p:nvPr/>
        </p:nvSpPr>
        <p:spPr>
          <a:xfrm>
            <a:off x="6576060" y="5213350"/>
            <a:ext cx="1818640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7" name="pr1-b">
            <a:extLst>
              <a:ext uri="{FF2B5EF4-FFF2-40B4-BE49-F238E27FC236}">
                <a16:creationId xmlns:a16="http://schemas.microsoft.com/office/drawing/2014/main" id="{FDBD2903-8F0C-3372-40F5-BE53F0DE6A70}"/>
              </a:ext>
            </a:extLst>
          </p:cNvPr>
          <p:cNvSpPr/>
          <p:nvPr/>
        </p:nvSpPr>
        <p:spPr>
          <a:xfrm>
            <a:off x="6576060" y="5276850"/>
            <a:ext cx="1591310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48" name="pr1-t">
            <a:extLst>
              <a:ext uri="{FF2B5EF4-FFF2-40B4-BE49-F238E27FC236}">
                <a16:creationId xmlns:a16="http://schemas.microsoft.com/office/drawing/2014/main" id="{6A081235-86A1-3C64-4C9D-92F48C536961}"/>
              </a:ext>
            </a:extLst>
          </p:cNvPr>
          <p:cNvCxnSpPr/>
          <p:nvPr/>
        </p:nvCxnSpPr>
        <p:spPr>
          <a:xfrm>
            <a:off x="8281035" y="520065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9" name="pr2-n">
            <a:extLst>
              <a:ext uri="{FF2B5EF4-FFF2-40B4-BE49-F238E27FC236}">
                <a16:creationId xmlns:a16="http://schemas.microsoft.com/office/drawing/2014/main" id="{5F1D099B-0130-181E-2519-A7396CA4F384}"/>
              </a:ext>
            </a:extLst>
          </p:cNvPr>
          <p:cNvSpPr txBox="1"/>
          <p:nvPr/>
        </p:nvSpPr>
        <p:spPr>
          <a:xfrm>
            <a:off x="6195060" y="53800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机械</a:t>
            </a:r>
          </a:p>
        </p:txBody>
      </p:sp>
      <p:sp>
        <p:nvSpPr>
          <p:cNvPr id="250" name="pr2-bg">
            <a:extLst>
              <a:ext uri="{FF2B5EF4-FFF2-40B4-BE49-F238E27FC236}">
                <a16:creationId xmlns:a16="http://schemas.microsoft.com/office/drawing/2014/main" id="{A3ED37CD-806B-A779-4035-A46D56C1684F}"/>
              </a:ext>
            </a:extLst>
          </p:cNvPr>
          <p:cNvSpPr/>
          <p:nvPr/>
        </p:nvSpPr>
        <p:spPr>
          <a:xfrm>
            <a:off x="6576060" y="535940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1" name="pr2-a">
            <a:extLst>
              <a:ext uri="{FF2B5EF4-FFF2-40B4-BE49-F238E27FC236}">
                <a16:creationId xmlns:a16="http://schemas.microsoft.com/office/drawing/2014/main" id="{46915AB8-76C6-C3CD-5F69-E9BAB618B5D1}"/>
              </a:ext>
            </a:extLst>
          </p:cNvPr>
          <p:cNvSpPr/>
          <p:nvPr/>
        </p:nvSpPr>
        <p:spPr>
          <a:xfrm>
            <a:off x="6576060" y="5372100"/>
            <a:ext cx="1363980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2" name="pr2-b">
            <a:extLst>
              <a:ext uri="{FF2B5EF4-FFF2-40B4-BE49-F238E27FC236}">
                <a16:creationId xmlns:a16="http://schemas.microsoft.com/office/drawing/2014/main" id="{FBB00E36-86C7-4FDF-C3C6-C778BA49DFFC}"/>
              </a:ext>
            </a:extLst>
          </p:cNvPr>
          <p:cNvSpPr/>
          <p:nvPr/>
        </p:nvSpPr>
        <p:spPr>
          <a:xfrm>
            <a:off x="6576060" y="5435600"/>
            <a:ext cx="1534478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3" name="pr2-t">
            <a:extLst>
              <a:ext uri="{FF2B5EF4-FFF2-40B4-BE49-F238E27FC236}">
                <a16:creationId xmlns:a16="http://schemas.microsoft.com/office/drawing/2014/main" id="{F4F82ACE-44BA-DD37-5E9D-7C712F4D0A78}"/>
              </a:ext>
            </a:extLst>
          </p:cNvPr>
          <p:cNvCxnSpPr/>
          <p:nvPr/>
        </p:nvCxnSpPr>
        <p:spPr>
          <a:xfrm>
            <a:off x="8281035" y="535940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4" name="pr3-n">
            <a:extLst>
              <a:ext uri="{FF2B5EF4-FFF2-40B4-BE49-F238E27FC236}">
                <a16:creationId xmlns:a16="http://schemas.microsoft.com/office/drawing/2014/main" id="{5B5B187B-3215-6522-D733-F2F3D8BD9B81}"/>
              </a:ext>
            </a:extLst>
          </p:cNvPr>
          <p:cNvSpPr txBox="1"/>
          <p:nvPr/>
        </p:nvSpPr>
        <p:spPr>
          <a:xfrm>
            <a:off x="6195060" y="553879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en-US" altLang="zh-CN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EMC</a:t>
            </a:r>
            <a:endParaRPr lang="zh-CN" altLang="en-US" sz="600" b="1">
              <a:solidFill>
                <a:srgbClr val="405B67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55" name="pr3-bg">
            <a:extLst>
              <a:ext uri="{FF2B5EF4-FFF2-40B4-BE49-F238E27FC236}">
                <a16:creationId xmlns:a16="http://schemas.microsoft.com/office/drawing/2014/main" id="{515CE867-B194-E919-E4B8-D382B6B46630}"/>
              </a:ext>
            </a:extLst>
          </p:cNvPr>
          <p:cNvSpPr/>
          <p:nvPr/>
        </p:nvSpPr>
        <p:spPr>
          <a:xfrm>
            <a:off x="6576060" y="551815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6" name="pr3-a">
            <a:extLst>
              <a:ext uri="{FF2B5EF4-FFF2-40B4-BE49-F238E27FC236}">
                <a16:creationId xmlns:a16="http://schemas.microsoft.com/office/drawing/2014/main" id="{D0D98FA4-4920-E9D0-36C9-48B06FB6ABA1}"/>
              </a:ext>
            </a:extLst>
          </p:cNvPr>
          <p:cNvSpPr/>
          <p:nvPr/>
        </p:nvSpPr>
        <p:spPr>
          <a:xfrm>
            <a:off x="6576060" y="5530850"/>
            <a:ext cx="1761808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7" name="pr3-b">
            <a:extLst>
              <a:ext uri="{FF2B5EF4-FFF2-40B4-BE49-F238E27FC236}">
                <a16:creationId xmlns:a16="http://schemas.microsoft.com/office/drawing/2014/main" id="{564A607B-44CB-4CB4-46E1-629E1177A8BA}"/>
              </a:ext>
            </a:extLst>
          </p:cNvPr>
          <p:cNvSpPr/>
          <p:nvPr/>
        </p:nvSpPr>
        <p:spPr>
          <a:xfrm>
            <a:off x="6576060" y="5594350"/>
            <a:ext cx="1648142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58" name="pr3-t">
            <a:extLst>
              <a:ext uri="{FF2B5EF4-FFF2-40B4-BE49-F238E27FC236}">
                <a16:creationId xmlns:a16="http://schemas.microsoft.com/office/drawing/2014/main" id="{91979DF2-DE05-447E-79DB-C908A67080CD}"/>
              </a:ext>
            </a:extLst>
          </p:cNvPr>
          <p:cNvCxnSpPr/>
          <p:nvPr/>
        </p:nvCxnSpPr>
        <p:spPr>
          <a:xfrm>
            <a:off x="8281035" y="551815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pr4-n">
            <a:extLst>
              <a:ext uri="{FF2B5EF4-FFF2-40B4-BE49-F238E27FC236}">
                <a16:creationId xmlns:a16="http://schemas.microsoft.com/office/drawing/2014/main" id="{6D5F226C-373E-EEE4-1C47-9BDB23BDF3D6}"/>
              </a:ext>
            </a:extLst>
          </p:cNvPr>
          <p:cNvSpPr txBox="1"/>
          <p:nvPr/>
        </p:nvSpPr>
        <p:spPr>
          <a:xfrm>
            <a:off x="6195060" y="5697542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合规</a:t>
            </a:r>
          </a:p>
        </p:txBody>
      </p:sp>
      <p:sp>
        <p:nvSpPr>
          <p:cNvPr id="260" name="pr4-bg">
            <a:extLst>
              <a:ext uri="{FF2B5EF4-FFF2-40B4-BE49-F238E27FC236}">
                <a16:creationId xmlns:a16="http://schemas.microsoft.com/office/drawing/2014/main" id="{C6207764-44DB-9F12-ADEA-0DCEB89300A9}"/>
              </a:ext>
            </a:extLst>
          </p:cNvPr>
          <p:cNvSpPr/>
          <p:nvPr/>
        </p:nvSpPr>
        <p:spPr>
          <a:xfrm>
            <a:off x="6576060" y="567690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1" name="pr4-a">
            <a:extLst>
              <a:ext uri="{FF2B5EF4-FFF2-40B4-BE49-F238E27FC236}">
                <a16:creationId xmlns:a16="http://schemas.microsoft.com/office/drawing/2014/main" id="{6B8AAE28-DE92-F536-3A83-4FAD5FC2A6D9}"/>
              </a:ext>
            </a:extLst>
          </p:cNvPr>
          <p:cNvSpPr/>
          <p:nvPr/>
        </p:nvSpPr>
        <p:spPr>
          <a:xfrm>
            <a:off x="6576060" y="5689600"/>
            <a:ext cx="1591310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2" name="pr4-b">
            <a:extLst>
              <a:ext uri="{FF2B5EF4-FFF2-40B4-BE49-F238E27FC236}">
                <a16:creationId xmlns:a16="http://schemas.microsoft.com/office/drawing/2014/main" id="{9A8407D5-C573-3B45-ED98-F74E6481563F}"/>
              </a:ext>
            </a:extLst>
          </p:cNvPr>
          <p:cNvSpPr/>
          <p:nvPr/>
        </p:nvSpPr>
        <p:spPr>
          <a:xfrm>
            <a:off x="6576060" y="5753100"/>
            <a:ext cx="1591310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3" name="pr4-t">
            <a:extLst>
              <a:ext uri="{FF2B5EF4-FFF2-40B4-BE49-F238E27FC236}">
                <a16:creationId xmlns:a16="http://schemas.microsoft.com/office/drawing/2014/main" id="{C75168FB-A959-2505-462F-12EE12ECB5A7}"/>
              </a:ext>
            </a:extLst>
          </p:cNvPr>
          <p:cNvCxnSpPr/>
          <p:nvPr/>
        </p:nvCxnSpPr>
        <p:spPr>
          <a:xfrm>
            <a:off x="8281035" y="567690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4" name="pr5-n">
            <a:extLst>
              <a:ext uri="{FF2B5EF4-FFF2-40B4-BE49-F238E27FC236}">
                <a16:creationId xmlns:a16="http://schemas.microsoft.com/office/drawing/2014/main" id="{B2FA03A5-85F1-7EB8-BD88-7E41B9B5A7C9}"/>
              </a:ext>
            </a:extLst>
          </p:cNvPr>
          <p:cNvSpPr txBox="1"/>
          <p:nvPr/>
        </p:nvSpPr>
        <p:spPr>
          <a:xfrm>
            <a:off x="6195060" y="5902458"/>
            <a:ext cx="355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 b="1">
                <a:solidFill>
                  <a:srgbClr val="405B67"/>
                </a:solidFill>
                <a:latin typeface="Microsoft YaHei" panose="020B0503020204020204" pitchFamily="34" charset="-122"/>
              </a:rPr>
              <a:t>可靠性</a:t>
            </a:r>
          </a:p>
        </p:txBody>
      </p:sp>
      <p:sp>
        <p:nvSpPr>
          <p:cNvPr id="265" name="pr5-bg">
            <a:extLst>
              <a:ext uri="{FF2B5EF4-FFF2-40B4-BE49-F238E27FC236}">
                <a16:creationId xmlns:a16="http://schemas.microsoft.com/office/drawing/2014/main" id="{991F9DB8-3D8D-6FD6-717C-836C85CDFB78}"/>
              </a:ext>
            </a:extLst>
          </p:cNvPr>
          <p:cNvSpPr/>
          <p:nvPr/>
        </p:nvSpPr>
        <p:spPr>
          <a:xfrm>
            <a:off x="6576060" y="5835650"/>
            <a:ext cx="2273300" cy="127000"/>
          </a:xfrm>
          <a:prstGeom prst="rect">
            <a:avLst/>
          </a:prstGeom>
          <a:solidFill>
            <a:srgbClr val="E2E7E8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6" name="pr5-a">
            <a:extLst>
              <a:ext uri="{FF2B5EF4-FFF2-40B4-BE49-F238E27FC236}">
                <a16:creationId xmlns:a16="http://schemas.microsoft.com/office/drawing/2014/main" id="{E24A0D40-1E59-AAC8-F8D6-528F05DD2E75}"/>
              </a:ext>
            </a:extLst>
          </p:cNvPr>
          <p:cNvSpPr/>
          <p:nvPr/>
        </p:nvSpPr>
        <p:spPr>
          <a:xfrm>
            <a:off x="6576060" y="5848350"/>
            <a:ext cx="1420812" cy="508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7" name="pr5-b">
            <a:extLst>
              <a:ext uri="{FF2B5EF4-FFF2-40B4-BE49-F238E27FC236}">
                <a16:creationId xmlns:a16="http://schemas.microsoft.com/office/drawing/2014/main" id="{A24CD9D9-A7D6-6BE9-93B8-FAB675D2FF54}"/>
              </a:ext>
            </a:extLst>
          </p:cNvPr>
          <p:cNvSpPr/>
          <p:nvPr/>
        </p:nvSpPr>
        <p:spPr>
          <a:xfrm>
            <a:off x="6576060" y="5911850"/>
            <a:ext cx="1534478" cy="508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68" name="pr5-t">
            <a:extLst>
              <a:ext uri="{FF2B5EF4-FFF2-40B4-BE49-F238E27FC236}">
                <a16:creationId xmlns:a16="http://schemas.microsoft.com/office/drawing/2014/main" id="{0ABC3414-B4A4-C019-6CB0-BE93BDF1DE25}"/>
              </a:ext>
            </a:extLst>
          </p:cNvPr>
          <p:cNvCxnSpPr/>
          <p:nvPr/>
        </p:nvCxnSpPr>
        <p:spPr>
          <a:xfrm>
            <a:off x="8281035" y="5835650"/>
            <a:ext cx="0" cy="127000"/>
          </a:xfrm>
          <a:prstGeom prst="line">
            <a:avLst/>
          </a:prstGeom>
          <a:ln w="8890">
            <a:solidFill>
              <a:srgbClr val="B96E6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9" name="biz-an">
            <a:extLst>
              <a:ext uri="{FF2B5EF4-FFF2-40B4-BE49-F238E27FC236}">
                <a16:creationId xmlns:a16="http://schemas.microsoft.com/office/drawing/2014/main" id="{B1F3098B-36B5-8744-E01A-D67911514B9D}"/>
              </a:ext>
            </a:extLst>
          </p:cNvPr>
          <p:cNvSpPr txBox="1"/>
          <p:nvPr/>
        </p:nvSpPr>
        <p:spPr>
          <a:xfrm>
            <a:off x="6195060" y="6332220"/>
            <a:ext cx="2679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现状分析：硬件、</a:t>
            </a:r>
            <a:r>
              <a:rPr lang="en-US" altLang="zh-CN" sz="600">
                <a:solidFill>
                  <a:srgbClr val="657881"/>
                </a:solidFill>
                <a:latin typeface="Microsoft YaHei" panose="020B0503020204020204" pitchFamily="34" charset="-122"/>
              </a:rPr>
              <a:t>EMC </a:t>
            </a:r>
            <a:r>
              <a:rPr lang="zh-CN" altLang="en-US" sz="600">
                <a:solidFill>
                  <a:srgbClr val="657881"/>
                </a:solidFill>
                <a:latin typeface="Microsoft YaHei" panose="020B0503020204020204" pitchFamily="34" charset="-122"/>
              </a:rPr>
              <a:t>已形成优势；机械与可靠性低于均值。</a:t>
            </a:r>
          </a:p>
        </p:txBody>
      </p:sp>
      <p:cxnSp>
        <p:nvCxnSpPr>
          <p:cNvPr id="270" name="tr-base">
            <a:extLst>
              <a:ext uri="{FF2B5EF4-FFF2-40B4-BE49-F238E27FC236}">
                <a16:creationId xmlns:a16="http://schemas.microsoft.com/office/drawing/2014/main" id="{E09AFF69-1E7C-735C-35B5-BEC1E9EE66B7}"/>
              </a:ext>
            </a:extLst>
          </p:cNvPr>
          <p:cNvCxnSpPr/>
          <p:nvPr/>
        </p:nvCxnSpPr>
        <p:spPr>
          <a:xfrm>
            <a:off x="9240520" y="5492750"/>
            <a:ext cx="1790700" cy="0"/>
          </a:xfrm>
          <a:prstGeom prst="line">
            <a:avLst/>
          </a:prstGeom>
          <a:ln w="10160">
            <a:solidFill>
              <a:srgbClr val="CBD6D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1" name="tr-tgt">
            <a:extLst>
              <a:ext uri="{FF2B5EF4-FFF2-40B4-BE49-F238E27FC236}">
                <a16:creationId xmlns:a16="http://schemas.microsoft.com/office/drawing/2014/main" id="{F28852B4-CA51-D87D-7866-0D743C455A25}"/>
              </a:ext>
            </a:extLst>
          </p:cNvPr>
          <p:cNvCxnSpPr/>
          <p:nvPr/>
        </p:nvCxnSpPr>
        <p:spPr>
          <a:xfrm>
            <a:off x="9240520" y="5003800"/>
            <a:ext cx="1790700" cy="0"/>
          </a:xfrm>
          <a:prstGeom prst="line">
            <a:avLst/>
          </a:prstGeom>
          <a:ln w="12700">
            <a:solidFill>
              <a:srgbClr val="B96E62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2" name="tr-30">
            <a:extLst>
              <a:ext uri="{FF2B5EF4-FFF2-40B4-BE49-F238E27FC236}">
                <a16:creationId xmlns:a16="http://schemas.microsoft.com/office/drawing/2014/main" id="{518DA6DF-229A-D43C-0C76-F2969A1D9843}"/>
              </a:ext>
            </a:extLst>
          </p:cNvPr>
          <p:cNvSpPr txBox="1"/>
          <p:nvPr/>
        </p:nvSpPr>
        <p:spPr>
          <a:xfrm>
            <a:off x="9037320" y="4953000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3.0</a:t>
            </a:r>
            <a:endParaRPr lang="zh-CN" altLang="en-US" sz="600">
              <a:solidFill>
                <a:srgbClr val="61747E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73" name="tr-24">
            <a:extLst>
              <a:ext uri="{FF2B5EF4-FFF2-40B4-BE49-F238E27FC236}">
                <a16:creationId xmlns:a16="http://schemas.microsoft.com/office/drawing/2014/main" id="{F38224F3-D929-9F0A-30AC-C4E437BB1C0B}"/>
              </a:ext>
            </a:extLst>
          </p:cNvPr>
          <p:cNvSpPr txBox="1"/>
          <p:nvPr/>
        </p:nvSpPr>
        <p:spPr>
          <a:xfrm>
            <a:off x="9037320" y="5469128"/>
            <a:ext cx="2032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2.4</a:t>
            </a:r>
            <a:endParaRPr lang="zh-CN" altLang="en-US" sz="600">
              <a:solidFill>
                <a:srgbClr val="61747E"/>
              </a:solidFill>
              <a:latin typeface="Microsoft YaHei" panose="020B0503020204020204" pitchFamily="34" charset="-122"/>
            </a:endParaRPr>
          </a:p>
        </p:txBody>
      </p:sp>
      <p:cxnSp>
        <p:nvCxnSpPr>
          <p:cNvPr id="274" name="tr-team-l0">
            <a:extLst>
              <a:ext uri="{FF2B5EF4-FFF2-40B4-BE49-F238E27FC236}">
                <a16:creationId xmlns:a16="http://schemas.microsoft.com/office/drawing/2014/main" id="{218F8BD3-F6BF-C962-8E68-ABCBB1A87775}"/>
              </a:ext>
            </a:extLst>
          </p:cNvPr>
          <p:cNvCxnSpPr/>
          <p:nvPr/>
        </p:nvCxnSpPr>
        <p:spPr>
          <a:xfrm flipV="1">
            <a:off x="9359688" y="5281839"/>
            <a:ext cx="515126" cy="98425"/>
          </a:xfrm>
          <a:prstGeom prst="line">
            <a:avLst/>
          </a:prstGeom>
          <a:ln w="1905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5" name="tr-team-l1">
            <a:extLst>
              <a:ext uri="{FF2B5EF4-FFF2-40B4-BE49-F238E27FC236}">
                <a16:creationId xmlns:a16="http://schemas.microsoft.com/office/drawing/2014/main" id="{5827892F-5FCA-DE8E-3F27-B1DB5F481B73}"/>
              </a:ext>
            </a:extLst>
          </p:cNvPr>
          <p:cNvCxnSpPr/>
          <p:nvPr/>
        </p:nvCxnSpPr>
        <p:spPr>
          <a:xfrm flipV="1">
            <a:off x="9874814" y="5162323"/>
            <a:ext cx="515126" cy="119516"/>
          </a:xfrm>
          <a:prstGeom prst="line">
            <a:avLst/>
          </a:prstGeom>
          <a:ln w="1905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tr-team-l2">
            <a:extLst>
              <a:ext uri="{FF2B5EF4-FFF2-40B4-BE49-F238E27FC236}">
                <a16:creationId xmlns:a16="http://schemas.microsoft.com/office/drawing/2014/main" id="{1F37CF6E-918A-754B-C333-940AD7CEE1A0}"/>
              </a:ext>
            </a:extLst>
          </p:cNvPr>
          <p:cNvCxnSpPr/>
          <p:nvPr/>
        </p:nvCxnSpPr>
        <p:spPr>
          <a:xfrm flipV="1">
            <a:off x="10389940" y="5007655"/>
            <a:ext cx="515127" cy="154668"/>
          </a:xfrm>
          <a:prstGeom prst="line">
            <a:avLst/>
          </a:prstGeom>
          <a:ln w="19050">
            <a:solidFill>
              <a:srgbClr val="16837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7" name="tr-team-p0">
            <a:extLst>
              <a:ext uri="{FF2B5EF4-FFF2-40B4-BE49-F238E27FC236}">
                <a16:creationId xmlns:a16="http://schemas.microsoft.com/office/drawing/2014/main" id="{68573E89-187D-C16E-8DA5-141127CC9E23}"/>
              </a:ext>
            </a:extLst>
          </p:cNvPr>
          <p:cNvSpPr/>
          <p:nvPr/>
        </p:nvSpPr>
        <p:spPr>
          <a:xfrm>
            <a:off x="9336829" y="5357404"/>
            <a:ext cx="45719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8" name="tr-team-p3">
            <a:extLst>
              <a:ext uri="{FF2B5EF4-FFF2-40B4-BE49-F238E27FC236}">
                <a16:creationId xmlns:a16="http://schemas.microsoft.com/office/drawing/2014/main" id="{519770D6-D9C6-A821-6DBE-0FD26F852CDA}"/>
              </a:ext>
            </a:extLst>
          </p:cNvPr>
          <p:cNvSpPr/>
          <p:nvPr/>
        </p:nvSpPr>
        <p:spPr>
          <a:xfrm>
            <a:off x="10882206" y="4984795"/>
            <a:ext cx="45720" cy="45720"/>
          </a:xfrm>
          <a:prstGeom prst="ellipse">
            <a:avLst/>
          </a:prstGeom>
          <a:solidFill>
            <a:srgbClr val="16837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79" name="tr-dept-l0">
            <a:extLst>
              <a:ext uri="{FF2B5EF4-FFF2-40B4-BE49-F238E27FC236}">
                <a16:creationId xmlns:a16="http://schemas.microsoft.com/office/drawing/2014/main" id="{1B666B96-D0D9-23E0-F0C7-1673719CE5CE}"/>
              </a:ext>
            </a:extLst>
          </p:cNvPr>
          <p:cNvCxnSpPr/>
          <p:nvPr/>
        </p:nvCxnSpPr>
        <p:spPr>
          <a:xfrm flipV="1">
            <a:off x="9359688" y="5225597"/>
            <a:ext cx="515126" cy="84364"/>
          </a:xfrm>
          <a:prstGeom prst="line">
            <a:avLst/>
          </a:prstGeom>
          <a:ln w="19050">
            <a:solidFill>
              <a:srgbClr val="8298A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0" name="tr-dept-l1">
            <a:extLst>
              <a:ext uri="{FF2B5EF4-FFF2-40B4-BE49-F238E27FC236}">
                <a16:creationId xmlns:a16="http://schemas.microsoft.com/office/drawing/2014/main" id="{EF89087A-F8A0-1F90-7E09-F0D0AA044903}"/>
              </a:ext>
            </a:extLst>
          </p:cNvPr>
          <p:cNvCxnSpPr/>
          <p:nvPr/>
        </p:nvCxnSpPr>
        <p:spPr>
          <a:xfrm flipV="1">
            <a:off x="9874814" y="5120141"/>
            <a:ext cx="515126" cy="105456"/>
          </a:xfrm>
          <a:prstGeom prst="line">
            <a:avLst/>
          </a:prstGeom>
          <a:ln w="19050">
            <a:solidFill>
              <a:srgbClr val="8298A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1" name="tr-dept-l2">
            <a:extLst>
              <a:ext uri="{FF2B5EF4-FFF2-40B4-BE49-F238E27FC236}">
                <a16:creationId xmlns:a16="http://schemas.microsoft.com/office/drawing/2014/main" id="{2E361295-C903-67C4-4A12-A0EAFDBE6F91}"/>
              </a:ext>
            </a:extLst>
          </p:cNvPr>
          <p:cNvCxnSpPr/>
          <p:nvPr/>
        </p:nvCxnSpPr>
        <p:spPr>
          <a:xfrm flipV="1">
            <a:off x="10389940" y="4972503"/>
            <a:ext cx="515127" cy="147638"/>
          </a:xfrm>
          <a:prstGeom prst="line">
            <a:avLst/>
          </a:prstGeom>
          <a:ln w="19050">
            <a:solidFill>
              <a:srgbClr val="8298A3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2" name="tr-dept-p0">
            <a:extLst>
              <a:ext uri="{FF2B5EF4-FFF2-40B4-BE49-F238E27FC236}">
                <a16:creationId xmlns:a16="http://schemas.microsoft.com/office/drawing/2014/main" id="{38F4E7A1-C71D-F335-499E-FFD0BBD4F9FE}"/>
              </a:ext>
            </a:extLst>
          </p:cNvPr>
          <p:cNvSpPr/>
          <p:nvPr/>
        </p:nvSpPr>
        <p:spPr>
          <a:xfrm>
            <a:off x="9336829" y="5287101"/>
            <a:ext cx="45719" cy="45720"/>
          </a:xfrm>
          <a:prstGeom prst="ellipse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3" name="tr-dept-p3">
            <a:extLst>
              <a:ext uri="{FF2B5EF4-FFF2-40B4-BE49-F238E27FC236}">
                <a16:creationId xmlns:a16="http://schemas.microsoft.com/office/drawing/2014/main" id="{A09FCFD7-EDCA-8286-C23C-73D60EF4B4D0}"/>
              </a:ext>
            </a:extLst>
          </p:cNvPr>
          <p:cNvSpPr/>
          <p:nvPr/>
        </p:nvSpPr>
        <p:spPr>
          <a:xfrm>
            <a:off x="10882206" y="4949644"/>
            <a:ext cx="45720" cy="45720"/>
          </a:xfrm>
          <a:prstGeom prst="ellipse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84" name="tr-biz-l0">
            <a:extLst>
              <a:ext uri="{FF2B5EF4-FFF2-40B4-BE49-F238E27FC236}">
                <a16:creationId xmlns:a16="http://schemas.microsoft.com/office/drawing/2014/main" id="{88BB1F83-303C-8D46-E2C5-B34DDA913DED}"/>
              </a:ext>
            </a:extLst>
          </p:cNvPr>
          <p:cNvCxnSpPr/>
          <p:nvPr/>
        </p:nvCxnSpPr>
        <p:spPr>
          <a:xfrm flipV="1">
            <a:off x="9359688" y="5253718"/>
            <a:ext cx="515126" cy="84364"/>
          </a:xfrm>
          <a:prstGeom prst="line">
            <a:avLst/>
          </a:prstGeom>
          <a:ln w="19050">
            <a:solidFill>
              <a:srgbClr val="B49A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5" name="tr-biz-l1">
            <a:extLst>
              <a:ext uri="{FF2B5EF4-FFF2-40B4-BE49-F238E27FC236}">
                <a16:creationId xmlns:a16="http://schemas.microsoft.com/office/drawing/2014/main" id="{858E8302-DE40-FEE2-8698-B1497217AE59}"/>
              </a:ext>
            </a:extLst>
          </p:cNvPr>
          <p:cNvCxnSpPr/>
          <p:nvPr/>
        </p:nvCxnSpPr>
        <p:spPr>
          <a:xfrm flipV="1">
            <a:off x="9874814" y="5141232"/>
            <a:ext cx="515126" cy="112486"/>
          </a:xfrm>
          <a:prstGeom prst="line">
            <a:avLst/>
          </a:prstGeom>
          <a:ln w="19050">
            <a:solidFill>
              <a:srgbClr val="B49A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tr-biz-l2">
            <a:extLst>
              <a:ext uri="{FF2B5EF4-FFF2-40B4-BE49-F238E27FC236}">
                <a16:creationId xmlns:a16="http://schemas.microsoft.com/office/drawing/2014/main" id="{C0AEE67E-78AE-7B1F-CE19-CCEF35C6FED6}"/>
              </a:ext>
            </a:extLst>
          </p:cNvPr>
          <p:cNvCxnSpPr/>
          <p:nvPr/>
        </p:nvCxnSpPr>
        <p:spPr>
          <a:xfrm flipV="1">
            <a:off x="10389940" y="5028747"/>
            <a:ext cx="515127" cy="112485"/>
          </a:xfrm>
          <a:prstGeom prst="line">
            <a:avLst/>
          </a:prstGeom>
          <a:ln w="19050">
            <a:solidFill>
              <a:srgbClr val="B49A69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tr-biz-p0">
            <a:extLst>
              <a:ext uri="{FF2B5EF4-FFF2-40B4-BE49-F238E27FC236}">
                <a16:creationId xmlns:a16="http://schemas.microsoft.com/office/drawing/2014/main" id="{951DB3A3-3612-1A14-F6CD-A735BDF3564E}"/>
              </a:ext>
            </a:extLst>
          </p:cNvPr>
          <p:cNvSpPr/>
          <p:nvPr/>
        </p:nvSpPr>
        <p:spPr>
          <a:xfrm>
            <a:off x="9336829" y="5315222"/>
            <a:ext cx="45719" cy="45720"/>
          </a:xfrm>
          <a:prstGeom prst="ellipse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8" name="tr-biz-p3">
            <a:extLst>
              <a:ext uri="{FF2B5EF4-FFF2-40B4-BE49-F238E27FC236}">
                <a16:creationId xmlns:a16="http://schemas.microsoft.com/office/drawing/2014/main" id="{C4888418-A89E-4E37-B99A-DDE21F56A74E}"/>
              </a:ext>
            </a:extLst>
          </p:cNvPr>
          <p:cNvSpPr/>
          <p:nvPr/>
        </p:nvSpPr>
        <p:spPr>
          <a:xfrm>
            <a:off x="10882206" y="5005886"/>
            <a:ext cx="45720" cy="45720"/>
          </a:xfrm>
          <a:prstGeom prst="ellipse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9" name="tr-m0">
            <a:extLst>
              <a:ext uri="{FF2B5EF4-FFF2-40B4-BE49-F238E27FC236}">
                <a16:creationId xmlns:a16="http://schemas.microsoft.com/office/drawing/2014/main" id="{F6DF0E15-FA3F-50E4-7FD9-325E7767E757}"/>
              </a:ext>
            </a:extLst>
          </p:cNvPr>
          <p:cNvSpPr txBox="1"/>
          <p:nvPr/>
        </p:nvSpPr>
        <p:spPr>
          <a:xfrm>
            <a:off x="9232688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9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290" name="tr-m1">
            <a:extLst>
              <a:ext uri="{FF2B5EF4-FFF2-40B4-BE49-F238E27FC236}">
                <a16:creationId xmlns:a16="http://schemas.microsoft.com/office/drawing/2014/main" id="{C4AA2318-C7E9-FD37-F1D8-FD9E8AD45016}"/>
              </a:ext>
            </a:extLst>
          </p:cNvPr>
          <p:cNvSpPr txBox="1"/>
          <p:nvPr/>
        </p:nvSpPr>
        <p:spPr>
          <a:xfrm>
            <a:off x="9747814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10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291" name="tr-m2">
            <a:extLst>
              <a:ext uri="{FF2B5EF4-FFF2-40B4-BE49-F238E27FC236}">
                <a16:creationId xmlns:a16="http://schemas.microsoft.com/office/drawing/2014/main" id="{31A80FFE-8DBF-38BE-2AF2-D886744610D9}"/>
              </a:ext>
            </a:extLst>
          </p:cNvPr>
          <p:cNvSpPr txBox="1"/>
          <p:nvPr/>
        </p:nvSpPr>
        <p:spPr>
          <a:xfrm>
            <a:off x="10262940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11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292" name="tr-m3">
            <a:extLst>
              <a:ext uri="{FF2B5EF4-FFF2-40B4-BE49-F238E27FC236}">
                <a16:creationId xmlns:a16="http://schemas.microsoft.com/office/drawing/2014/main" id="{E72860E2-9BD8-41C8-9E09-95F59F81CAEC}"/>
              </a:ext>
            </a:extLst>
          </p:cNvPr>
          <p:cNvSpPr txBox="1"/>
          <p:nvPr/>
        </p:nvSpPr>
        <p:spPr>
          <a:xfrm>
            <a:off x="10778067" y="5664200"/>
            <a:ext cx="2794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pPr algn="ctr"/>
            <a:r>
              <a:rPr lang="en-US" altLang="zh-CN" sz="600">
                <a:solidFill>
                  <a:srgbClr val="61747E"/>
                </a:solidFill>
                <a:latin typeface="Microsoft YaHei" panose="020B0503020204020204" pitchFamily="34" charset="-122"/>
              </a:rPr>
              <a:t>12</a:t>
            </a:r>
            <a:r>
              <a:rPr lang="zh-CN" altLang="en-US" sz="600">
                <a:solidFill>
                  <a:srgbClr val="61747E"/>
                </a:solidFill>
                <a:latin typeface="Microsoft YaHei" panose="020B0503020204020204" pitchFamily="34" charset="-122"/>
              </a:rPr>
              <a:t>月</a:t>
            </a:r>
          </a:p>
        </p:txBody>
      </p:sp>
      <p:sp>
        <p:nvSpPr>
          <p:cNvPr id="293" name="tr-lab1">
            <a:extLst>
              <a:ext uri="{FF2B5EF4-FFF2-40B4-BE49-F238E27FC236}">
                <a16:creationId xmlns:a16="http://schemas.microsoft.com/office/drawing/2014/main" id="{EB2AE161-EF90-5CC7-74A5-A741B9D30CFE}"/>
              </a:ext>
            </a:extLst>
          </p:cNvPr>
          <p:cNvSpPr txBox="1"/>
          <p:nvPr/>
        </p:nvSpPr>
        <p:spPr>
          <a:xfrm>
            <a:off x="11094720" y="4902200"/>
            <a:ext cx="609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16837A"/>
                </a:solidFill>
                <a:latin typeface="Microsoft YaHei" panose="020B0503020204020204" pitchFamily="34" charset="-122"/>
              </a:rPr>
              <a:t>科组 </a:t>
            </a:r>
            <a:r>
              <a:rPr lang="en-US" altLang="zh-CN" sz="600" b="1">
                <a:solidFill>
                  <a:srgbClr val="16837A"/>
                </a:solidFill>
                <a:latin typeface="Microsoft YaHei" panose="020B0503020204020204" pitchFamily="34" charset="-122"/>
              </a:rPr>
              <a:t>3.12</a:t>
            </a:r>
            <a:endParaRPr lang="zh-CN" altLang="en-US" sz="600" b="1">
              <a:solidFill>
                <a:srgbClr val="16837A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94" name="tr-lab2">
            <a:extLst>
              <a:ext uri="{FF2B5EF4-FFF2-40B4-BE49-F238E27FC236}">
                <a16:creationId xmlns:a16="http://schemas.microsoft.com/office/drawing/2014/main" id="{5147BC14-3D36-8948-4A50-B47BB797D772}"/>
              </a:ext>
            </a:extLst>
          </p:cNvPr>
          <p:cNvSpPr txBox="1"/>
          <p:nvPr/>
        </p:nvSpPr>
        <p:spPr>
          <a:xfrm>
            <a:off x="11094720" y="5067300"/>
            <a:ext cx="609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8298A3"/>
                </a:solidFill>
                <a:latin typeface="Microsoft YaHei" panose="020B0503020204020204" pitchFamily="34" charset="-122"/>
              </a:rPr>
              <a:t>部门 </a:t>
            </a:r>
            <a:r>
              <a:rPr lang="en-US" altLang="zh-CN" sz="600" b="1">
                <a:solidFill>
                  <a:srgbClr val="8298A3"/>
                </a:solidFill>
                <a:latin typeface="Microsoft YaHei" panose="020B0503020204020204" pitchFamily="34" charset="-122"/>
              </a:rPr>
              <a:t>3.18</a:t>
            </a:r>
            <a:endParaRPr lang="zh-CN" altLang="en-US" sz="600" b="1">
              <a:solidFill>
                <a:srgbClr val="8298A3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95" name="tr-lab3">
            <a:extLst>
              <a:ext uri="{FF2B5EF4-FFF2-40B4-BE49-F238E27FC236}">
                <a16:creationId xmlns:a16="http://schemas.microsoft.com/office/drawing/2014/main" id="{91AC469D-0FE5-CE05-FD94-8946DCF46B28}"/>
              </a:ext>
            </a:extLst>
          </p:cNvPr>
          <p:cNvSpPr txBox="1"/>
          <p:nvPr/>
        </p:nvSpPr>
        <p:spPr>
          <a:xfrm>
            <a:off x="11094720" y="5232400"/>
            <a:ext cx="6096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 b="1">
                <a:solidFill>
                  <a:srgbClr val="9B7840"/>
                </a:solidFill>
                <a:latin typeface="Microsoft YaHei" panose="020B0503020204020204" pitchFamily="34" charset="-122"/>
              </a:rPr>
              <a:t>业务 </a:t>
            </a:r>
            <a:r>
              <a:rPr lang="en-US" altLang="zh-CN" sz="600" b="1">
                <a:solidFill>
                  <a:srgbClr val="9B7840"/>
                </a:solidFill>
                <a:latin typeface="Microsoft YaHei" panose="020B0503020204020204" pitchFamily="34" charset="-122"/>
              </a:rPr>
              <a:t>3.08</a:t>
            </a:r>
            <a:endParaRPr lang="zh-CN" altLang="en-US" sz="600" b="1">
              <a:solidFill>
                <a:srgbClr val="9B7840"/>
              </a:solidFill>
              <a:latin typeface="Microsoft YaHei" panose="020B0503020204020204" pitchFamily="34" charset="-122"/>
            </a:endParaRPr>
          </a:p>
        </p:txBody>
      </p:sp>
      <p:sp>
        <p:nvSpPr>
          <p:cNvPr id="296" name="adv0">
            <a:extLst>
              <a:ext uri="{FF2B5EF4-FFF2-40B4-BE49-F238E27FC236}">
                <a16:creationId xmlns:a16="http://schemas.microsoft.com/office/drawing/2014/main" id="{57A878FB-FC43-4B7F-64E5-0D612F561C38}"/>
              </a:ext>
            </a:extLst>
          </p:cNvPr>
          <p:cNvSpPr/>
          <p:nvPr/>
        </p:nvSpPr>
        <p:spPr>
          <a:xfrm>
            <a:off x="9037320" y="5791200"/>
            <a:ext cx="2628900" cy="165100"/>
          </a:xfrm>
          <a:prstGeom prst="rect">
            <a:avLst/>
          </a:prstGeom>
          <a:solidFill>
            <a:srgbClr val="E8F1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7" name="adv0-b">
            <a:extLst>
              <a:ext uri="{FF2B5EF4-FFF2-40B4-BE49-F238E27FC236}">
                <a16:creationId xmlns:a16="http://schemas.microsoft.com/office/drawing/2014/main" id="{EF6E2AD5-40E2-B552-A926-4ACCA9F41AD5}"/>
              </a:ext>
            </a:extLst>
          </p:cNvPr>
          <p:cNvSpPr/>
          <p:nvPr/>
        </p:nvSpPr>
        <p:spPr>
          <a:xfrm>
            <a:off x="9037320" y="5791200"/>
            <a:ext cx="25400" cy="165100"/>
          </a:xfrm>
          <a:prstGeom prst="rect">
            <a:avLst/>
          </a:prstGeom>
          <a:solidFill>
            <a:srgbClr val="6F9D9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8" name="adv0-t">
            <a:extLst>
              <a:ext uri="{FF2B5EF4-FFF2-40B4-BE49-F238E27FC236}">
                <a16:creationId xmlns:a16="http://schemas.microsoft.com/office/drawing/2014/main" id="{3F3CC07F-F4FB-247C-8C52-887344B92E9B}"/>
              </a:ext>
            </a:extLst>
          </p:cNvPr>
          <p:cNvSpPr txBox="1"/>
          <p:nvPr/>
        </p:nvSpPr>
        <p:spPr>
          <a:xfrm>
            <a:off x="9088120" y="5824542"/>
            <a:ext cx="2552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科组：自动化低于部门均值，参考伺服测试组基线；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10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月交付。</a:t>
            </a:r>
          </a:p>
        </p:txBody>
      </p:sp>
      <p:sp>
        <p:nvSpPr>
          <p:cNvPr id="299" name="adv1">
            <a:extLst>
              <a:ext uri="{FF2B5EF4-FFF2-40B4-BE49-F238E27FC236}">
                <a16:creationId xmlns:a16="http://schemas.microsoft.com/office/drawing/2014/main" id="{048FB321-BC66-9377-6BCF-FD073018D4E5}"/>
              </a:ext>
            </a:extLst>
          </p:cNvPr>
          <p:cNvSpPr/>
          <p:nvPr/>
        </p:nvSpPr>
        <p:spPr>
          <a:xfrm>
            <a:off x="9037320" y="5969000"/>
            <a:ext cx="2628900" cy="165100"/>
          </a:xfrm>
          <a:prstGeom prst="rect">
            <a:avLst/>
          </a:prstGeom>
          <a:solidFill>
            <a:srgbClr val="EDF1F2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0" name="adv1-b">
            <a:extLst>
              <a:ext uri="{FF2B5EF4-FFF2-40B4-BE49-F238E27FC236}">
                <a16:creationId xmlns:a16="http://schemas.microsoft.com/office/drawing/2014/main" id="{8B9CA291-1D3B-6995-1B44-FEC698F6D0F6}"/>
              </a:ext>
            </a:extLst>
          </p:cNvPr>
          <p:cNvSpPr/>
          <p:nvPr/>
        </p:nvSpPr>
        <p:spPr>
          <a:xfrm>
            <a:off x="9037320" y="5969000"/>
            <a:ext cx="25400" cy="165100"/>
          </a:xfrm>
          <a:prstGeom prst="rect">
            <a:avLst/>
          </a:prstGeom>
          <a:solidFill>
            <a:srgbClr val="8298A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1" name="adv1-t">
            <a:extLst>
              <a:ext uri="{FF2B5EF4-FFF2-40B4-BE49-F238E27FC236}">
                <a16:creationId xmlns:a16="http://schemas.microsoft.com/office/drawing/2014/main" id="{D9483D93-2646-B4BB-C267-C0023B11F4A9}"/>
              </a:ext>
            </a:extLst>
          </p:cNvPr>
          <p:cNvSpPr txBox="1"/>
          <p:nvPr/>
        </p:nvSpPr>
        <p:spPr>
          <a:xfrm>
            <a:off x="9088120" y="6002342"/>
            <a:ext cx="2552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部门：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11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月完成方案复审与共性能力验收。</a:t>
            </a:r>
          </a:p>
        </p:txBody>
      </p:sp>
      <p:sp>
        <p:nvSpPr>
          <p:cNvPr id="302" name="adv2">
            <a:extLst>
              <a:ext uri="{FF2B5EF4-FFF2-40B4-BE49-F238E27FC236}">
                <a16:creationId xmlns:a16="http://schemas.microsoft.com/office/drawing/2014/main" id="{6025FE04-74B8-BAF6-C271-F3C278194A03}"/>
              </a:ext>
            </a:extLst>
          </p:cNvPr>
          <p:cNvSpPr/>
          <p:nvPr/>
        </p:nvSpPr>
        <p:spPr>
          <a:xfrm>
            <a:off x="9037320" y="6146800"/>
            <a:ext cx="2628900" cy="165100"/>
          </a:xfrm>
          <a:prstGeom prst="rect">
            <a:avLst/>
          </a:prstGeom>
          <a:solidFill>
            <a:srgbClr val="F3EDE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adv2-b">
            <a:extLst>
              <a:ext uri="{FF2B5EF4-FFF2-40B4-BE49-F238E27FC236}">
                <a16:creationId xmlns:a16="http://schemas.microsoft.com/office/drawing/2014/main" id="{4D783A2D-C08B-D0DA-2250-1638B933DE84}"/>
              </a:ext>
            </a:extLst>
          </p:cNvPr>
          <p:cNvSpPr/>
          <p:nvPr/>
        </p:nvSpPr>
        <p:spPr>
          <a:xfrm>
            <a:off x="9037320" y="6146800"/>
            <a:ext cx="25400" cy="165100"/>
          </a:xfrm>
          <a:prstGeom prst="rect">
            <a:avLst/>
          </a:prstGeom>
          <a:solidFill>
            <a:srgbClr val="B49A6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4" name="adv2-t">
            <a:extLst>
              <a:ext uri="{FF2B5EF4-FFF2-40B4-BE49-F238E27FC236}">
                <a16:creationId xmlns:a16="http://schemas.microsoft.com/office/drawing/2014/main" id="{3F5A4552-8103-C06C-2A81-7DB0080F3DA7}"/>
              </a:ext>
            </a:extLst>
          </p:cNvPr>
          <p:cNvSpPr txBox="1"/>
          <p:nvPr/>
        </p:nvSpPr>
        <p:spPr>
          <a:xfrm>
            <a:off x="9088120" y="6180142"/>
            <a:ext cx="2552700" cy="117981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ctr">
            <a:spAutoFit/>
          </a:bodyPr>
          <a:lstStyle/>
          <a:p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业务：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12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月补齐机械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/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可靠性能力，预计得分 </a:t>
            </a:r>
            <a:r>
              <a:rPr lang="en-US" altLang="zh-CN" sz="600">
                <a:solidFill>
                  <a:srgbClr val="536B76"/>
                </a:solidFill>
                <a:latin typeface="Microsoft YaHei" panose="020B0503020204020204" pitchFamily="34" charset="-122"/>
              </a:rPr>
              <a:t>3.08</a:t>
            </a:r>
            <a:r>
              <a:rPr lang="zh-CN" altLang="en-US" sz="600">
                <a:solidFill>
                  <a:srgbClr val="536B76"/>
                </a:solidFill>
                <a:latin typeface="Microsoft YaHei" panose="020B0503020204020204" pitchFamily="34" charset="-122"/>
              </a:rPr>
              <a:t>。</a:t>
            </a:r>
          </a:p>
        </p:txBody>
      </p:sp>
      <p:sp>
        <p:nvSpPr>
          <p:cNvPr id="305" name="risk">
            <a:extLst>
              <a:ext uri="{FF2B5EF4-FFF2-40B4-BE49-F238E27FC236}">
                <a16:creationId xmlns:a16="http://schemas.microsoft.com/office/drawing/2014/main" id="{6588E284-36CA-E9C1-EC01-A0FF956F3F72}"/>
              </a:ext>
            </a:extLst>
          </p:cNvPr>
          <p:cNvSpPr txBox="1"/>
          <p:nvPr/>
        </p:nvSpPr>
        <p:spPr>
          <a:xfrm>
            <a:off x="9037320" y="6357620"/>
            <a:ext cx="2628900" cy="210314"/>
          </a:xfrm>
          <a:prstGeom prst="rect">
            <a:avLst/>
          </a:prstGeom>
          <a:noFill/>
        </p:spPr>
        <p:txBody>
          <a:bodyPr vert="horz" wrap="square" lIns="25400" tIns="12700" rIns="25400" bIns="12700" rtlCol="0" anchor="t">
            <a:spAutoFit/>
          </a:bodyPr>
          <a:lstStyle/>
          <a:p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年度目标达成风险评估：当前存在两项短板；按交付计划推进，</a:t>
            </a:r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12</a:t>
            </a:r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月可达 </a:t>
            </a:r>
            <a:r>
              <a:rPr lang="en-US" altLang="zh-CN" sz="600">
                <a:solidFill>
                  <a:srgbClr val="71828A"/>
                </a:solidFill>
                <a:latin typeface="Microsoft YaHei" panose="020B0503020204020204" pitchFamily="34" charset="-122"/>
              </a:rPr>
              <a:t>3.0+</a:t>
            </a:r>
            <a:r>
              <a:rPr lang="zh-CN" altLang="en-US" sz="600">
                <a:solidFill>
                  <a:srgbClr val="71828A"/>
                </a:solidFill>
                <a:latin typeface="Microsoft YaHei" panose="020B0503020204020204" pitchFamily="34" charset="-122"/>
              </a:rPr>
              <a:t>。</a:t>
            </a:r>
          </a:p>
        </p:txBody>
      </p:sp>
    </p:spTree>
    <p:extLst>
      <p:ext uri="{BB962C8B-B14F-4D97-AF65-F5344CB8AC3E}">
        <p14:creationId xmlns:p14="http://schemas.microsoft.com/office/powerpoint/2010/main" val="390285321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630</Words>
  <Application>Microsoft Office PowerPoint</Application>
  <PresentationFormat>自定义</PresentationFormat>
  <Paragraphs>134</Paragraphs>
  <Slides>1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6" baseType="lpstr">
      <vt:lpstr>等线</vt:lpstr>
      <vt:lpstr>等线 Light</vt:lpstr>
      <vt:lpstr>Microsoft YaHei</vt:lpstr>
      <vt:lpstr>Arial</vt:lpstr>
      <vt:lpstr>Office 主题​​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qy d</dc:creator>
  <cp:lastModifiedBy>qy d</cp:lastModifiedBy>
  <cp:revision>1</cp:revision>
  <dcterms:created xsi:type="dcterms:W3CDTF">2026-09-03T10:15:06Z</dcterms:created>
  <dcterms:modified xsi:type="dcterms:W3CDTF">2026-09-03T10:15:06Z</dcterms:modified>
</cp:coreProperties>
</file>