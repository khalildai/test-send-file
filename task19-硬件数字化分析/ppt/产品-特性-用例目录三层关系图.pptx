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664FE-0F05-2B1F-4EEE-42F5D6610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F6BCF8-1558-4D28-F7CD-A843D6DA2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EE374-0BBF-47CB-0EBE-F3F79612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F4A512-9706-8ADB-4B98-27FF3D59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F00F98-9A29-6E62-AEDE-7362E4D5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99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6BE14-DBFE-D102-BE6B-D6F67DCFB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D8A35-9E29-BFA0-21D0-6F769426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E8D857-1B6A-5CBA-6EF1-3BBF9259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7D82A1-BB6C-2E66-9E19-4FF8B50B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03BB05-C613-B277-30C1-51674325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58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1D28E-1546-E80B-51D0-8B3A1F3E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5618D-3D5F-765A-F408-4B9D43492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5A966-5A80-C8CA-856E-5922F0AE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282335-26E5-FADD-113F-3EF3547A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A81CE5-0515-0246-5292-9517262B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199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3C43A-0D08-8ADA-AF7C-BC21C5D7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E61770-A3C2-7987-8215-39BF472D8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DA48D9-A838-5AAB-6270-8C1754F34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DAF368-37C2-6E68-CCC9-A1BEAC34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39BA20-1880-BB10-1067-32A041EF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8EF205-99E8-620A-E3B8-F5B09197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11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D0432-5226-BEE5-EDDE-EA8FA6496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0E4DB5-2ED6-0C6A-1E67-33FD21DA0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93B84C-69C1-7813-F3B4-260DA1353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024BB7-AAC8-5F90-166F-D85D61D50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7032DD-FE9B-76D7-55F8-7FABE96AE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A4E48E-8477-6F0B-D4A2-7D94733C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FC2FF1-056E-5B9B-424C-A0BF52E0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F7E9AE-3860-262B-0266-7654265F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178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11CB1-B6AE-6B6A-ACD9-9C34FE3A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A791FC-6F15-0B6F-FAD4-1EBDC566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BFD727-DADF-A66F-78AC-49024F09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26CA8E-D291-3710-D343-0157AFCB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68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1DA737-F25C-8DED-537C-DAA1360F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A92356-03E9-27C6-26D8-385E3188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AF793B-A5B2-606C-0127-DF767AC2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749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6C301-C91A-A456-51C3-5930E695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660DD2-2D8C-4F8B-C9EA-EE3D0A217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227798-9CAC-19B1-5F49-73BB83CA9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045AFD-2AF5-35DC-BAE5-1B12F799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795D5B-C993-19A7-4F72-B9B5EB41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94D256-0C00-503C-1B47-DECA6E5E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20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8F02C-2F32-9C1B-B1F2-BAE49E9C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041106-3919-CF72-C304-92F19511F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4D1B9A-5B4E-D0F5-6CBE-0325F2765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6D8586-C897-3536-4812-FF1A2BD21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ED0376-1A8C-E316-41EE-996E4CE6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17D585-4E77-872A-F61C-1AF1E6AC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78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68E82-BDCA-E601-F06E-776C6991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CDA510-8CD7-9A34-2B26-9328ADEF9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5C243-FABA-D1FC-0B4D-03979AD2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6F3C4D-1BFB-0A3E-DAA7-EFFEF39D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32ACD-B14D-0A72-A7DF-CADD9311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8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E15EA5-707F-0346-FD0B-7E0B1CDF4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D68FB3-615D-84A5-A2C0-53A5825BA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E76574-5E76-CC0D-A513-03E8C7102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0C9F5-F07E-BD0B-4D3D-2F856F7C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6FFDC-7452-248F-D815-53C55723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6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F3F81D-2ECF-38A1-6FB3-1A174FEF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540D55-C480-8E22-4629-26A16B9F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CD9575-F540-65E2-ECAD-0FB05A026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DE3D8-A644-45CD-9AED-2B6AA4C4E510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B8946-1018-486C-E8E9-7CF79FFB3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5D01E-65F9-A37E-B269-21E8C4042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D296C-63B4-47FA-B4EA-77C4E705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98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-product">
            <a:extLst>
              <a:ext uri="{FF2B5EF4-FFF2-40B4-BE49-F238E27FC236}">
                <a16:creationId xmlns:a16="http://schemas.microsoft.com/office/drawing/2014/main" id="{556FB997-A8A7-A002-BF3D-46463B55E842}"/>
              </a:ext>
            </a:extLst>
          </p:cNvPr>
          <p:cNvSpPr/>
          <p:nvPr/>
        </p:nvSpPr>
        <p:spPr>
          <a:xfrm>
            <a:off x="406400" y="1371600"/>
            <a:ext cx="1137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band-feature">
            <a:extLst>
              <a:ext uri="{FF2B5EF4-FFF2-40B4-BE49-F238E27FC236}">
                <a16:creationId xmlns:a16="http://schemas.microsoft.com/office/drawing/2014/main" id="{4668440C-44CF-2BB1-7C9D-5C8CFC34D437}"/>
              </a:ext>
            </a:extLst>
          </p:cNvPr>
          <p:cNvSpPr/>
          <p:nvPr/>
        </p:nvSpPr>
        <p:spPr>
          <a:xfrm>
            <a:off x="406400" y="2717800"/>
            <a:ext cx="11379200" cy="1676400"/>
          </a:xfrm>
          <a:prstGeom prst="rect">
            <a:avLst/>
          </a:prstGeom>
          <a:solidFill>
            <a:srgbClr val="F3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band-catalog">
            <a:extLst>
              <a:ext uri="{FF2B5EF4-FFF2-40B4-BE49-F238E27FC236}">
                <a16:creationId xmlns:a16="http://schemas.microsoft.com/office/drawing/2014/main" id="{0C08D751-B5DD-7305-D97A-9548DD425D72}"/>
              </a:ext>
            </a:extLst>
          </p:cNvPr>
          <p:cNvSpPr/>
          <p:nvPr/>
        </p:nvSpPr>
        <p:spPr>
          <a:xfrm>
            <a:off x="406400" y="4597400"/>
            <a:ext cx="11379200" cy="1600200"/>
          </a:xfrm>
          <a:prstGeom prst="rect">
            <a:avLst/>
          </a:prstGeom>
          <a:solidFill>
            <a:srgbClr val="F7F7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041ED9F-1D95-9CE1-E5C1-8D5610FB87FF}"/>
              </a:ext>
            </a:extLst>
          </p:cNvPr>
          <p:cNvSpPr txBox="1"/>
          <p:nvPr/>
        </p:nvSpPr>
        <p:spPr>
          <a:xfrm>
            <a:off x="635000" y="304800"/>
            <a:ext cx="10922000" cy="646331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3600" b="1">
                <a:solidFill>
                  <a:srgbClr val="111827"/>
                </a:solidFill>
                <a:latin typeface="Microsoft YaHei" panose="020B0503020204020204" pitchFamily="34" charset="-122"/>
              </a:rPr>
              <a:t>产品、特性与用例目录三层关系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3197366C-3A5B-A6ED-817A-F4F7F512E205}"/>
              </a:ext>
            </a:extLst>
          </p:cNvPr>
          <p:cNvSpPr txBox="1"/>
          <p:nvPr/>
        </p:nvSpPr>
        <p:spPr>
          <a:xfrm>
            <a:off x="635000" y="896694"/>
            <a:ext cx="10922000" cy="338554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700">
                <a:solidFill>
                  <a:srgbClr val="4B5563"/>
                </a:solidFill>
                <a:latin typeface="Microsoft YaHei" panose="020B0503020204020204" pitchFamily="34" charset="-122"/>
              </a:rPr>
              <a:t>产品需求逐级细分为特性，并映射到对应层级的用例目录</a:t>
            </a:r>
          </a:p>
        </p:txBody>
      </p:sp>
      <p:sp>
        <p:nvSpPr>
          <p:cNvPr id="7" name="label-bar-product">
            <a:extLst>
              <a:ext uri="{FF2B5EF4-FFF2-40B4-BE49-F238E27FC236}">
                <a16:creationId xmlns:a16="http://schemas.microsoft.com/office/drawing/2014/main" id="{E5201D04-E31A-52B1-D0CD-666AD51C2C26}"/>
              </a:ext>
            </a:extLst>
          </p:cNvPr>
          <p:cNvSpPr/>
          <p:nvPr/>
        </p:nvSpPr>
        <p:spPr>
          <a:xfrm>
            <a:off x="635000" y="1625600"/>
            <a:ext cx="63500" cy="5334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abel-product">
            <a:extLst>
              <a:ext uri="{FF2B5EF4-FFF2-40B4-BE49-F238E27FC236}">
                <a16:creationId xmlns:a16="http://schemas.microsoft.com/office/drawing/2014/main" id="{66E5B09B-20EC-16BB-9772-B4CDEEEB6D12}"/>
              </a:ext>
            </a:extLst>
          </p:cNvPr>
          <p:cNvSpPr txBox="1"/>
          <p:nvPr/>
        </p:nvSpPr>
        <p:spPr>
          <a:xfrm>
            <a:off x="838200" y="1600200"/>
            <a:ext cx="1244600" cy="41549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2100" b="1">
                <a:solidFill>
                  <a:srgbClr val="111827"/>
                </a:solidFill>
                <a:latin typeface="Microsoft YaHei" panose="020B0503020204020204" pitchFamily="34" charset="-122"/>
              </a:rPr>
              <a:t>产品层</a:t>
            </a:r>
          </a:p>
        </p:txBody>
      </p:sp>
      <p:sp>
        <p:nvSpPr>
          <p:cNvPr id="9" name="label-product-desc">
            <a:extLst>
              <a:ext uri="{FF2B5EF4-FFF2-40B4-BE49-F238E27FC236}">
                <a16:creationId xmlns:a16="http://schemas.microsoft.com/office/drawing/2014/main" id="{C226B337-7E0B-B652-73A3-00B859CFA192}"/>
              </a:ext>
            </a:extLst>
          </p:cNvPr>
          <p:cNvSpPr txBox="1"/>
          <p:nvPr/>
        </p:nvSpPr>
        <p:spPr>
          <a:xfrm>
            <a:off x="838200" y="20015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需求总入口</a:t>
            </a:r>
          </a:p>
        </p:txBody>
      </p:sp>
      <p:sp>
        <p:nvSpPr>
          <p:cNvPr id="10" name="label-bar-feature">
            <a:extLst>
              <a:ext uri="{FF2B5EF4-FFF2-40B4-BE49-F238E27FC236}">
                <a16:creationId xmlns:a16="http://schemas.microsoft.com/office/drawing/2014/main" id="{1A8F591C-9710-CD9B-86A1-6F3E9D165401}"/>
              </a:ext>
            </a:extLst>
          </p:cNvPr>
          <p:cNvSpPr/>
          <p:nvPr/>
        </p:nvSpPr>
        <p:spPr>
          <a:xfrm>
            <a:off x="635000" y="3251200"/>
            <a:ext cx="63500" cy="533400"/>
          </a:xfrm>
          <a:prstGeom prst="rect">
            <a:avLst/>
          </a:prstGeom>
          <a:solidFill>
            <a:srgbClr val="6DCB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abel-feature">
            <a:extLst>
              <a:ext uri="{FF2B5EF4-FFF2-40B4-BE49-F238E27FC236}">
                <a16:creationId xmlns:a16="http://schemas.microsoft.com/office/drawing/2014/main" id="{4ABD531A-4D6C-D659-DAFA-3918B180BF12}"/>
              </a:ext>
            </a:extLst>
          </p:cNvPr>
          <p:cNvSpPr txBox="1"/>
          <p:nvPr/>
        </p:nvSpPr>
        <p:spPr>
          <a:xfrm>
            <a:off x="838200" y="3187700"/>
            <a:ext cx="1244600" cy="41549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2100" b="1">
                <a:solidFill>
                  <a:srgbClr val="111827"/>
                </a:solidFill>
                <a:latin typeface="Microsoft YaHei" panose="020B0503020204020204" pitchFamily="34" charset="-122"/>
              </a:rPr>
              <a:t>特性层</a:t>
            </a:r>
          </a:p>
        </p:txBody>
      </p:sp>
      <p:sp>
        <p:nvSpPr>
          <p:cNvPr id="12" name="label-feature-desc">
            <a:extLst>
              <a:ext uri="{FF2B5EF4-FFF2-40B4-BE49-F238E27FC236}">
                <a16:creationId xmlns:a16="http://schemas.microsoft.com/office/drawing/2014/main" id="{02917007-D14F-407E-C81C-17BECCDBD3D1}"/>
              </a:ext>
            </a:extLst>
          </p:cNvPr>
          <p:cNvSpPr txBox="1"/>
          <p:nvPr/>
        </p:nvSpPr>
        <p:spPr>
          <a:xfrm>
            <a:off x="838200" y="36144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 → </a:t>
            </a:r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</a:t>
            </a:r>
          </a:p>
        </p:txBody>
      </p:sp>
      <p:sp>
        <p:nvSpPr>
          <p:cNvPr id="13" name="label-bar-catalog">
            <a:extLst>
              <a:ext uri="{FF2B5EF4-FFF2-40B4-BE49-F238E27FC236}">
                <a16:creationId xmlns:a16="http://schemas.microsoft.com/office/drawing/2014/main" id="{03E8D73C-3CE8-97A0-41FF-BFBE425BC497}"/>
              </a:ext>
            </a:extLst>
          </p:cNvPr>
          <p:cNvSpPr/>
          <p:nvPr/>
        </p:nvSpPr>
        <p:spPr>
          <a:xfrm>
            <a:off x="635000" y="5143500"/>
            <a:ext cx="63500" cy="533400"/>
          </a:xfrm>
          <a:prstGeom prst="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abel-catalog">
            <a:extLst>
              <a:ext uri="{FF2B5EF4-FFF2-40B4-BE49-F238E27FC236}">
                <a16:creationId xmlns:a16="http://schemas.microsoft.com/office/drawing/2014/main" id="{CA74E782-784F-D435-94A3-B203EDB35449}"/>
              </a:ext>
            </a:extLst>
          </p:cNvPr>
          <p:cNvSpPr txBox="1"/>
          <p:nvPr/>
        </p:nvSpPr>
        <p:spPr>
          <a:xfrm>
            <a:off x="838200" y="4978400"/>
            <a:ext cx="1244600" cy="646331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用例目录
层</a:t>
            </a:r>
          </a:p>
        </p:txBody>
      </p:sp>
      <p:sp>
        <p:nvSpPr>
          <p:cNvPr id="15" name="label-catalog-desc">
            <a:extLst>
              <a:ext uri="{FF2B5EF4-FFF2-40B4-BE49-F238E27FC236}">
                <a16:creationId xmlns:a16="http://schemas.microsoft.com/office/drawing/2014/main" id="{BAFAF0DC-B602-5273-C7AF-98948B28364C}"/>
              </a:ext>
            </a:extLst>
          </p:cNvPr>
          <p:cNvSpPr txBox="1"/>
          <p:nvPr/>
        </p:nvSpPr>
        <p:spPr>
          <a:xfrm>
            <a:off x="838200" y="56718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 → </a:t>
            </a:r>
            <a:r>
              <a:rPr lang="en-US" altLang="zh-CN" sz="1200">
                <a:solidFill>
                  <a:srgbClr val="6B7280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级</a:t>
            </a:r>
          </a:p>
        </p:txBody>
      </p:sp>
      <p:cxnSp>
        <p:nvCxnSpPr>
          <p:cNvPr id="16" name="arrow-product-feature1">
            <a:extLst>
              <a:ext uri="{FF2B5EF4-FFF2-40B4-BE49-F238E27FC236}">
                <a16:creationId xmlns:a16="http://schemas.microsoft.com/office/drawing/2014/main" id="{21508B39-2605-17B1-5889-635B6F1CEA05}"/>
              </a:ext>
            </a:extLst>
          </p:cNvPr>
          <p:cNvCxnSpPr/>
          <p:nvPr/>
        </p:nvCxnSpPr>
        <p:spPr>
          <a:xfrm flipH="1">
            <a:off x="3492500" y="2362200"/>
            <a:ext cx="3492500" cy="660400"/>
          </a:xfrm>
          <a:prstGeom prst="straightConnector1">
            <a:avLst/>
          </a:prstGeom>
          <a:ln w="22860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arrow-feature1-feature2">
            <a:extLst>
              <a:ext uri="{FF2B5EF4-FFF2-40B4-BE49-F238E27FC236}">
                <a16:creationId xmlns:a16="http://schemas.microsoft.com/office/drawing/2014/main" id="{98E3690C-FFD0-2153-8D78-B0914E022544}"/>
              </a:ext>
            </a:extLst>
          </p:cNvPr>
          <p:cNvCxnSpPr/>
          <p:nvPr/>
        </p:nvCxnSpPr>
        <p:spPr>
          <a:xfrm>
            <a:off x="4635500" y="3479800"/>
            <a:ext cx="825500" cy="0"/>
          </a:xfrm>
          <a:prstGeom prst="straightConnector1">
            <a:avLst/>
          </a:prstGeom>
          <a:ln w="22860">
            <a:solidFill>
              <a:srgbClr val="3D8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rrow-feature2-feature3">
            <a:extLst>
              <a:ext uri="{FF2B5EF4-FFF2-40B4-BE49-F238E27FC236}">
                <a16:creationId xmlns:a16="http://schemas.microsoft.com/office/drawing/2014/main" id="{0BCFA23F-7F25-8569-33C4-63B4FE632E2D}"/>
              </a:ext>
            </a:extLst>
          </p:cNvPr>
          <p:cNvCxnSpPr/>
          <p:nvPr/>
        </p:nvCxnSpPr>
        <p:spPr>
          <a:xfrm>
            <a:off x="7747000" y="3479800"/>
            <a:ext cx="825500" cy="0"/>
          </a:xfrm>
          <a:prstGeom prst="straightConnector1">
            <a:avLst/>
          </a:prstGeom>
          <a:ln w="22860">
            <a:solidFill>
              <a:srgbClr val="3D8D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rrow-feature1-catalog1">
            <a:extLst>
              <a:ext uri="{FF2B5EF4-FFF2-40B4-BE49-F238E27FC236}">
                <a16:creationId xmlns:a16="http://schemas.microsoft.com/office/drawing/2014/main" id="{81701C50-D13E-11E8-CADB-C42FA7A2F7E3}"/>
              </a:ext>
            </a:extLst>
          </p:cNvPr>
          <p:cNvCxnSpPr/>
          <p:nvPr/>
        </p:nvCxnSpPr>
        <p:spPr>
          <a:xfrm>
            <a:off x="3492500" y="3937000"/>
            <a:ext cx="0" cy="965200"/>
          </a:xfrm>
          <a:prstGeom prst="straightConnector1">
            <a:avLst/>
          </a:prstGeom>
          <a:ln w="20320">
            <a:solidFill>
              <a:srgbClr val="7C87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rrow-feature2-catalog2">
            <a:extLst>
              <a:ext uri="{FF2B5EF4-FFF2-40B4-BE49-F238E27FC236}">
                <a16:creationId xmlns:a16="http://schemas.microsoft.com/office/drawing/2014/main" id="{880126A4-CFEF-44DD-3626-8F131E093EF8}"/>
              </a:ext>
            </a:extLst>
          </p:cNvPr>
          <p:cNvCxnSpPr/>
          <p:nvPr/>
        </p:nvCxnSpPr>
        <p:spPr>
          <a:xfrm>
            <a:off x="6604000" y="3937000"/>
            <a:ext cx="0" cy="965200"/>
          </a:xfrm>
          <a:prstGeom prst="straightConnector1">
            <a:avLst/>
          </a:prstGeom>
          <a:ln w="20320">
            <a:solidFill>
              <a:srgbClr val="7C87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rrow-feature3-catalog3">
            <a:extLst>
              <a:ext uri="{FF2B5EF4-FFF2-40B4-BE49-F238E27FC236}">
                <a16:creationId xmlns:a16="http://schemas.microsoft.com/office/drawing/2014/main" id="{E8F29D90-D50F-F5F5-546D-3FFF9B27285C}"/>
              </a:ext>
            </a:extLst>
          </p:cNvPr>
          <p:cNvCxnSpPr/>
          <p:nvPr/>
        </p:nvCxnSpPr>
        <p:spPr>
          <a:xfrm>
            <a:off x="9715500" y="3937000"/>
            <a:ext cx="0" cy="965200"/>
          </a:xfrm>
          <a:prstGeom prst="straightConnector1">
            <a:avLst/>
          </a:prstGeom>
          <a:ln w="20320">
            <a:solidFill>
              <a:srgbClr val="7C87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rrow-catalog1-catalog2">
            <a:extLst>
              <a:ext uri="{FF2B5EF4-FFF2-40B4-BE49-F238E27FC236}">
                <a16:creationId xmlns:a16="http://schemas.microsoft.com/office/drawing/2014/main" id="{C0D83E80-51B3-782A-9E0C-407DB7839A87}"/>
              </a:ext>
            </a:extLst>
          </p:cNvPr>
          <p:cNvCxnSpPr/>
          <p:nvPr/>
        </p:nvCxnSpPr>
        <p:spPr>
          <a:xfrm>
            <a:off x="4635500" y="5397500"/>
            <a:ext cx="825500" cy="0"/>
          </a:xfrm>
          <a:prstGeom prst="straightConnector1">
            <a:avLst/>
          </a:prstGeom>
          <a:ln w="20320">
            <a:solidFill>
              <a:srgbClr val="9CA3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rrow-catalog2-catalog3">
            <a:extLst>
              <a:ext uri="{FF2B5EF4-FFF2-40B4-BE49-F238E27FC236}">
                <a16:creationId xmlns:a16="http://schemas.microsoft.com/office/drawing/2014/main" id="{9442EEBA-944A-BEF3-D149-08481DB8474C}"/>
              </a:ext>
            </a:extLst>
          </p:cNvPr>
          <p:cNvCxnSpPr/>
          <p:nvPr/>
        </p:nvCxnSpPr>
        <p:spPr>
          <a:xfrm>
            <a:off x="7747000" y="5397500"/>
            <a:ext cx="825500" cy="0"/>
          </a:xfrm>
          <a:prstGeom prst="straightConnector1">
            <a:avLst/>
          </a:prstGeom>
          <a:ln w="20320">
            <a:solidFill>
              <a:srgbClr val="9CA3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node-product">
            <a:extLst>
              <a:ext uri="{FF2B5EF4-FFF2-40B4-BE49-F238E27FC236}">
                <a16:creationId xmlns:a16="http://schemas.microsoft.com/office/drawing/2014/main" id="{886C2945-1F00-3018-86A7-BBD8ECE1446D}"/>
              </a:ext>
            </a:extLst>
          </p:cNvPr>
          <p:cNvSpPr/>
          <p:nvPr/>
        </p:nvSpPr>
        <p:spPr>
          <a:xfrm>
            <a:off x="4254500" y="1524000"/>
            <a:ext cx="5461000" cy="8382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目标产品
产品需求 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规格基线</a:t>
            </a:r>
          </a:p>
        </p:txBody>
      </p:sp>
      <p:sp>
        <p:nvSpPr>
          <p:cNvPr id="25" name="node-feature-1">
            <a:extLst>
              <a:ext uri="{FF2B5EF4-FFF2-40B4-BE49-F238E27FC236}">
                <a16:creationId xmlns:a16="http://schemas.microsoft.com/office/drawing/2014/main" id="{DFDF1BE1-F69E-9602-B01D-A599D4E832D2}"/>
              </a:ext>
            </a:extLst>
          </p:cNvPr>
          <p:cNvSpPr/>
          <p:nvPr/>
        </p:nvSpPr>
        <p:spPr>
          <a:xfrm>
            <a:off x="2349500" y="3022600"/>
            <a:ext cx="2286000" cy="914400"/>
          </a:xfrm>
          <a:prstGeom prst="roundRect">
            <a:avLst/>
          </a:prstGeom>
          <a:solidFill>
            <a:srgbClr val="D9EFFB"/>
          </a:solidFill>
          <a:ln w="19050">
            <a:solidFill>
              <a:srgbClr val="6DCB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级特性
特性域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业务能力</a:t>
            </a:r>
          </a:p>
        </p:txBody>
      </p:sp>
      <p:sp>
        <p:nvSpPr>
          <p:cNvPr id="26" name="node-feature-2">
            <a:extLst>
              <a:ext uri="{FF2B5EF4-FFF2-40B4-BE49-F238E27FC236}">
                <a16:creationId xmlns:a16="http://schemas.microsoft.com/office/drawing/2014/main" id="{CDED7E3C-A82C-8CF9-0C87-ADF18FA6BF69}"/>
              </a:ext>
            </a:extLst>
          </p:cNvPr>
          <p:cNvSpPr/>
          <p:nvPr/>
        </p:nvSpPr>
        <p:spPr>
          <a:xfrm>
            <a:off x="5461000" y="3022600"/>
            <a:ext cx="2286000" cy="914400"/>
          </a:xfrm>
          <a:prstGeom prst="roundRect">
            <a:avLst/>
          </a:prstGeom>
          <a:solidFill>
            <a:srgbClr val="C5E7F7"/>
          </a:solidFill>
          <a:ln w="19050">
            <a:solidFill>
              <a:srgbClr val="4FB2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级特性
功能模块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子特性</a:t>
            </a:r>
          </a:p>
        </p:txBody>
      </p:sp>
      <p:sp>
        <p:nvSpPr>
          <p:cNvPr id="27" name="node-feature-3">
            <a:extLst>
              <a:ext uri="{FF2B5EF4-FFF2-40B4-BE49-F238E27FC236}">
                <a16:creationId xmlns:a16="http://schemas.microsoft.com/office/drawing/2014/main" id="{C8D1541E-8CE8-9DEE-FC3A-8B92F003F7C4}"/>
              </a:ext>
            </a:extLst>
          </p:cNvPr>
          <p:cNvSpPr/>
          <p:nvPr/>
        </p:nvSpPr>
        <p:spPr>
          <a:xfrm>
            <a:off x="8572500" y="3022600"/>
            <a:ext cx="2286000" cy="914400"/>
          </a:xfrm>
          <a:prstGeom prst="roundRect">
            <a:avLst/>
          </a:prstGeom>
          <a:solidFill>
            <a:srgbClr val="B1DCF4"/>
          </a:solidFill>
          <a:ln w="19050">
            <a:solidFill>
              <a:srgbClr val="3D8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级特性
可验证特性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判据</a:t>
            </a:r>
          </a:p>
        </p:txBody>
      </p:sp>
      <p:sp>
        <p:nvSpPr>
          <p:cNvPr id="28" name="node-catalog-1">
            <a:extLst>
              <a:ext uri="{FF2B5EF4-FFF2-40B4-BE49-F238E27FC236}">
                <a16:creationId xmlns:a16="http://schemas.microsoft.com/office/drawing/2014/main" id="{5F0EE24C-F02D-DD5F-C9A6-9FFDD0829375}"/>
              </a:ext>
            </a:extLst>
          </p:cNvPr>
          <p:cNvSpPr/>
          <p:nvPr/>
        </p:nvSpPr>
        <p:spPr>
          <a:xfrm>
            <a:off x="2349500" y="49022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级用例目录
产品 </a:t>
            </a:r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领域目录</a:t>
            </a:r>
          </a:p>
        </p:txBody>
      </p:sp>
      <p:sp>
        <p:nvSpPr>
          <p:cNvPr id="29" name="node-catalog-1-accent">
            <a:extLst>
              <a:ext uri="{FF2B5EF4-FFF2-40B4-BE49-F238E27FC236}">
                <a16:creationId xmlns:a16="http://schemas.microsoft.com/office/drawing/2014/main" id="{F4E5DC45-6D83-1F38-036B-2794FD0C6FD2}"/>
              </a:ext>
            </a:extLst>
          </p:cNvPr>
          <p:cNvSpPr/>
          <p:nvPr/>
        </p:nvSpPr>
        <p:spPr>
          <a:xfrm>
            <a:off x="2603500" y="5029200"/>
            <a:ext cx="17780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node-catalog-2">
            <a:extLst>
              <a:ext uri="{FF2B5EF4-FFF2-40B4-BE49-F238E27FC236}">
                <a16:creationId xmlns:a16="http://schemas.microsoft.com/office/drawing/2014/main" id="{7A4BF840-358B-F43E-575C-64A61F22380A}"/>
              </a:ext>
            </a:extLst>
          </p:cNvPr>
          <p:cNvSpPr/>
          <p:nvPr/>
        </p:nvSpPr>
        <p:spPr>
          <a:xfrm>
            <a:off x="5461000" y="49022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级用例目录
特性分类目录</a:t>
            </a:r>
          </a:p>
        </p:txBody>
      </p:sp>
      <p:sp>
        <p:nvSpPr>
          <p:cNvPr id="31" name="node-catalog-2-accent">
            <a:extLst>
              <a:ext uri="{FF2B5EF4-FFF2-40B4-BE49-F238E27FC236}">
                <a16:creationId xmlns:a16="http://schemas.microsoft.com/office/drawing/2014/main" id="{EB16FDA0-A4B4-35CB-AD36-9B8E7DB009C9}"/>
              </a:ext>
            </a:extLst>
          </p:cNvPr>
          <p:cNvSpPr/>
          <p:nvPr/>
        </p:nvSpPr>
        <p:spPr>
          <a:xfrm>
            <a:off x="5715000" y="5029200"/>
            <a:ext cx="1778000" cy="50800"/>
          </a:xfrm>
          <a:prstGeom prst="rect">
            <a:avLst/>
          </a:prstGeom>
          <a:solidFill>
            <a:srgbClr val="4FB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node-catalog-3">
            <a:extLst>
              <a:ext uri="{FF2B5EF4-FFF2-40B4-BE49-F238E27FC236}">
                <a16:creationId xmlns:a16="http://schemas.microsoft.com/office/drawing/2014/main" id="{C43DF943-F872-59B9-B58F-5A0DEE3BEA4B}"/>
              </a:ext>
            </a:extLst>
          </p:cNvPr>
          <p:cNvSpPr/>
          <p:nvPr/>
        </p:nvSpPr>
        <p:spPr>
          <a:xfrm>
            <a:off x="8572500" y="49022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b="1">
                <a:solidFill>
                  <a:srgbClr val="111827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b="1">
                <a:solidFill>
                  <a:srgbClr val="111827"/>
                </a:solidFill>
                <a:latin typeface="Microsoft YaHei" panose="020B0503020204020204" pitchFamily="34" charset="-122"/>
              </a:rPr>
              <a:t>级用例目录
执行用例集合</a:t>
            </a:r>
          </a:p>
        </p:txBody>
      </p:sp>
      <p:sp>
        <p:nvSpPr>
          <p:cNvPr id="33" name="node-catalog-3-accent">
            <a:extLst>
              <a:ext uri="{FF2B5EF4-FFF2-40B4-BE49-F238E27FC236}">
                <a16:creationId xmlns:a16="http://schemas.microsoft.com/office/drawing/2014/main" id="{F3E9D503-1613-6334-47C8-DD4C35677089}"/>
              </a:ext>
            </a:extLst>
          </p:cNvPr>
          <p:cNvSpPr/>
          <p:nvPr/>
        </p:nvSpPr>
        <p:spPr>
          <a:xfrm>
            <a:off x="8826500" y="5029200"/>
            <a:ext cx="1778000" cy="50800"/>
          </a:xfrm>
          <a:prstGeom prst="rect">
            <a:avLst/>
          </a:prstGeom>
          <a:solidFill>
            <a:srgbClr val="6DCB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ooter-note">
            <a:extLst>
              <a:ext uri="{FF2B5EF4-FFF2-40B4-BE49-F238E27FC236}">
                <a16:creationId xmlns:a16="http://schemas.microsoft.com/office/drawing/2014/main" id="{53865244-C51D-1B58-801D-E25697A0BBBB}"/>
              </a:ext>
            </a:extLst>
          </p:cNvPr>
          <p:cNvSpPr txBox="1"/>
          <p:nvPr/>
        </p:nvSpPr>
        <p:spPr>
          <a:xfrm>
            <a:off x="2095500" y="6357694"/>
            <a:ext cx="9144000" cy="29238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关系说明：特性逐级细化；每一级特性映射同层级用例目录，最终沉淀为可执行用例集合。</a:t>
            </a:r>
          </a:p>
        </p:txBody>
      </p:sp>
    </p:spTree>
    <p:extLst>
      <p:ext uri="{BB962C8B-B14F-4D97-AF65-F5344CB8AC3E}">
        <p14:creationId xmlns:p14="http://schemas.microsoft.com/office/powerpoint/2010/main" val="371627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 d</dc:creator>
  <cp:lastModifiedBy>qy d</cp:lastModifiedBy>
  <cp:revision>1</cp:revision>
  <dcterms:created xsi:type="dcterms:W3CDTF">2026-08-31T03:36:53Z</dcterms:created>
  <dcterms:modified xsi:type="dcterms:W3CDTF">2026-08-31T03:36:53Z</dcterms:modified>
</cp:coreProperties>
</file>