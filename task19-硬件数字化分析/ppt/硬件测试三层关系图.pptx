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2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EBCF2-207E-DE07-09C4-C9D520ADA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7CC6B8-9F39-6B5A-5B56-B6EDC59C3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42CDF0-9EA4-2280-E0A9-F8479576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D8F877-7086-959E-FA58-A77E28AF1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AD69C-E6FF-E3A9-4737-02C5143E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65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9C414-029B-D37D-12A3-EF7F113F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B1002-EDB2-E7C7-7AD1-F7EE73CD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613C3-9754-0BA7-E5CA-8293E5C8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B3412D-8561-59DC-836D-8214B8F3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6FE0B-8F05-C59F-864F-7CE6C003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511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BE87A-70A0-1542-6B9E-1B11A61A1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C81C4F-331F-F5A5-24D0-17BD1F52C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249CE-19E8-EA22-50F8-238C2B9B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74BD9F-332B-6883-4CB8-11BB845F7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42376E-03E1-16A2-881F-370E2D90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17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1C7CF-02D3-E530-4A48-F9BF5C5AB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661EF-8AF6-E3CD-8A22-30EE92B8B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51C550-6BF6-1E12-1E61-839C9B1CC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75CE02-F40F-3FD1-27E3-8E984A27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67AC30-D59A-E990-6E9F-4EF724DC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0DA6DF-B1F9-5C83-74E5-811F4FC8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30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74F25-C7A5-0AC3-2839-9B319F4C7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C2BC31-6CD9-6FCE-D492-1E36022EE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24C649-76BC-B5E6-B4B2-4A596FB17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BC8BE7-976E-F718-A95D-4B5ECB8EA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046D52-1216-4D8C-7A1C-340994BBB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EDFAA4-FD4E-4B62-60BE-095630F7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EA4195-F5D0-6FAE-DB3E-FB45EABC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C64EF1-FC66-0077-BD89-7D67E929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3DC01-3297-F18E-DBA5-E3166C54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7AA384-3837-36A8-23C4-8698C78B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9E3FDF-444D-A0DD-ADFE-C98D37F56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14984C-3CF8-A66E-B20B-76635CB5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65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5DDF39-3B56-C12B-BD6C-9CC1ADF7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33C16A-C9FE-EEC7-C078-5E26FCA2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B130A1-4C9D-41DF-ECD3-F9D674BE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76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23655-60F3-28F3-816B-ECA7B2EA9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E0F19A-7307-0205-7055-5EDC073D0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B275CA-3F20-9582-75F5-D02BB4C56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2D0098-FDE8-1FB1-05A3-896946C0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49684E-B610-E3FE-BD72-600C3E94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1DEA3C-3FF6-0428-0408-BCBFF64E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38C4E-93E4-833B-E9E2-49459C5FF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ABB336-BC2A-A74F-24DD-3E3AE8BE0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288500-F15C-72A9-2014-83AF59D4C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76F55C-B41A-3B39-1DF9-88E4D123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5875A9-A78F-683D-0E5B-55631570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3CAE01-BFAF-E956-0B7B-8A5E41DA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2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5E69C-30A9-EB8B-E67D-BD787263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5AE1FB-B7F2-87C6-CF7D-9E914855D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70ECE-3B64-51A6-B4FD-7CF8EC5E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A69836-60D2-44C8-B154-3DCABB7E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21F44-EB28-0B94-35A9-F909414F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41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F9F44E-4358-6E67-DB58-270F5918E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EAD9FE-91A2-FFB0-42C5-2CCFD135A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BF9C3D-015F-A00C-C972-DA8217A8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E7E231-EB76-2B12-D3E6-292D45B16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D90FA-B007-7915-F365-8CF56F63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7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227B12-1A3D-051B-D82D-4600FA43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68E662-0472-1C36-5EE3-1362D7A4E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85624-980C-E705-A552-321D98DF6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7BC02-C834-4BFF-ACA0-6E9E566E7412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BF59C-5F32-CEC5-CC93-58FA6C2EF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D44942-E9CE-FF5F-6EAF-9514282B7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3011A-DA41-40C6-AE2B-5A408F1F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86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-product">
            <a:extLst>
              <a:ext uri="{FF2B5EF4-FFF2-40B4-BE49-F238E27FC236}">
                <a16:creationId xmlns:a16="http://schemas.microsoft.com/office/drawing/2014/main" id="{4C227C19-DAB5-DD2D-B6CB-72263FAEEE8E}"/>
              </a:ext>
            </a:extLst>
          </p:cNvPr>
          <p:cNvSpPr/>
          <p:nvPr/>
        </p:nvSpPr>
        <p:spPr>
          <a:xfrm>
            <a:off x="406400" y="1371600"/>
            <a:ext cx="11379200" cy="1244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band-cbb">
            <a:extLst>
              <a:ext uri="{FF2B5EF4-FFF2-40B4-BE49-F238E27FC236}">
                <a16:creationId xmlns:a16="http://schemas.microsoft.com/office/drawing/2014/main" id="{802E7EBC-6A84-DF13-4007-BB1E23BF58AA}"/>
              </a:ext>
            </a:extLst>
          </p:cNvPr>
          <p:cNvSpPr/>
          <p:nvPr/>
        </p:nvSpPr>
        <p:spPr>
          <a:xfrm>
            <a:off x="406400" y="2819400"/>
            <a:ext cx="11379200" cy="1752600"/>
          </a:xfrm>
          <a:prstGeom prst="rect">
            <a:avLst/>
          </a:prstGeom>
          <a:solidFill>
            <a:srgbClr val="F3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band-device">
            <a:extLst>
              <a:ext uri="{FF2B5EF4-FFF2-40B4-BE49-F238E27FC236}">
                <a16:creationId xmlns:a16="http://schemas.microsoft.com/office/drawing/2014/main" id="{0027EFB5-1271-CFC9-2DEE-BD035A9BDC90}"/>
              </a:ext>
            </a:extLst>
          </p:cNvPr>
          <p:cNvSpPr/>
          <p:nvPr/>
        </p:nvSpPr>
        <p:spPr>
          <a:xfrm>
            <a:off x="406400" y="4775200"/>
            <a:ext cx="11379200" cy="1422400"/>
          </a:xfrm>
          <a:prstGeom prst="rect">
            <a:avLst/>
          </a:prstGeom>
          <a:solidFill>
            <a:srgbClr val="F7F7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CE6957C4-9610-EFCD-E00C-4CE97A9DA07D}"/>
              </a:ext>
            </a:extLst>
          </p:cNvPr>
          <p:cNvSpPr txBox="1"/>
          <p:nvPr/>
        </p:nvSpPr>
        <p:spPr>
          <a:xfrm>
            <a:off x="635000" y="304800"/>
            <a:ext cx="10922000" cy="646331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3600" b="1">
                <a:solidFill>
                  <a:srgbClr val="111827"/>
                </a:solidFill>
                <a:latin typeface="Microsoft YaHei" panose="020B0503020204020204" pitchFamily="34" charset="-122"/>
              </a:rPr>
              <a:t>硬件测试对象三层关系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1146EA63-270D-18B7-0768-8686AF60AF5D}"/>
              </a:ext>
            </a:extLst>
          </p:cNvPr>
          <p:cNvSpPr txBox="1"/>
          <p:nvPr/>
        </p:nvSpPr>
        <p:spPr>
          <a:xfrm>
            <a:off x="635000" y="896694"/>
            <a:ext cx="10922000" cy="338554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700">
                <a:solidFill>
                  <a:srgbClr val="4B5563"/>
                </a:solidFill>
                <a:latin typeface="Microsoft YaHei" panose="020B0503020204020204" pitchFamily="34" charset="-122"/>
              </a:rPr>
              <a:t>产品需求由 </a:t>
            </a:r>
            <a:r>
              <a:rPr lang="en-US" altLang="zh-CN" sz="1700">
                <a:solidFill>
                  <a:srgbClr val="4B5563"/>
                </a:solidFill>
                <a:latin typeface="Microsoft YaHei" panose="020B0503020204020204" pitchFamily="34" charset="-122"/>
              </a:rPr>
              <a:t>CBB </a:t>
            </a:r>
            <a:r>
              <a:rPr lang="zh-CN" altLang="en-US" sz="1700">
                <a:solidFill>
                  <a:srgbClr val="4B5563"/>
                </a:solidFill>
                <a:latin typeface="Microsoft YaHei" panose="020B0503020204020204" pitchFamily="34" charset="-122"/>
              </a:rPr>
              <a:t>特性承接，并进一步分解为器件级可执行用例</a:t>
            </a:r>
          </a:p>
        </p:txBody>
      </p:sp>
      <p:sp>
        <p:nvSpPr>
          <p:cNvPr id="7" name="label-bar-product">
            <a:extLst>
              <a:ext uri="{FF2B5EF4-FFF2-40B4-BE49-F238E27FC236}">
                <a16:creationId xmlns:a16="http://schemas.microsoft.com/office/drawing/2014/main" id="{316CEECD-7398-276D-04C5-4F8F5CD4192A}"/>
              </a:ext>
            </a:extLst>
          </p:cNvPr>
          <p:cNvSpPr/>
          <p:nvPr/>
        </p:nvSpPr>
        <p:spPr>
          <a:xfrm>
            <a:off x="635000" y="1701800"/>
            <a:ext cx="63500" cy="5334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abel-product">
            <a:extLst>
              <a:ext uri="{FF2B5EF4-FFF2-40B4-BE49-F238E27FC236}">
                <a16:creationId xmlns:a16="http://schemas.microsoft.com/office/drawing/2014/main" id="{CD54A6F2-C9FF-5FBE-9A44-265D0BB1D006}"/>
              </a:ext>
            </a:extLst>
          </p:cNvPr>
          <p:cNvSpPr txBox="1"/>
          <p:nvPr/>
        </p:nvSpPr>
        <p:spPr>
          <a:xfrm>
            <a:off x="838200" y="1625600"/>
            <a:ext cx="1168400" cy="41549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2100" b="1">
                <a:solidFill>
                  <a:srgbClr val="111827"/>
                </a:solidFill>
                <a:latin typeface="Microsoft YaHei" panose="020B0503020204020204" pitchFamily="34" charset="-122"/>
              </a:rPr>
              <a:t>产品层</a:t>
            </a:r>
          </a:p>
        </p:txBody>
      </p:sp>
      <p:sp>
        <p:nvSpPr>
          <p:cNvPr id="9" name="label-product-desc">
            <a:extLst>
              <a:ext uri="{FF2B5EF4-FFF2-40B4-BE49-F238E27FC236}">
                <a16:creationId xmlns:a16="http://schemas.microsoft.com/office/drawing/2014/main" id="{46043FCA-4264-07F0-59F8-7EC7C967F8FB}"/>
              </a:ext>
            </a:extLst>
          </p:cNvPr>
          <p:cNvSpPr txBox="1"/>
          <p:nvPr/>
        </p:nvSpPr>
        <p:spPr>
          <a:xfrm>
            <a:off x="838200" y="2026994"/>
            <a:ext cx="11684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需求与规格</a:t>
            </a:r>
          </a:p>
        </p:txBody>
      </p:sp>
      <p:sp>
        <p:nvSpPr>
          <p:cNvPr id="10" name="label-bar-cbb">
            <a:extLst>
              <a:ext uri="{FF2B5EF4-FFF2-40B4-BE49-F238E27FC236}">
                <a16:creationId xmlns:a16="http://schemas.microsoft.com/office/drawing/2014/main" id="{E7048D6D-5B1A-BB0E-F0D6-216DAA20FC69}"/>
              </a:ext>
            </a:extLst>
          </p:cNvPr>
          <p:cNvSpPr/>
          <p:nvPr/>
        </p:nvSpPr>
        <p:spPr>
          <a:xfrm>
            <a:off x="635000" y="3352800"/>
            <a:ext cx="63500" cy="533400"/>
          </a:xfrm>
          <a:prstGeom prst="rect">
            <a:avLst/>
          </a:prstGeom>
          <a:solidFill>
            <a:srgbClr val="6DCB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abel-cbb">
            <a:extLst>
              <a:ext uri="{FF2B5EF4-FFF2-40B4-BE49-F238E27FC236}">
                <a16:creationId xmlns:a16="http://schemas.microsoft.com/office/drawing/2014/main" id="{0C6C187A-AF4F-DE17-6948-20ED52AD2D65}"/>
              </a:ext>
            </a:extLst>
          </p:cNvPr>
          <p:cNvSpPr txBox="1"/>
          <p:nvPr/>
        </p:nvSpPr>
        <p:spPr>
          <a:xfrm>
            <a:off x="838200" y="3200400"/>
            <a:ext cx="1244600" cy="584775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CBB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（特性）
层</a:t>
            </a:r>
          </a:p>
        </p:txBody>
      </p:sp>
      <p:sp>
        <p:nvSpPr>
          <p:cNvPr id="12" name="label-cbb-desc">
            <a:extLst>
              <a:ext uri="{FF2B5EF4-FFF2-40B4-BE49-F238E27FC236}">
                <a16:creationId xmlns:a16="http://schemas.microsoft.com/office/drawing/2014/main" id="{EC47CD0E-11C8-1DC6-6C76-E778BB72D20C}"/>
              </a:ext>
            </a:extLst>
          </p:cNvPr>
          <p:cNvSpPr txBox="1"/>
          <p:nvPr/>
        </p:nvSpPr>
        <p:spPr>
          <a:xfrm>
            <a:off x="838200" y="38430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功能与判据</a:t>
            </a:r>
          </a:p>
        </p:txBody>
      </p:sp>
      <p:sp>
        <p:nvSpPr>
          <p:cNvPr id="13" name="label-bar-device">
            <a:extLst>
              <a:ext uri="{FF2B5EF4-FFF2-40B4-BE49-F238E27FC236}">
                <a16:creationId xmlns:a16="http://schemas.microsoft.com/office/drawing/2014/main" id="{E32F3143-59EE-2FA7-3D64-47ECF979FCAB}"/>
              </a:ext>
            </a:extLst>
          </p:cNvPr>
          <p:cNvSpPr/>
          <p:nvPr/>
        </p:nvSpPr>
        <p:spPr>
          <a:xfrm>
            <a:off x="635000" y="5194300"/>
            <a:ext cx="63500" cy="533400"/>
          </a:xfrm>
          <a:prstGeom prst="rect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abel-device">
            <a:extLst>
              <a:ext uri="{FF2B5EF4-FFF2-40B4-BE49-F238E27FC236}">
                <a16:creationId xmlns:a16="http://schemas.microsoft.com/office/drawing/2014/main" id="{7584A023-7570-F08E-900F-3E1D2628DA1E}"/>
              </a:ext>
            </a:extLst>
          </p:cNvPr>
          <p:cNvSpPr txBox="1"/>
          <p:nvPr/>
        </p:nvSpPr>
        <p:spPr>
          <a:xfrm>
            <a:off x="838200" y="5041900"/>
            <a:ext cx="1244600" cy="584775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器件
（用例）层</a:t>
            </a:r>
          </a:p>
        </p:txBody>
      </p:sp>
      <p:sp>
        <p:nvSpPr>
          <p:cNvPr id="15" name="label-device-desc">
            <a:extLst>
              <a:ext uri="{FF2B5EF4-FFF2-40B4-BE49-F238E27FC236}">
                <a16:creationId xmlns:a16="http://schemas.microsoft.com/office/drawing/2014/main" id="{9D581CCF-D163-D9BB-D57F-3123496B13D2}"/>
              </a:ext>
            </a:extLst>
          </p:cNvPr>
          <p:cNvSpPr txBox="1"/>
          <p:nvPr/>
        </p:nvSpPr>
        <p:spPr>
          <a:xfrm>
            <a:off x="838200" y="5697294"/>
            <a:ext cx="1244600" cy="261610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r>
              <a:rPr lang="zh-CN" altLang="en-US" sz="1200">
                <a:solidFill>
                  <a:srgbClr val="6B7280"/>
                </a:solidFill>
                <a:latin typeface="Microsoft YaHei" panose="020B0503020204020204" pitchFamily="34" charset="-122"/>
              </a:rPr>
              <a:t>执行与证据</a:t>
            </a:r>
          </a:p>
        </p:txBody>
      </p:sp>
      <p:cxnSp>
        <p:nvCxnSpPr>
          <p:cNvPr id="16" name="arrow-product-cbb-a">
            <a:extLst>
              <a:ext uri="{FF2B5EF4-FFF2-40B4-BE49-F238E27FC236}">
                <a16:creationId xmlns:a16="http://schemas.microsoft.com/office/drawing/2014/main" id="{4E81DD62-5C19-76CA-1759-AB7D6337D88F}"/>
              </a:ext>
            </a:extLst>
          </p:cNvPr>
          <p:cNvCxnSpPr/>
          <p:nvPr/>
        </p:nvCxnSpPr>
        <p:spPr>
          <a:xfrm flipH="1">
            <a:off x="3111500" y="2387600"/>
            <a:ext cx="3683000" cy="8128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arrow-product-cbb-b">
            <a:extLst>
              <a:ext uri="{FF2B5EF4-FFF2-40B4-BE49-F238E27FC236}">
                <a16:creationId xmlns:a16="http://schemas.microsoft.com/office/drawing/2014/main" id="{53B9F901-28B5-6C0E-3B5D-8587B5513EE2}"/>
              </a:ext>
            </a:extLst>
          </p:cNvPr>
          <p:cNvCxnSpPr/>
          <p:nvPr/>
        </p:nvCxnSpPr>
        <p:spPr>
          <a:xfrm flipH="1">
            <a:off x="6096000" y="2387600"/>
            <a:ext cx="698500" cy="8128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rrow-product-cbb-c">
            <a:extLst>
              <a:ext uri="{FF2B5EF4-FFF2-40B4-BE49-F238E27FC236}">
                <a16:creationId xmlns:a16="http://schemas.microsoft.com/office/drawing/2014/main" id="{E1A70277-43ED-A67D-65FB-6D6A48F6C315}"/>
              </a:ext>
            </a:extLst>
          </p:cNvPr>
          <p:cNvCxnSpPr/>
          <p:nvPr/>
        </p:nvCxnSpPr>
        <p:spPr>
          <a:xfrm>
            <a:off x="6794500" y="2387600"/>
            <a:ext cx="2286000" cy="8128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rrow-cbb-a-device-a1">
            <a:extLst>
              <a:ext uri="{FF2B5EF4-FFF2-40B4-BE49-F238E27FC236}">
                <a16:creationId xmlns:a16="http://schemas.microsoft.com/office/drawing/2014/main" id="{AEF990EF-CFF6-1D54-0A65-B56859AF11D4}"/>
              </a:ext>
            </a:extLst>
          </p:cNvPr>
          <p:cNvCxnSpPr/>
          <p:nvPr/>
        </p:nvCxnSpPr>
        <p:spPr>
          <a:xfrm flipH="1">
            <a:off x="2794000" y="4089400"/>
            <a:ext cx="317500" cy="9652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rrow-cbb-a-device-a2">
            <a:extLst>
              <a:ext uri="{FF2B5EF4-FFF2-40B4-BE49-F238E27FC236}">
                <a16:creationId xmlns:a16="http://schemas.microsoft.com/office/drawing/2014/main" id="{4B1AE3D5-7482-A96D-2EFC-F22FC966C5A2}"/>
              </a:ext>
            </a:extLst>
          </p:cNvPr>
          <p:cNvCxnSpPr/>
          <p:nvPr/>
        </p:nvCxnSpPr>
        <p:spPr>
          <a:xfrm>
            <a:off x="3111500" y="4089400"/>
            <a:ext cx="1270000" cy="9652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rrow-cbb-b-device-b1">
            <a:extLst>
              <a:ext uri="{FF2B5EF4-FFF2-40B4-BE49-F238E27FC236}">
                <a16:creationId xmlns:a16="http://schemas.microsoft.com/office/drawing/2014/main" id="{16315CF2-B3EA-998F-DC0C-0645ABF978C8}"/>
              </a:ext>
            </a:extLst>
          </p:cNvPr>
          <p:cNvCxnSpPr/>
          <p:nvPr/>
        </p:nvCxnSpPr>
        <p:spPr>
          <a:xfrm flipH="1">
            <a:off x="5969000" y="4089400"/>
            <a:ext cx="127000" cy="9652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rrow-cbb-b-device-b2">
            <a:extLst>
              <a:ext uri="{FF2B5EF4-FFF2-40B4-BE49-F238E27FC236}">
                <a16:creationId xmlns:a16="http://schemas.microsoft.com/office/drawing/2014/main" id="{34FEB96B-FB8A-E47B-6744-F2714856C983}"/>
              </a:ext>
            </a:extLst>
          </p:cNvPr>
          <p:cNvCxnSpPr/>
          <p:nvPr/>
        </p:nvCxnSpPr>
        <p:spPr>
          <a:xfrm>
            <a:off x="6096000" y="4089400"/>
            <a:ext cx="1460500" cy="9652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rrow-cbb-c-device-c1">
            <a:extLst>
              <a:ext uri="{FF2B5EF4-FFF2-40B4-BE49-F238E27FC236}">
                <a16:creationId xmlns:a16="http://schemas.microsoft.com/office/drawing/2014/main" id="{8A95F1F7-6A27-4916-B039-D0E28EBE38DC}"/>
              </a:ext>
            </a:extLst>
          </p:cNvPr>
          <p:cNvCxnSpPr/>
          <p:nvPr/>
        </p:nvCxnSpPr>
        <p:spPr>
          <a:xfrm>
            <a:off x="9080500" y="4089400"/>
            <a:ext cx="63500" cy="9652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arrow-cbb-c-device-c2">
            <a:extLst>
              <a:ext uri="{FF2B5EF4-FFF2-40B4-BE49-F238E27FC236}">
                <a16:creationId xmlns:a16="http://schemas.microsoft.com/office/drawing/2014/main" id="{81DB06A1-92DB-1F46-2C30-F5C6214CB2F2}"/>
              </a:ext>
            </a:extLst>
          </p:cNvPr>
          <p:cNvCxnSpPr/>
          <p:nvPr/>
        </p:nvCxnSpPr>
        <p:spPr>
          <a:xfrm>
            <a:off x="9080500" y="4089400"/>
            <a:ext cx="1651000" cy="965200"/>
          </a:xfrm>
          <a:prstGeom prst="straightConnector1">
            <a:avLst/>
          </a:prstGeom>
          <a:ln w="22225">
            <a:solidFill>
              <a:srgbClr val="6B72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node-product">
            <a:extLst>
              <a:ext uri="{FF2B5EF4-FFF2-40B4-BE49-F238E27FC236}">
                <a16:creationId xmlns:a16="http://schemas.microsoft.com/office/drawing/2014/main" id="{A73B7064-FE25-146C-F838-0C8510B798CC}"/>
              </a:ext>
            </a:extLst>
          </p:cNvPr>
          <p:cNvSpPr/>
          <p:nvPr/>
        </p:nvSpPr>
        <p:spPr>
          <a:xfrm>
            <a:off x="4508500" y="1524000"/>
            <a:ext cx="4572000" cy="863600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目标产品
产品需求 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规格基线</a:t>
            </a:r>
          </a:p>
        </p:txBody>
      </p:sp>
      <p:sp>
        <p:nvSpPr>
          <p:cNvPr id="26" name="node-cbb-a">
            <a:extLst>
              <a:ext uri="{FF2B5EF4-FFF2-40B4-BE49-F238E27FC236}">
                <a16:creationId xmlns:a16="http://schemas.microsoft.com/office/drawing/2014/main" id="{43937760-DE7E-1DC6-D86A-96A003D981AD}"/>
              </a:ext>
            </a:extLst>
          </p:cNvPr>
          <p:cNvSpPr/>
          <p:nvPr/>
        </p:nvSpPr>
        <p:spPr>
          <a:xfrm>
            <a:off x="2095500" y="3200400"/>
            <a:ext cx="2032000" cy="889000"/>
          </a:xfrm>
          <a:prstGeom prst="roundRect">
            <a:avLst/>
          </a:prstGeom>
          <a:solidFill>
            <a:srgbClr val="D9EFFB"/>
          </a:solidFill>
          <a:ln w="19050">
            <a:solidFill>
              <a:srgbClr val="6DCB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CBB </a:t>
            </a:r>
            <a:r>
              <a:rPr lang="zh-CN" altLang="en-US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特性 </a:t>
            </a:r>
            <a:r>
              <a:rPr lang="en-US" altLang="zh-CN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A
</a:t>
            </a:r>
            <a:r>
              <a:rPr lang="zh-CN" altLang="en-US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功能与判定标准</a:t>
            </a:r>
          </a:p>
        </p:txBody>
      </p:sp>
      <p:sp>
        <p:nvSpPr>
          <p:cNvPr id="27" name="node-cbb-b">
            <a:extLst>
              <a:ext uri="{FF2B5EF4-FFF2-40B4-BE49-F238E27FC236}">
                <a16:creationId xmlns:a16="http://schemas.microsoft.com/office/drawing/2014/main" id="{F7EFFE82-B353-B481-F187-057BDFEA05E6}"/>
              </a:ext>
            </a:extLst>
          </p:cNvPr>
          <p:cNvSpPr/>
          <p:nvPr/>
        </p:nvSpPr>
        <p:spPr>
          <a:xfrm>
            <a:off x="5080000" y="3200400"/>
            <a:ext cx="2032000" cy="889000"/>
          </a:xfrm>
          <a:prstGeom prst="roundRect">
            <a:avLst/>
          </a:prstGeom>
          <a:solidFill>
            <a:srgbClr val="D9EFFB"/>
          </a:solidFill>
          <a:ln w="19050">
            <a:solidFill>
              <a:srgbClr val="6DCB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CBB </a:t>
            </a:r>
            <a:r>
              <a:rPr lang="zh-CN" altLang="en-US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特性 </a:t>
            </a:r>
            <a:r>
              <a:rPr lang="en-US" altLang="zh-CN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B
</a:t>
            </a:r>
            <a:r>
              <a:rPr lang="zh-CN" altLang="en-US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功能与判定标准</a:t>
            </a:r>
          </a:p>
        </p:txBody>
      </p:sp>
      <p:sp>
        <p:nvSpPr>
          <p:cNvPr id="28" name="node-cbb-c">
            <a:extLst>
              <a:ext uri="{FF2B5EF4-FFF2-40B4-BE49-F238E27FC236}">
                <a16:creationId xmlns:a16="http://schemas.microsoft.com/office/drawing/2014/main" id="{9B355F11-108C-5FAD-158F-2076ABFCD48B}"/>
              </a:ext>
            </a:extLst>
          </p:cNvPr>
          <p:cNvSpPr/>
          <p:nvPr/>
        </p:nvSpPr>
        <p:spPr>
          <a:xfrm>
            <a:off x="8064500" y="3200400"/>
            <a:ext cx="2032000" cy="889000"/>
          </a:xfrm>
          <a:prstGeom prst="roundRect">
            <a:avLst/>
          </a:prstGeom>
          <a:solidFill>
            <a:srgbClr val="D9EFFB"/>
          </a:solidFill>
          <a:ln w="19050">
            <a:solidFill>
              <a:srgbClr val="6DCB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en-US" altLang="zh-CN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CBB </a:t>
            </a:r>
            <a:r>
              <a:rPr lang="zh-CN" altLang="en-US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特性 </a:t>
            </a:r>
            <a:r>
              <a:rPr lang="en-US" altLang="zh-CN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C
</a:t>
            </a:r>
            <a:r>
              <a:rPr lang="zh-CN" altLang="en-US" sz="1900" b="1">
                <a:solidFill>
                  <a:srgbClr val="111827"/>
                </a:solidFill>
                <a:latin typeface="Microsoft YaHei" panose="020B0503020204020204" pitchFamily="34" charset="-122"/>
              </a:rPr>
              <a:t>功能与判定标准</a:t>
            </a:r>
          </a:p>
        </p:txBody>
      </p:sp>
      <p:sp>
        <p:nvSpPr>
          <p:cNvPr id="29" name="node-device-a1">
            <a:extLst>
              <a:ext uri="{FF2B5EF4-FFF2-40B4-BE49-F238E27FC236}">
                <a16:creationId xmlns:a16="http://schemas.microsoft.com/office/drawing/2014/main" id="{307311A8-C9DC-49E4-4373-79FC547CDA54}"/>
              </a:ext>
            </a:extLst>
          </p:cNvPr>
          <p:cNvSpPr/>
          <p:nvPr/>
        </p:nvSpPr>
        <p:spPr>
          <a:xfrm>
            <a:off x="2095500" y="5054600"/>
            <a:ext cx="1397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器件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用例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A1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node-device-a1-accent">
            <a:extLst>
              <a:ext uri="{FF2B5EF4-FFF2-40B4-BE49-F238E27FC236}">
                <a16:creationId xmlns:a16="http://schemas.microsoft.com/office/drawing/2014/main" id="{E5B3DF35-15DC-7A02-092E-8234355AA146}"/>
              </a:ext>
            </a:extLst>
          </p:cNvPr>
          <p:cNvSpPr/>
          <p:nvPr/>
        </p:nvSpPr>
        <p:spPr>
          <a:xfrm>
            <a:off x="2298700" y="5168900"/>
            <a:ext cx="9906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node-device-a2">
            <a:extLst>
              <a:ext uri="{FF2B5EF4-FFF2-40B4-BE49-F238E27FC236}">
                <a16:creationId xmlns:a16="http://schemas.microsoft.com/office/drawing/2014/main" id="{1579BB76-F9F1-4E2C-1C49-D322324FCA85}"/>
              </a:ext>
            </a:extLst>
          </p:cNvPr>
          <p:cNvSpPr/>
          <p:nvPr/>
        </p:nvSpPr>
        <p:spPr>
          <a:xfrm>
            <a:off x="3683000" y="5054600"/>
            <a:ext cx="1397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器件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用例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A2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node-device-a2-accent">
            <a:extLst>
              <a:ext uri="{FF2B5EF4-FFF2-40B4-BE49-F238E27FC236}">
                <a16:creationId xmlns:a16="http://schemas.microsoft.com/office/drawing/2014/main" id="{4F90866B-44BF-E662-373E-6E0347012159}"/>
              </a:ext>
            </a:extLst>
          </p:cNvPr>
          <p:cNvSpPr/>
          <p:nvPr/>
        </p:nvSpPr>
        <p:spPr>
          <a:xfrm>
            <a:off x="3886200" y="5168900"/>
            <a:ext cx="9906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node-device-b1">
            <a:extLst>
              <a:ext uri="{FF2B5EF4-FFF2-40B4-BE49-F238E27FC236}">
                <a16:creationId xmlns:a16="http://schemas.microsoft.com/office/drawing/2014/main" id="{8C5AFD0F-91FC-7187-3549-7A696B117CF6}"/>
              </a:ext>
            </a:extLst>
          </p:cNvPr>
          <p:cNvSpPr/>
          <p:nvPr/>
        </p:nvSpPr>
        <p:spPr>
          <a:xfrm>
            <a:off x="5270500" y="5054600"/>
            <a:ext cx="1397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器件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用例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B1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node-device-b1-accent">
            <a:extLst>
              <a:ext uri="{FF2B5EF4-FFF2-40B4-BE49-F238E27FC236}">
                <a16:creationId xmlns:a16="http://schemas.microsoft.com/office/drawing/2014/main" id="{045013EB-B872-E9DE-772F-5C674BB70DCF}"/>
              </a:ext>
            </a:extLst>
          </p:cNvPr>
          <p:cNvSpPr/>
          <p:nvPr/>
        </p:nvSpPr>
        <p:spPr>
          <a:xfrm>
            <a:off x="5473700" y="5168900"/>
            <a:ext cx="9906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node-device-b2">
            <a:extLst>
              <a:ext uri="{FF2B5EF4-FFF2-40B4-BE49-F238E27FC236}">
                <a16:creationId xmlns:a16="http://schemas.microsoft.com/office/drawing/2014/main" id="{FA6D158E-F4CD-29FC-7F6A-A18E2CF2927A}"/>
              </a:ext>
            </a:extLst>
          </p:cNvPr>
          <p:cNvSpPr/>
          <p:nvPr/>
        </p:nvSpPr>
        <p:spPr>
          <a:xfrm>
            <a:off x="6858000" y="5054600"/>
            <a:ext cx="1397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器件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用例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B2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node-device-b2-accent">
            <a:extLst>
              <a:ext uri="{FF2B5EF4-FFF2-40B4-BE49-F238E27FC236}">
                <a16:creationId xmlns:a16="http://schemas.microsoft.com/office/drawing/2014/main" id="{00A4FE05-089B-6D4C-A470-C1A4F1DF2EAF}"/>
              </a:ext>
            </a:extLst>
          </p:cNvPr>
          <p:cNvSpPr/>
          <p:nvPr/>
        </p:nvSpPr>
        <p:spPr>
          <a:xfrm>
            <a:off x="7061200" y="5168900"/>
            <a:ext cx="9906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node-device-c1">
            <a:extLst>
              <a:ext uri="{FF2B5EF4-FFF2-40B4-BE49-F238E27FC236}">
                <a16:creationId xmlns:a16="http://schemas.microsoft.com/office/drawing/2014/main" id="{CE288427-E9CF-ACD8-E0F8-A3B34DCB4BA1}"/>
              </a:ext>
            </a:extLst>
          </p:cNvPr>
          <p:cNvSpPr/>
          <p:nvPr/>
        </p:nvSpPr>
        <p:spPr>
          <a:xfrm>
            <a:off x="8445500" y="5054600"/>
            <a:ext cx="1397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器件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用例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C1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node-device-c1-accent">
            <a:extLst>
              <a:ext uri="{FF2B5EF4-FFF2-40B4-BE49-F238E27FC236}">
                <a16:creationId xmlns:a16="http://schemas.microsoft.com/office/drawing/2014/main" id="{BE7AFD52-3609-49E0-EE66-22DDD5B04A89}"/>
              </a:ext>
            </a:extLst>
          </p:cNvPr>
          <p:cNvSpPr/>
          <p:nvPr/>
        </p:nvSpPr>
        <p:spPr>
          <a:xfrm>
            <a:off x="8648700" y="5168900"/>
            <a:ext cx="9906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node-device-c2">
            <a:extLst>
              <a:ext uri="{FF2B5EF4-FFF2-40B4-BE49-F238E27FC236}">
                <a16:creationId xmlns:a16="http://schemas.microsoft.com/office/drawing/2014/main" id="{20B17A00-AC3F-972D-B03B-FDE7D4CEE474}"/>
              </a:ext>
            </a:extLst>
          </p:cNvPr>
          <p:cNvSpPr/>
          <p:nvPr/>
        </p:nvSpPr>
        <p:spPr>
          <a:xfrm>
            <a:off x="10033000" y="5054600"/>
            <a:ext cx="1397000" cy="863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BC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38100" rIns="101600" bIns="38100" rtlCol="0" anchor="ctr"/>
          <a:lstStyle/>
          <a:p>
            <a:pPr algn="ctr"/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器件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用例 </a:t>
            </a:r>
            <a:r>
              <a:rPr lang="en-US" altLang="zh-CN" sz="1600" b="1">
                <a:solidFill>
                  <a:srgbClr val="111827"/>
                </a:solidFill>
                <a:latin typeface="Microsoft YaHei" panose="020B0503020204020204" pitchFamily="34" charset="-122"/>
              </a:rPr>
              <a:t>C2</a:t>
            </a:r>
            <a:endParaRPr lang="zh-CN" altLang="en-US" sz="1600" b="1">
              <a:solidFill>
                <a:srgbClr val="1118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node-device-c2-accent">
            <a:extLst>
              <a:ext uri="{FF2B5EF4-FFF2-40B4-BE49-F238E27FC236}">
                <a16:creationId xmlns:a16="http://schemas.microsoft.com/office/drawing/2014/main" id="{EEC5E912-051F-09DC-88E1-30C334A6EDDF}"/>
              </a:ext>
            </a:extLst>
          </p:cNvPr>
          <p:cNvSpPr/>
          <p:nvPr/>
        </p:nvSpPr>
        <p:spPr>
          <a:xfrm>
            <a:off x="10236200" y="5168900"/>
            <a:ext cx="990600" cy="50800"/>
          </a:xfrm>
          <a:prstGeom prst="rect">
            <a:avLst/>
          </a:prstGeom>
          <a:solidFill>
            <a:srgbClr val="3D8D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ooter-note">
            <a:extLst>
              <a:ext uri="{FF2B5EF4-FFF2-40B4-BE49-F238E27FC236}">
                <a16:creationId xmlns:a16="http://schemas.microsoft.com/office/drawing/2014/main" id="{468649BB-B20C-7250-C05A-6C32B90595D6}"/>
              </a:ext>
            </a:extLst>
          </p:cNvPr>
          <p:cNvSpPr txBox="1"/>
          <p:nvPr/>
        </p:nvSpPr>
        <p:spPr>
          <a:xfrm>
            <a:off x="2095500" y="6319594"/>
            <a:ext cx="9144000" cy="292388"/>
          </a:xfrm>
          <a:prstGeom prst="rect">
            <a:avLst/>
          </a:prstGeom>
          <a:noFill/>
        </p:spPr>
        <p:txBody>
          <a:bodyPr vert="horz" wrap="square" lIns="101600" tIns="38100" rIns="101600" bIns="38100" rtlCol="0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关系说明：产品包含多个 </a:t>
            </a:r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CBB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特性；每个 </a:t>
            </a:r>
            <a:r>
              <a:rPr lang="en-US" altLang="zh-CN" sz="1400">
                <a:solidFill>
                  <a:srgbClr val="4B5563"/>
                </a:solidFill>
                <a:latin typeface="Microsoft YaHei" panose="020B0503020204020204" pitchFamily="34" charset="-122"/>
              </a:rPr>
              <a:t>CBB </a:t>
            </a:r>
            <a:r>
              <a:rPr lang="zh-CN" altLang="en-US" sz="1400">
                <a:solidFill>
                  <a:srgbClr val="4B5563"/>
                </a:solidFill>
                <a:latin typeface="Microsoft YaHei" panose="020B0503020204020204" pitchFamily="34" charset="-122"/>
              </a:rPr>
              <a:t>由对应器件及测试用例提供验证证据。</a:t>
            </a:r>
          </a:p>
        </p:txBody>
      </p:sp>
    </p:spTree>
    <p:extLst>
      <p:ext uri="{BB962C8B-B14F-4D97-AF65-F5344CB8AC3E}">
        <p14:creationId xmlns:p14="http://schemas.microsoft.com/office/powerpoint/2010/main" val="659858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 d</dc:creator>
  <cp:lastModifiedBy>qy d</cp:lastModifiedBy>
  <cp:revision>1</cp:revision>
  <dcterms:created xsi:type="dcterms:W3CDTF">2026-08-31T03:00:33Z</dcterms:created>
  <dcterms:modified xsi:type="dcterms:W3CDTF">2026-08-31T03:00:33Z</dcterms:modified>
</cp:coreProperties>
</file>