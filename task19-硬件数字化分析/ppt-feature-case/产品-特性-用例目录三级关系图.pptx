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02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D3FE5-ADBF-89FD-8FEC-FFABD2F2C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5BB0D2-0316-6A06-1E0E-485227AC6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05130B-D7CD-8985-188C-6D4DA06F3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3DAE-B5B5-4F91-9311-8E0E92E16891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2589A8-C2BF-0E75-D3CF-7194BF2E3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EB806D-0241-92C9-E711-792B16D9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0BD58-24BD-451B-9D75-D75B7E7B7A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010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C6FF7D-0287-3066-D45F-4E1E82C1F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EB4599-73C0-CF4C-12EB-58E727369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A94069-AA3F-9703-0508-33DCBB974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3DAE-B5B5-4F91-9311-8E0E92E16891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EBB4FF-60BA-81AB-E6CA-34AACB094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603229-F2D6-29ED-5204-8C2D975A7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0BD58-24BD-451B-9D75-D75B7E7B7A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192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1FD9EC-48DC-4F13-F0FD-5D2DC92E6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E96DBD-39A8-4641-D297-DC5941001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07CCBA-D933-F19E-1B92-13CF767C7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3DAE-B5B5-4F91-9311-8E0E92E16891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DFA6A4-5BED-57FE-07D4-D0334544C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0387CF-1FBF-AED0-F02E-586678227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0BD58-24BD-451B-9D75-D75B7E7B7A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093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92BBE-8B76-45D1-FA21-25B2B3BC1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CA4483-177C-224B-3DA3-2D691E6E79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19CA8C-D943-EAF0-7299-D0D4F759B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7CB3C5-03AA-5284-AE6C-37876390A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3DAE-B5B5-4F91-9311-8E0E92E16891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1C7FF4-D50C-3C7A-0F6F-5AFC2D34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AB3FC5-77B8-8311-6BF5-CE959DFE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0BD58-24BD-451B-9D75-D75B7E7B7A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224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7A8FC3-9151-7BEA-B924-DF110B64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B13D94-320E-74C4-6549-79730F3A9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F9187E-8194-F4D8-7E72-80E5F4540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48F3DA-4398-9F8C-6A8B-A73465DCB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87BD1D-FEE0-ACDF-6FB1-F023C7DE9D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E98C5A-E5C3-345B-CC02-63291FF3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3DAE-B5B5-4F91-9311-8E0E92E16891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E7C8B4B-34AD-4340-8961-DB5A02DC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FAE6551-0505-B3E1-37D0-8F56B21A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0BD58-24BD-451B-9D75-D75B7E7B7A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962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87C2D2-0049-2A37-30EA-AABEE4539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71A99C-44FD-5CDA-F254-40E057684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3DAE-B5B5-4F91-9311-8E0E92E16891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91AC97-3FCB-F863-923F-28734E0DA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C17EB7-C6D5-0E49-1C1E-BE0B8D1D0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0BD58-24BD-451B-9D75-D75B7E7B7A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284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A4B55D-6FD5-1EE8-8D9F-D556812B8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3DAE-B5B5-4F91-9311-8E0E92E16891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0E6967-D646-4021-38C4-D1E0C2FD2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4005DE-A045-64A9-9419-8A61592F4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0BD58-24BD-451B-9D75-D75B7E7B7A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023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938D9A-60F5-1E00-F002-CACE1C24F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2E1FDB-017D-A23A-7B0E-E5BE7A2F8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4DC8B8-4983-AB21-A724-26BE04C10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B1AB14-6384-3A09-DC33-F3BAC7805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3DAE-B5B5-4F91-9311-8E0E92E16891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658CF8-7DA8-9A50-A814-07E2D6B0B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9B6A32-FEDA-E527-5614-EF08DAAAA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0BD58-24BD-451B-9D75-D75B7E7B7A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549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DA93BB-2BBF-4DB0-DFE8-22975A917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8B9871-51CC-B3AA-0AEF-03667828E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5C5E71-E5BE-AB2D-4801-BE4F7D583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67DC31-B86D-D553-B14F-247BBF674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3DAE-B5B5-4F91-9311-8E0E92E16891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298972-E760-0F47-AB29-103825B5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27322-0873-EEBA-8472-3E853C81B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0BD58-24BD-451B-9D75-D75B7E7B7A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520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8D367-3D66-6BA7-4C8B-876B28537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FD99C8-655F-BD5A-E30C-DFB434A58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10012E-A71D-054B-0208-E9AAC7205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3DAE-B5B5-4F91-9311-8E0E92E16891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901392-BB76-F506-F07E-7561B5880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FDB362-1F29-602E-5936-FDC38FF2E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0BD58-24BD-451B-9D75-D75B7E7B7A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392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1847DE-B737-B235-7F55-50E009C2F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0C5E89-D2FA-F9FA-690F-3D8B0D581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ACC50-C2E7-04E9-8361-E1B15C16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3DAE-B5B5-4F91-9311-8E0E92E16891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E18BB3-0D15-D678-29D3-B9CCE219A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020997-525A-EE5F-024E-ABB79CCE8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0BD58-24BD-451B-9D75-D75B7E7B7A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801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09F24A6-EBBE-6611-0540-07DA8B42F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6C4583-6C2B-1335-E2E1-A3CD87873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4A14A-820B-722B-97FC-020B48F0B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73DAE-B5B5-4F91-9311-8E0E92E16891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323F70-A4CF-50CA-14AD-0E7B1B2D9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812C0E-62FC-6BC1-50DF-AC0C3FB8F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0BD58-24BD-451B-9D75-D75B7E7B7A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626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-product">
            <a:extLst>
              <a:ext uri="{FF2B5EF4-FFF2-40B4-BE49-F238E27FC236}">
                <a16:creationId xmlns:a16="http://schemas.microsoft.com/office/drawing/2014/main" id="{B287F37D-76E1-6FC7-590A-C491D0B3A20F}"/>
              </a:ext>
            </a:extLst>
          </p:cNvPr>
          <p:cNvSpPr/>
          <p:nvPr/>
        </p:nvSpPr>
        <p:spPr>
          <a:xfrm>
            <a:off x="406400" y="1371600"/>
            <a:ext cx="113792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band-feature">
            <a:extLst>
              <a:ext uri="{FF2B5EF4-FFF2-40B4-BE49-F238E27FC236}">
                <a16:creationId xmlns:a16="http://schemas.microsoft.com/office/drawing/2014/main" id="{10D6FC92-A2A8-A117-3EA5-4892F872DFEE}"/>
              </a:ext>
            </a:extLst>
          </p:cNvPr>
          <p:cNvSpPr/>
          <p:nvPr/>
        </p:nvSpPr>
        <p:spPr>
          <a:xfrm>
            <a:off x="406400" y="2717800"/>
            <a:ext cx="11379200" cy="1676400"/>
          </a:xfrm>
          <a:prstGeom prst="rect">
            <a:avLst/>
          </a:prstGeom>
          <a:solidFill>
            <a:srgbClr val="F3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band-catalog">
            <a:extLst>
              <a:ext uri="{FF2B5EF4-FFF2-40B4-BE49-F238E27FC236}">
                <a16:creationId xmlns:a16="http://schemas.microsoft.com/office/drawing/2014/main" id="{EF804542-A078-B28F-137F-5760D79FDB32}"/>
              </a:ext>
            </a:extLst>
          </p:cNvPr>
          <p:cNvSpPr/>
          <p:nvPr/>
        </p:nvSpPr>
        <p:spPr>
          <a:xfrm>
            <a:off x="406400" y="4597400"/>
            <a:ext cx="11379200" cy="1600200"/>
          </a:xfrm>
          <a:prstGeom prst="rect">
            <a:avLst/>
          </a:prstGeom>
          <a:solidFill>
            <a:srgbClr val="F7F7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78A05BE0-0AA9-8504-9049-809AA7F40362}"/>
              </a:ext>
            </a:extLst>
          </p:cNvPr>
          <p:cNvSpPr txBox="1"/>
          <p:nvPr/>
        </p:nvSpPr>
        <p:spPr>
          <a:xfrm>
            <a:off x="635000" y="304800"/>
            <a:ext cx="10922000" cy="646331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sz="3600" b="1">
                <a:solidFill>
                  <a:srgbClr val="111827"/>
                </a:solidFill>
                <a:latin typeface="Microsoft YaHei" panose="020B0503020204020204" pitchFamily="34" charset="-122"/>
              </a:rPr>
              <a:t>产品、特性与用例目录三层关系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FCBA67E8-E728-A115-F90F-CC9655E921CF}"/>
              </a:ext>
            </a:extLst>
          </p:cNvPr>
          <p:cNvSpPr txBox="1"/>
          <p:nvPr/>
        </p:nvSpPr>
        <p:spPr>
          <a:xfrm>
            <a:off x="635000" y="896694"/>
            <a:ext cx="10922000" cy="338554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sz="1700">
                <a:solidFill>
                  <a:srgbClr val="4B5563"/>
                </a:solidFill>
                <a:latin typeface="Microsoft YaHei" panose="020B0503020204020204" pitchFamily="34" charset="-122"/>
              </a:rPr>
              <a:t>产品需求逐级细分为特性，并映射到对应层级的用例目录</a:t>
            </a:r>
          </a:p>
        </p:txBody>
      </p:sp>
      <p:sp>
        <p:nvSpPr>
          <p:cNvPr id="7" name="label-bar-product">
            <a:extLst>
              <a:ext uri="{FF2B5EF4-FFF2-40B4-BE49-F238E27FC236}">
                <a16:creationId xmlns:a16="http://schemas.microsoft.com/office/drawing/2014/main" id="{3D613B58-5F0E-E670-479A-05E5FE4C3322}"/>
              </a:ext>
            </a:extLst>
          </p:cNvPr>
          <p:cNvSpPr/>
          <p:nvPr/>
        </p:nvSpPr>
        <p:spPr>
          <a:xfrm>
            <a:off x="635000" y="1625600"/>
            <a:ext cx="63500" cy="533400"/>
          </a:xfrm>
          <a:prstGeom prst="rect">
            <a:avLst/>
          </a:prstGeom>
          <a:solidFill>
            <a:srgbClr val="3D8D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abel-product">
            <a:extLst>
              <a:ext uri="{FF2B5EF4-FFF2-40B4-BE49-F238E27FC236}">
                <a16:creationId xmlns:a16="http://schemas.microsoft.com/office/drawing/2014/main" id="{3A8A8C3A-3A73-A034-3E9F-9EA7387DF087}"/>
              </a:ext>
            </a:extLst>
          </p:cNvPr>
          <p:cNvSpPr txBox="1"/>
          <p:nvPr/>
        </p:nvSpPr>
        <p:spPr>
          <a:xfrm>
            <a:off x="838200" y="1600200"/>
            <a:ext cx="1244600" cy="415498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sz="2100" b="1">
                <a:solidFill>
                  <a:srgbClr val="111827"/>
                </a:solidFill>
                <a:latin typeface="Microsoft YaHei" panose="020B0503020204020204" pitchFamily="34" charset="-122"/>
              </a:rPr>
              <a:t>产品层</a:t>
            </a:r>
          </a:p>
        </p:txBody>
      </p:sp>
      <p:sp>
        <p:nvSpPr>
          <p:cNvPr id="9" name="label-product-desc">
            <a:extLst>
              <a:ext uri="{FF2B5EF4-FFF2-40B4-BE49-F238E27FC236}">
                <a16:creationId xmlns:a16="http://schemas.microsoft.com/office/drawing/2014/main" id="{8E2239C2-1ED2-3600-3669-264EE52C0387}"/>
              </a:ext>
            </a:extLst>
          </p:cNvPr>
          <p:cNvSpPr txBox="1"/>
          <p:nvPr/>
        </p:nvSpPr>
        <p:spPr>
          <a:xfrm>
            <a:off x="838200" y="2001594"/>
            <a:ext cx="1244600" cy="261610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sz="1200">
                <a:solidFill>
                  <a:srgbClr val="6B7280"/>
                </a:solidFill>
                <a:latin typeface="Microsoft YaHei" panose="020B0503020204020204" pitchFamily="34" charset="-122"/>
              </a:rPr>
              <a:t>需求总入口</a:t>
            </a:r>
          </a:p>
        </p:txBody>
      </p:sp>
      <p:sp>
        <p:nvSpPr>
          <p:cNvPr id="10" name="label-bar-feature">
            <a:extLst>
              <a:ext uri="{FF2B5EF4-FFF2-40B4-BE49-F238E27FC236}">
                <a16:creationId xmlns:a16="http://schemas.microsoft.com/office/drawing/2014/main" id="{70D3EFDA-193D-ECEA-6352-2C6F2536C8F9}"/>
              </a:ext>
            </a:extLst>
          </p:cNvPr>
          <p:cNvSpPr/>
          <p:nvPr/>
        </p:nvSpPr>
        <p:spPr>
          <a:xfrm>
            <a:off x="635000" y="3251200"/>
            <a:ext cx="63500" cy="533400"/>
          </a:xfrm>
          <a:prstGeom prst="rect">
            <a:avLst/>
          </a:prstGeom>
          <a:solidFill>
            <a:srgbClr val="6DCB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label-feature">
            <a:extLst>
              <a:ext uri="{FF2B5EF4-FFF2-40B4-BE49-F238E27FC236}">
                <a16:creationId xmlns:a16="http://schemas.microsoft.com/office/drawing/2014/main" id="{0CD93434-4495-01BA-C3AF-D9253700D9E4}"/>
              </a:ext>
            </a:extLst>
          </p:cNvPr>
          <p:cNvSpPr txBox="1"/>
          <p:nvPr/>
        </p:nvSpPr>
        <p:spPr>
          <a:xfrm>
            <a:off x="838200" y="3187700"/>
            <a:ext cx="1244600" cy="415498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sz="2100" b="1">
                <a:solidFill>
                  <a:srgbClr val="111827"/>
                </a:solidFill>
                <a:latin typeface="Microsoft YaHei" panose="020B0503020204020204" pitchFamily="34" charset="-122"/>
              </a:rPr>
              <a:t>特性层</a:t>
            </a:r>
          </a:p>
        </p:txBody>
      </p:sp>
      <p:sp>
        <p:nvSpPr>
          <p:cNvPr id="12" name="label-feature-desc">
            <a:extLst>
              <a:ext uri="{FF2B5EF4-FFF2-40B4-BE49-F238E27FC236}">
                <a16:creationId xmlns:a16="http://schemas.microsoft.com/office/drawing/2014/main" id="{C680709D-CA6D-0339-3A5E-E1DEA057C0F7}"/>
              </a:ext>
            </a:extLst>
          </p:cNvPr>
          <p:cNvSpPr txBox="1"/>
          <p:nvPr/>
        </p:nvSpPr>
        <p:spPr>
          <a:xfrm>
            <a:off x="838200" y="3614494"/>
            <a:ext cx="1244600" cy="261610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en-US" altLang="zh-CN" sz="1200">
                <a:solidFill>
                  <a:srgbClr val="6B7280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200">
                <a:solidFill>
                  <a:srgbClr val="6B7280"/>
                </a:solidFill>
                <a:latin typeface="Microsoft YaHei" panose="020B0503020204020204" pitchFamily="34" charset="-122"/>
              </a:rPr>
              <a:t>级 → </a:t>
            </a:r>
            <a:r>
              <a:rPr lang="en-US" altLang="zh-CN" sz="1200">
                <a:solidFill>
                  <a:srgbClr val="6B7280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200">
                <a:solidFill>
                  <a:srgbClr val="6B7280"/>
                </a:solidFill>
                <a:latin typeface="Microsoft YaHei" panose="020B0503020204020204" pitchFamily="34" charset="-122"/>
              </a:rPr>
              <a:t>级</a:t>
            </a:r>
          </a:p>
        </p:txBody>
      </p:sp>
      <p:sp>
        <p:nvSpPr>
          <p:cNvPr id="13" name="label-bar-catalog">
            <a:extLst>
              <a:ext uri="{FF2B5EF4-FFF2-40B4-BE49-F238E27FC236}">
                <a16:creationId xmlns:a16="http://schemas.microsoft.com/office/drawing/2014/main" id="{D69D37D4-1EBE-BA1D-C212-7B43B291C8B0}"/>
              </a:ext>
            </a:extLst>
          </p:cNvPr>
          <p:cNvSpPr/>
          <p:nvPr/>
        </p:nvSpPr>
        <p:spPr>
          <a:xfrm>
            <a:off x="635000" y="5143500"/>
            <a:ext cx="63500" cy="533400"/>
          </a:xfrm>
          <a:prstGeom prst="rect">
            <a:avLst/>
          </a:prstGeom>
          <a:solidFill>
            <a:srgbClr val="9CA3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label-catalog">
            <a:extLst>
              <a:ext uri="{FF2B5EF4-FFF2-40B4-BE49-F238E27FC236}">
                <a16:creationId xmlns:a16="http://schemas.microsoft.com/office/drawing/2014/main" id="{D32C9A60-1204-D8A3-61EB-547E8B21D33B}"/>
              </a:ext>
            </a:extLst>
          </p:cNvPr>
          <p:cNvSpPr txBox="1"/>
          <p:nvPr/>
        </p:nvSpPr>
        <p:spPr>
          <a:xfrm>
            <a:off x="838200" y="4978400"/>
            <a:ext cx="1244600" cy="646331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用例目录
层</a:t>
            </a:r>
          </a:p>
        </p:txBody>
      </p:sp>
      <p:sp>
        <p:nvSpPr>
          <p:cNvPr id="15" name="label-catalog-desc">
            <a:extLst>
              <a:ext uri="{FF2B5EF4-FFF2-40B4-BE49-F238E27FC236}">
                <a16:creationId xmlns:a16="http://schemas.microsoft.com/office/drawing/2014/main" id="{2605B916-46E6-D63F-3D84-2EA22DD63E88}"/>
              </a:ext>
            </a:extLst>
          </p:cNvPr>
          <p:cNvSpPr txBox="1"/>
          <p:nvPr/>
        </p:nvSpPr>
        <p:spPr>
          <a:xfrm>
            <a:off x="838200" y="5671894"/>
            <a:ext cx="1244600" cy="261610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en-US" altLang="zh-CN" sz="1200">
                <a:solidFill>
                  <a:srgbClr val="6B7280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200">
                <a:solidFill>
                  <a:srgbClr val="6B7280"/>
                </a:solidFill>
                <a:latin typeface="Microsoft YaHei" panose="020B0503020204020204" pitchFamily="34" charset="-122"/>
              </a:rPr>
              <a:t>级 → </a:t>
            </a:r>
            <a:r>
              <a:rPr lang="en-US" altLang="zh-CN" sz="1200">
                <a:solidFill>
                  <a:srgbClr val="6B7280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200">
                <a:solidFill>
                  <a:srgbClr val="6B7280"/>
                </a:solidFill>
                <a:latin typeface="Microsoft YaHei" panose="020B0503020204020204" pitchFamily="34" charset="-122"/>
              </a:rPr>
              <a:t>级</a:t>
            </a:r>
          </a:p>
        </p:txBody>
      </p:sp>
      <p:cxnSp>
        <p:nvCxnSpPr>
          <p:cNvPr id="16" name="arrow-product-feature1">
            <a:extLst>
              <a:ext uri="{FF2B5EF4-FFF2-40B4-BE49-F238E27FC236}">
                <a16:creationId xmlns:a16="http://schemas.microsoft.com/office/drawing/2014/main" id="{992D3027-4FB7-F27A-0641-2F1DF4195DFE}"/>
              </a:ext>
            </a:extLst>
          </p:cNvPr>
          <p:cNvCxnSpPr/>
          <p:nvPr/>
        </p:nvCxnSpPr>
        <p:spPr>
          <a:xfrm flipH="1">
            <a:off x="3492500" y="2362200"/>
            <a:ext cx="3492500" cy="660400"/>
          </a:xfrm>
          <a:prstGeom prst="straightConnector1">
            <a:avLst/>
          </a:prstGeom>
          <a:ln w="22860">
            <a:solidFill>
              <a:srgbClr val="6B72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arrow-feature1-feature2">
            <a:extLst>
              <a:ext uri="{FF2B5EF4-FFF2-40B4-BE49-F238E27FC236}">
                <a16:creationId xmlns:a16="http://schemas.microsoft.com/office/drawing/2014/main" id="{CBE49A91-42B8-8A56-2300-176022EBE73B}"/>
              </a:ext>
            </a:extLst>
          </p:cNvPr>
          <p:cNvCxnSpPr/>
          <p:nvPr/>
        </p:nvCxnSpPr>
        <p:spPr>
          <a:xfrm>
            <a:off x="4635500" y="3479800"/>
            <a:ext cx="825500" cy="0"/>
          </a:xfrm>
          <a:prstGeom prst="straightConnector1">
            <a:avLst/>
          </a:prstGeom>
          <a:ln w="22860">
            <a:solidFill>
              <a:srgbClr val="3D8D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arrow-feature2-feature3">
            <a:extLst>
              <a:ext uri="{FF2B5EF4-FFF2-40B4-BE49-F238E27FC236}">
                <a16:creationId xmlns:a16="http://schemas.microsoft.com/office/drawing/2014/main" id="{55102968-7C50-B503-F2C1-574D0FC72901}"/>
              </a:ext>
            </a:extLst>
          </p:cNvPr>
          <p:cNvCxnSpPr/>
          <p:nvPr/>
        </p:nvCxnSpPr>
        <p:spPr>
          <a:xfrm>
            <a:off x="7747000" y="3479800"/>
            <a:ext cx="825500" cy="0"/>
          </a:xfrm>
          <a:prstGeom prst="straightConnector1">
            <a:avLst/>
          </a:prstGeom>
          <a:ln w="22860">
            <a:solidFill>
              <a:srgbClr val="3D8D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arrow-feature1-catalog1">
            <a:extLst>
              <a:ext uri="{FF2B5EF4-FFF2-40B4-BE49-F238E27FC236}">
                <a16:creationId xmlns:a16="http://schemas.microsoft.com/office/drawing/2014/main" id="{DFD85149-97EC-46B2-53AB-6B2D7D6D8C7E}"/>
              </a:ext>
            </a:extLst>
          </p:cNvPr>
          <p:cNvCxnSpPr/>
          <p:nvPr/>
        </p:nvCxnSpPr>
        <p:spPr>
          <a:xfrm>
            <a:off x="3492500" y="3937000"/>
            <a:ext cx="0" cy="965200"/>
          </a:xfrm>
          <a:prstGeom prst="straightConnector1">
            <a:avLst/>
          </a:prstGeom>
          <a:ln w="20320">
            <a:solidFill>
              <a:srgbClr val="7C87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arrow-feature2-catalog2">
            <a:extLst>
              <a:ext uri="{FF2B5EF4-FFF2-40B4-BE49-F238E27FC236}">
                <a16:creationId xmlns:a16="http://schemas.microsoft.com/office/drawing/2014/main" id="{787644D9-DBD9-F53A-373A-CACE2AB2D27C}"/>
              </a:ext>
            </a:extLst>
          </p:cNvPr>
          <p:cNvCxnSpPr/>
          <p:nvPr/>
        </p:nvCxnSpPr>
        <p:spPr>
          <a:xfrm>
            <a:off x="6604000" y="3937000"/>
            <a:ext cx="0" cy="965200"/>
          </a:xfrm>
          <a:prstGeom prst="straightConnector1">
            <a:avLst/>
          </a:prstGeom>
          <a:ln w="20320">
            <a:solidFill>
              <a:srgbClr val="7C87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arrow-feature3-catalog3">
            <a:extLst>
              <a:ext uri="{FF2B5EF4-FFF2-40B4-BE49-F238E27FC236}">
                <a16:creationId xmlns:a16="http://schemas.microsoft.com/office/drawing/2014/main" id="{2644CDDE-A64C-DF6E-7EF2-03378D5FAA77}"/>
              </a:ext>
            </a:extLst>
          </p:cNvPr>
          <p:cNvCxnSpPr/>
          <p:nvPr/>
        </p:nvCxnSpPr>
        <p:spPr>
          <a:xfrm>
            <a:off x="9715500" y="3937000"/>
            <a:ext cx="0" cy="965200"/>
          </a:xfrm>
          <a:prstGeom prst="straightConnector1">
            <a:avLst/>
          </a:prstGeom>
          <a:ln w="20320">
            <a:solidFill>
              <a:srgbClr val="7C87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arrow-catalog1-catalog2">
            <a:extLst>
              <a:ext uri="{FF2B5EF4-FFF2-40B4-BE49-F238E27FC236}">
                <a16:creationId xmlns:a16="http://schemas.microsoft.com/office/drawing/2014/main" id="{DEB2611D-136F-DB00-EDAA-81BB0BDF80C2}"/>
              </a:ext>
            </a:extLst>
          </p:cNvPr>
          <p:cNvCxnSpPr/>
          <p:nvPr/>
        </p:nvCxnSpPr>
        <p:spPr>
          <a:xfrm>
            <a:off x="4635500" y="5397500"/>
            <a:ext cx="825500" cy="0"/>
          </a:xfrm>
          <a:prstGeom prst="straightConnector1">
            <a:avLst/>
          </a:prstGeom>
          <a:ln w="20320">
            <a:solidFill>
              <a:srgbClr val="9CA3A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arrow-catalog2-catalog3">
            <a:extLst>
              <a:ext uri="{FF2B5EF4-FFF2-40B4-BE49-F238E27FC236}">
                <a16:creationId xmlns:a16="http://schemas.microsoft.com/office/drawing/2014/main" id="{8523239D-CF48-33DA-D402-98E0D1B4D790}"/>
              </a:ext>
            </a:extLst>
          </p:cNvPr>
          <p:cNvCxnSpPr/>
          <p:nvPr/>
        </p:nvCxnSpPr>
        <p:spPr>
          <a:xfrm>
            <a:off x="7747000" y="5397500"/>
            <a:ext cx="825500" cy="0"/>
          </a:xfrm>
          <a:prstGeom prst="straightConnector1">
            <a:avLst/>
          </a:prstGeom>
          <a:ln w="20320">
            <a:solidFill>
              <a:srgbClr val="9CA3A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node-product">
            <a:extLst>
              <a:ext uri="{FF2B5EF4-FFF2-40B4-BE49-F238E27FC236}">
                <a16:creationId xmlns:a16="http://schemas.microsoft.com/office/drawing/2014/main" id="{C390C680-144F-CEA5-FA44-412D6B9D5D36}"/>
              </a:ext>
            </a:extLst>
          </p:cNvPr>
          <p:cNvSpPr/>
          <p:nvPr/>
        </p:nvSpPr>
        <p:spPr>
          <a:xfrm>
            <a:off x="4254500" y="1524000"/>
            <a:ext cx="5461000" cy="83820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目标产品
产品需求 </a:t>
            </a:r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规格基线</a:t>
            </a:r>
          </a:p>
        </p:txBody>
      </p:sp>
      <p:sp>
        <p:nvSpPr>
          <p:cNvPr id="25" name="node-feature-1">
            <a:extLst>
              <a:ext uri="{FF2B5EF4-FFF2-40B4-BE49-F238E27FC236}">
                <a16:creationId xmlns:a16="http://schemas.microsoft.com/office/drawing/2014/main" id="{BB6D893E-A8F9-1256-4900-90AE2064B099}"/>
              </a:ext>
            </a:extLst>
          </p:cNvPr>
          <p:cNvSpPr/>
          <p:nvPr/>
        </p:nvSpPr>
        <p:spPr>
          <a:xfrm>
            <a:off x="2349500" y="3022600"/>
            <a:ext cx="2286000" cy="914400"/>
          </a:xfrm>
          <a:prstGeom prst="roundRect">
            <a:avLst/>
          </a:prstGeom>
          <a:solidFill>
            <a:srgbClr val="D9EFFB"/>
          </a:solidFill>
          <a:ln w="19050">
            <a:solidFill>
              <a:srgbClr val="6DCB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级特性
特性域 </a:t>
            </a:r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业务能力</a:t>
            </a:r>
          </a:p>
        </p:txBody>
      </p:sp>
      <p:sp>
        <p:nvSpPr>
          <p:cNvPr id="26" name="node-feature-2">
            <a:extLst>
              <a:ext uri="{FF2B5EF4-FFF2-40B4-BE49-F238E27FC236}">
                <a16:creationId xmlns:a16="http://schemas.microsoft.com/office/drawing/2014/main" id="{FBBBB87C-9C1F-289B-161D-A950D6BB0E29}"/>
              </a:ext>
            </a:extLst>
          </p:cNvPr>
          <p:cNvSpPr/>
          <p:nvPr/>
        </p:nvSpPr>
        <p:spPr>
          <a:xfrm>
            <a:off x="5461000" y="3022600"/>
            <a:ext cx="2286000" cy="914400"/>
          </a:xfrm>
          <a:prstGeom prst="roundRect">
            <a:avLst/>
          </a:prstGeom>
          <a:solidFill>
            <a:srgbClr val="C5E7F7"/>
          </a:solidFill>
          <a:ln w="19050">
            <a:solidFill>
              <a:srgbClr val="4FB2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级特性
功能模块 </a:t>
            </a:r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子特性</a:t>
            </a:r>
          </a:p>
        </p:txBody>
      </p:sp>
      <p:sp>
        <p:nvSpPr>
          <p:cNvPr id="27" name="node-feature-3">
            <a:extLst>
              <a:ext uri="{FF2B5EF4-FFF2-40B4-BE49-F238E27FC236}">
                <a16:creationId xmlns:a16="http://schemas.microsoft.com/office/drawing/2014/main" id="{D59CDD32-FE55-8FE2-010A-256201F14002}"/>
              </a:ext>
            </a:extLst>
          </p:cNvPr>
          <p:cNvSpPr/>
          <p:nvPr/>
        </p:nvSpPr>
        <p:spPr>
          <a:xfrm>
            <a:off x="8572500" y="3022600"/>
            <a:ext cx="2286000" cy="914400"/>
          </a:xfrm>
          <a:prstGeom prst="roundRect">
            <a:avLst/>
          </a:prstGeom>
          <a:solidFill>
            <a:srgbClr val="B1DCF4"/>
          </a:solidFill>
          <a:ln w="1905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级特性
可验证特性 </a:t>
            </a:r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判据</a:t>
            </a:r>
          </a:p>
        </p:txBody>
      </p:sp>
      <p:sp>
        <p:nvSpPr>
          <p:cNvPr id="28" name="node-catalog-1">
            <a:extLst>
              <a:ext uri="{FF2B5EF4-FFF2-40B4-BE49-F238E27FC236}">
                <a16:creationId xmlns:a16="http://schemas.microsoft.com/office/drawing/2014/main" id="{0B8066DA-D963-E211-AA47-852601113B9B}"/>
              </a:ext>
            </a:extLst>
          </p:cNvPr>
          <p:cNvSpPr/>
          <p:nvPr/>
        </p:nvSpPr>
        <p:spPr>
          <a:xfrm>
            <a:off x="2349500" y="4902200"/>
            <a:ext cx="2286000" cy="99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B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级用例目录
产品 </a:t>
            </a:r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领域目录</a:t>
            </a:r>
          </a:p>
        </p:txBody>
      </p:sp>
      <p:sp>
        <p:nvSpPr>
          <p:cNvPr id="29" name="node-catalog-1-accent">
            <a:extLst>
              <a:ext uri="{FF2B5EF4-FFF2-40B4-BE49-F238E27FC236}">
                <a16:creationId xmlns:a16="http://schemas.microsoft.com/office/drawing/2014/main" id="{BBB367AF-B40C-95A2-CADA-A54228236348}"/>
              </a:ext>
            </a:extLst>
          </p:cNvPr>
          <p:cNvSpPr/>
          <p:nvPr/>
        </p:nvSpPr>
        <p:spPr>
          <a:xfrm>
            <a:off x="2603500" y="5029200"/>
            <a:ext cx="1778000" cy="50800"/>
          </a:xfrm>
          <a:prstGeom prst="rect">
            <a:avLst/>
          </a:prstGeom>
          <a:solidFill>
            <a:srgbClr val="3D8D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node-catalog-2">
            <a:extLst>
              <a:ext uri="{FF2B5EF4-FFF2-40B4-BE49-F238E27FC236}">
                <a16:creationId xmlns:a16="http://schemas.microsoft.com/office/drawing/2014/main" id="{67E6100C-5BCC-F592-2BB3-7DCDBAB430F7}"/>
              </a:ext>
            </a:extLst>
          </p:cNvPr>
          <p:cNvSpPr/>
          <p:nvPr/>
        </p:nvSpPr>
        <p:spPr>
          <a:xfrm>
            <a:off x="5461000" y="4902200"/>
            <a:ext cx="2286000" cy="99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B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级用例目录
特性分类目录</a:t>
            </a:r>
          </a:p>
        </p:txBody>
      </p:sp>
      <p:sp>
        <p:nvSpPr>
          <p:cNvPr id="31" name="node-catalog-2-accent">
            <a:extLst>
              <a:ext uri="{FF2B5EF4-FFF2-40B4-BE49-F238E27FC236}">
                <a16:creationId xmlns:a16="http://schemas.microsoft.com/office/drawing/2014/main" id="{55D7E621-0CAD-37BD-57AF-F5D5EEED9AC0}"/>
              </a:ext>
            </a:extLst>
          </p:cNvPr>
          <p:cNvSpPr/>
          <p:nvPr/>
        </p:nvSpPr>
        <p:spPr>
          <a:xfrm>
            <a:off x="5715000" y="5029200"/>
            <a:ext cx="1778000" cy="50800"/>
          </a:xfrm>
          <a:prstGeom prst="rect">
            <a:avLst/>
          </a:prstGeom>
          <a:solidFill>
            <a:srgbClr val="4FB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node-catalog-3">
            <a:extLst>
              <a:ext uri="{FF2B5EF4-FFF2-40B4-BE49-F238E27FC236}">
                <a16:creationId xmlns:a16="http://schemas.microsoft.com/office/drawing/2014/main" id="{0818AABD-6C2F-31B2-9FCE-0DA83757AEFE}"/>
              </a:ext>
            </a:extLst>
          </p:cNvPr>
          <p:cNvSpPr/>
          <p:nvPr/>
        </p:nvSpPr>
        <p:spPr>
          <a:xfrm>
            <a:off x="8572500" y="4902200"/>
            <a:ext cx="2286000" cy="99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B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级用例目录
执行用例集合</a:t>
            </a:r>
          </a:p>
        </p:txBody>
      </p:sp>
      <p:sp>
        <p:nvSpPr>
          <p:cNvPr id="33" name="node-catalog-3-accent">
            <a:extLst>
              <a:ext uri="{FF2B5EF4-FFF2-40B4-BE49-F238E27FC236}">
                <a16:creationId xmlns:a16="http://schemas.microsoft.com/office/drawing/2014/main" id="{9364A690-7D50-AA23-D983-D7EE83E2DE70}"/>
              </a:ext>
            </a:extLst>
          </p:cNvPr>
          <p:cNvSpPr/>
          <p:nvPr/>
        </p:nvSpPr>
        <p:spPr>
          <a:xfrm>
            <a:off x="8826500" y="5029200"/>
            <a:ext cx="1778000" cy="50800"/>
          </a:xfrm>
          <a:prstGeom prst="rect">
            <a:avLst/>
          </a:prstGeom>
          <a:solidFill>
            <a:srgbClr val="6DCB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footer-note">
            <a:extLst>
              <a:ext uri="{FF2B5EF4-FFF2-40B4-BE49-F238E27FC236}">
                <a16:creationId xmlns:a16="http://schemas.microsoft.com/office/drawing/2014/main" id="{164BCF6C-C1FD-A6A1-004E-99E9B2619295}"/>
              </a:ext>
            </a:extLst>
          </p:cNvPr>
          <p:cNvSpPr txBox="1"/>
          <p:nvPr/>
        </p:nvSpPr>
        <p:spPr>
          <a:xfrm>
            <a:off x="2095500" y="6357694"/>
            <a:ext cx="9144000" cy="292388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关系说明：特性逐级细化；每一级特性映射同层级用例目录，最终沉淀为可执行用例集合。</a:t>
            </a:r>
          </a:p>
        </p:txBody>
      </p:sp>
    </p:spTree>
    <p:extLst>
      <p:ext uri="{BB962C8B-B14F-4D97-AF65-F5344CB8AC3E}">
        <p14:creationId xmlns:p14="http://schemas.microsoft.com/office/powerpoint/2010/main" val="2483912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自定义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qy d</dc:creator>
  <cp:lastModifiedBy>qy d</cp:lastModifiedBy>
  <cp:revision>1</cp:revision>
  <dcterms:created xsi:type="dcterms:W3CDTF">2026-08-31T03:41:17Z</dcterms:created>
  <dcterms:modified xsi:type="dcterms:W3CDTF">2026-08-31T03:41:17Z</dcterms:modified>
</cp:coreProperties>
</file>